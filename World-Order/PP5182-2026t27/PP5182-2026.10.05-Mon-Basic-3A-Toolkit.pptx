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PP5182-2026.10.05.Mon-Basic-Toolkit-3A-lecture-notes.md
Presentation-norms-2026.09.md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Lecture outline lines 22-30.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Yuen Foong Khong and Joseph Chinyong Liow, "Southeast Asia Is Starting to Choose," Foreign Affairs, July/August 2025. Library file: 2025.07-Yuen-Foong.Khong-Joseph.Liow-SEA-Starting-to-Choose-FA.md.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Intellectual-framework-2026.09.md, current 3As definitions.
Lecture outline lines 28-30.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Conceptual framing developed from the exploratory dataset and lecture outline.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Graphic asset supplied by user: annual_3A_responses_economist.png.
Underlying exploratory event dataset: 68 events, 2010-2026.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Lecture outline lines 39-45.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Lecture outline lines 48-50; underlying event dataset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Lecture outline line 51 and interim-results discussion.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Lecture outline line 52.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Lecture outline lines 53-54.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Lecture outline lines 56-59.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Teaching discussion break per Presentation-norms-2026.09.md.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Lecture outline lines 60-66; interim-results spreadsheet.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Interpretive synthesis from interim-results analysis; lecture outline lines 76-80.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Lecture outline line 54; current Intellectual-framework-2026.09.md portfolio formulation.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Lecture outline conclusions lines 68-80, revised to distinguish strategy-specific outcomes and portfolio dynamics.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PP5182: The Basic 3A Toolkit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65992" y="647395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/ 18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417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PP5182: The Basic 3A Toolkit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12648" y="2240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Acquiesce. Adapt. Aggregate.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12648" y="2907792"/>
            <a:ext cx="4754880" cy="0"/>
          </a:xfrm>
          <a:prstGeom prst="line">
            <a:avLst/>
          </a:prstGeom>
          <a:noFill/>
          <a:ln w="17780">
            <a:solidFill>
              <a:srgbClr val="C6A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3794760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Danny Quah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Lee Kuan Yew School of Public Policy, NUS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Oct 2026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 ways to navigate Great-Power pressure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10972800" cy="0"/>
          </a:xfrm>
          <a:prstGeom prst="line">
            <a:avLst/>
          </a:prstGeom>
          <a:noFill/>
          <a:ln w="13970">
            <a:solidFill>
              <a:srgbClr val="C6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3As sit alongside familiar strategic approaches; they do not deny that states can align, hedge, or fight back.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514600" cy="3246120"/>
          </a:xfrm>
          <a:prstGeom prst="roundRect">
            <a:avLst>
              <a:gd name="adj" fmla="val 2182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54864" cy="3246120"/>
          </a:xfrm>
          <a:prstGeom prst="rect">
            <a:avLst/>
          </a:prstGeom>
          <a:solidFill>
            <a:srgbClr val="55B8C5"/>
          </a:solidFill>
          <a:ln w="12700">
            <a:solidFill>
              <a:srgbClr val="55B8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733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103120"/>
            <a:ext cx="2148840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Choose a side. Accept the benefits and constraints of locating close to one Great Power.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18688" y="1508760"/>
            <a:ext cx="2514600" cy="3246120"/>
          </a:xfrm>
          <a:prstGeom prst="roundRect">
            <a:avLst>
              <a:gd name="adj" fmla="val 2182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508760"/>
            <a:ext cx="54864" cy="3246120"/>
          </a:xfrm>
          <a:prstGeom prst="rect">
            <a:avLst/>
          </a:prstGeom>
          <a:solidFill>
            <a:srgbClr val="4A9C87"/>
          </a:solidFill>
          <a:ln w="12700">
            <a:solidFill>
              <a:srgbClr val="4A9C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9856" y="16733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HEDGE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19856" y="2103120"/>
            <a:ext cx="2148840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Locate somewhere in the space spanned by Great Powers. Preserve flexibility by balancing relationships.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88736" y="1508760"/>
            <a:ext cx="2514600" cy="3246120"/>
          </a:xfrm>
          <a:prstGeom prst="roundRect">
            <a:avLst>
              <a:gd name="adj" fmla="val 2182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88736" y="1508760"/>
            <a:ext cx="54864" cy="3246120"/>
          </a:xfrm>
          <a:prstGeom prst="rect">
            <a:avLst/>
          </a:prstGeom>
          <a:solidFill>
            <a:srgbClr val="C95A55"/>
          </a:solidFill>
          <a:ln w="12700">
            <a:solidFill>
              <a:srgbClr val="C95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9904" y="16733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RESIST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89904" y="2103120"/>
            <a:ext cx="2148840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Retaliate, litigate, refuse, or protest. Contest the Great Power directly on the axis of contention.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558784" y="1508760"/>
            <a:ext cx="3063240" cy="3246120"/>
          </a:xfrm>
          <a:prstGeom prst="roundRect">
            <a:avLst>
              <a:gd name="adj" fmla="val 1791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58784" y="1508760"/>
            <a:ext cx="54864" cy="3246120"/>
          </a:xfrm>
          <a:prstGeom prst="rect">
            <a:avLst/>
          </a:prstGeom>
          <a:solidFill>
            <a:srgbClr val="C6A24B"/>
          </a:solidFill>
          <a:ln w="12700">
            <a:solidFill>
              <a:srgbClr val="C6A2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16733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59952" y="2103120"/>
            <a:ext cx="2697480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Acquiesce on the immediate axis; adapt at home; aggregate abroad. Construct a portfolio rather than choose one posture.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Alignment is one answer - but Southeast Asia is heterogeneous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10972800" cy="0"/>
          </a:xfrm>
          <a:prstGeom prst="line">
            <a:avLst/>
          </a:prstGeom>
          <a:noFill/>
          <a:ln w="13970">
            <a:solidFill>
              <a:srgbClr val="C6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Khong and Liow score 0 = full alignment with China; 100 = full alignment with the United States; 45-55 = hedging band.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40680" y="1481328"/>
            <a:ext cx="1005840" cy="4160520"/>
          </a:xfrm>
          <a:prstGeom prst="rect">
            <a:avLst/>
          </a:prstGeom>
          <a:solidFill>
            <a:srgbClr val="526D70">
              <a:alpha val="55000"/>
            </a:srgbClr>
          </a:solidFill>
          <a:ln w="12700">
            <a:solidFill>
              <a:srgbClr val="526D7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5742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CHINA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27080" y="5230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00600" y="12618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HEDGING BAND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5596128"/>
            <a:ext cx="10058400" cy="0"/>
          </a:xfrm>
          <a:prstGeom prst="line">
            <a:avLst/>
          </a:prstGeom>
          <a:noFill/>
          <a:ln w="12700">
            <a:solidFill>
              <a:srgbClr val="B9C6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513832"/>
            <a:ext cx="0" cy="146304"/>
          </a:xfrm>
          <a:prstGeom prst="line">
            <a:avLst/>
          </a:prstGeom>
          <a:noFill/>
          <a:ln w="8890">
            <a:solidFill>
              <a:srgbClr val="B9C6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7790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29000" y="5513832"/>
            <a:ext cx="0" cy="146304"/>
          </a:xfrm>
          <a:prstGeom prst="line">
            <a:avLst/>
          </a:prstGeom>
          <a:noFill/>
          <a:ln w="8890">
            <a:solidFill>
              <a:srgbClr val="B9C6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57790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5513832"/>
            <a:ext cx="0" cy="146304"/>
          </a:xfrm>
          <a:prstGeom prst="line">
            <a:avLst/>
          </a:prstGeom>
          <a:noFill/>
          <a:ln w="8890">
            <a:solidFill>
              <a:srgbClr val="B9C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57790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458200" y="5513832"/>
            <a:ext cx="0" cy="146304"/>
          </a:xfrm>
          <a:prstGeom prst="line">
            <a:avLst/>
          </a:prstGeom>
          <a:noFill/>
          <a:ln w="8890">
            <a:solidFill>
              <a:srgbClr val="B9C6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57790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75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972800" y="5513832"/>
            <a:ext cx="0" cy="146304"/>
          </a:xfrm>
          <a:prstGeom prst="line">
            <a:avLst/>
          </a:prstGeom>
          <a:noFill/>
          <a:ln w="8890">
            <a:solidFill>
              <a:srgbClr val="B9C6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0" y="57790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64408" y="1783080"/>
            <a:ext cx="128016" cy="128016"/>
          </a:xfrm>
          <a:prstGeom prst="ellipse">
            <a:avLst/>
          </a:prstGeom>
          <a:solidFill>
            <a:srgbClr val="C6A24B"/>
          </a:solidFill>
          <a:ln w="12700">
            <a:solidFill>
              <a:srgbClr val="C6A2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38144" y="17282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Myanmar  24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67328" y="2148840"/>
            <a:ext cx="128016" cy="128016"/>
          </a:xfrm>
          <a:prstGeom prst="ellipse">
            <a:avLst/>
          </a:prstGeom>
          <a:solidFill>
            <a:srgbClr val="C6A24B"/>
          </a:solidFill>
          <a:ln w="12700">
            <a:solidFill>
              <a:srgbClr val="C6A2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41064" y="20939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Laos  29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72584" y="2514600"/>
            <a:ext cx="128016" cy="128016"/>
          </a:xfrm>
          <a:prstGeom prst="ellipse">
            <a:avLst/>
          </a:prstGeom>
          <a:solidFill>
            <a:srgbClr val="C6A24B"/>
          </a:solidFill>
          <a:ln w="12700">
            <a:solidFill>
              <a:srgbClr val="C6A2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4597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Cambodia  38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75504" y="2880360"/>
            <a:ext cx="128016" cy="128016"/>
          </a:xfrm>
          <a:prstGeom prst="ellipse">
            <a:avLst/>
          </a:prstGeom>
          <a:solidFill>
            <a:srgbClr val="C6A24B"/>
          </a:solidFill>
          <a:ln w="12700">
            <a:solidFill>
              <a:srgbClr val="C6A2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8254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Vietnam  43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76088" y="3246120"/>
            <a:ext cx="128016" cy="128016"/>
          </a:xfrm>
          <a:prstGeom prst="ellipse">
            <a:avLst/>
          </a:prstGeom>
          <a:solidFill>
            <a:srgbClr val="C6A24B"/>
          </a:solidFill>
          <a:ln w="12700">
            <a:solidFill>
              <a:srgbClr val="C6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9824" y="31912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Brunei  44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76672" y="3611880"/>
            <a:ext cx="128016" cy="128016"/>
          </a:xfrm>
          <a:prstGeom prst="ellipse">
            <a:avLst/>
          </a:prstGeom>
          <a:solidFill>
            <a:srgbClr val="C6A24B"/>
          </a:solidFill>
          <a:ln w="12700">
            <a:solidFill>
              <a:srgbClr val="C6A2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0408" y="35570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Thailand  45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77840" y="3977640"/>
            <a:ext cx="128016" cy="128016"/>
          </a:xfrm>
          <a:prstGeom prst="ellipse">
            <a:avLst/>
          </a:prstGeom>
          <a:solidFill>
            <a:srgbClr val="C6A24B"/>
          </a:solidFill>
          <a:ln w="12700">
            <a:solidFill>
              <a:srgbClr val="C6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51576" y="39227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Malaysia  47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78424" y="4343400"/>
            <a:ext cx="128016" cy="128016"/>
          </a:xfrm>
          <a:prstGeom prst="ellipse">
            <a:avLst/>
          </a:prstGeom>
          <a:solidFill>
            <a:srgbClr val="C6A24B"/>
          </a:solidFill>
          <a:ln w="12700">
            <a:solidFill>
              <a:srgbClr val="C6A2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42885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Singapore  48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779008" y="4709160"/>
            <a:ext cx="128016" cy="128016"/>
          </a:xfrm>
          <a:prstGeom prst="ellipse">
            <a:avLst/>
          </a:prstGeom>
          <a:solidFill>
            <a:srgbClr val="C6A24B"/>
          </a:solidFill>
          <a:ln w="12700">
            <a:solidFill>
              <a:srgbClr val="C6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52744" y="46542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Indonesia  49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85432" y="5074920"/>
            <a:ext cx="128016" cy="128016"/>
          </a:xfrm>
          <a:prstGeom prst="ellipse">
            <a:avLst/>
          </a:prstGeom>
          <a:solidFill>
            <a:srgbClr val="C6A24B"/>
          </a:solidFill>
          <a:ln w="12700">
            <a:solidFill>
              <a:srgbClr val="C6A2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59168" y="50200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Philippines  60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3A toolkit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10972800" cy="0"/>
          </a:xfrm>
          <a:prstGeom prst="line">
            <a:avLst/>
          </a:prstGeom>
          <a:noFill/>
          <a:ln w="13970">
            <a:solidFill>
              <a:srgbClr val="C6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constructive modalities for Third Nations seeking to preserve policy space under asymmetric pressure.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3246120" cy="3337560"/>
          </a:xfrm>
          <a:prstGeom prst="roundRect">
            <a:avLst>
              <a:gd name="adj" fmla="val 1690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00200"/>
            <a:ext cx="54864" cy="3337560"/>
          </a:xfrm>
          <a:prstGeom prst="rect">
            <a:avLst/>
          </a:prstGeom>
          <a:solidFill>
            <a:srgbClr val="55B8C5"/>
          </a:solidFill>
          <a:ln w="12700">
            <a:solidFill>
              <a:srgbClr val="55B8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764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ACQUIESCENCE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8408" y="2194560"/>
            <a:ext cx="2880360" cy="2587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Symbolic yielding on the axis of contention.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 the immediate cost of asymmetric confrontation; buy policy space.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62272" y="1600200"/>
            <a:ext cx="3246120" cy="3337560"/>
          </a:xfrm>
          <a:prstGeom prst="roundRect">
            <a:avLst>
              <a:gd name="adj" fmla="val 1690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2272" y="1600200"/>
            <a:ext cx="54864" cy="3337560"/>
          </a:xfrm>
          <a:prstGeom prst="rect">
            <a:avLst/>
          </a:prstGeom>
          <a:solidFill>
            <a:srgbClr val="4A9C87"/>
          </a:solidFill>
          <a:ln w="12700">
            <a:solidFill>
              <a:srgbClr val="4A9C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764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194560"/>
            <a:ext cx="2880360" cy="2587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Domestic restructuring for increased resilience.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 vulnerability to the next shock by changing oneself.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47304" y="1600200"/>
            <a:ext cx="3246120" cy="3337560"/>
          </a:xfrm>
          <a:prstGeom prst="roundRect">
            <a:avLst>
              <a:gd name="adj" fmla="val 1690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47304" y="1600200"/>
            <a:ext cx="54864" cy="3337560"/>
          </a:xfrm>
          <a:prstGeom prst="rect">
            <a:avLst/>
          </a:prstGeom>
          <a:solidFill>
            <a:srgbClr val="E4B23E"/>
          </a:solidFill>
          <a:ln w="12700">
            <a:solidFill>
              <a:srgbClr val="E4B2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76479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AGGREGATION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8472" y="2194560"/>
            <a:ext cx="2880360" cy="2587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Coalition-building when Great Powers are aggressive, obstructionist, distracted, or absent.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Change outside options.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156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state normally constructs a portfolio across the three - differing by issue, counterparty, and time horizon.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574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30" kern="0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24871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3As in actual national strategies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3355848"/>
            <a:ext cx="5852160" cy="0"/>
          </a:xfrm>
          <a:prstGeom prst="line">
            <a:avLst/>
          </a:prstGeom>
          <a:noFill/>
          <a:ln w="17780">
            <a:solidFill>
              <a:srgbClr val="C6A24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exactly are we observing?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10972800" cy="0"/>
          </a:xfrm>
          <a:prstGeom prst="line">
            <a:avLst/>
          </a:prstGeom>
          <a:noFill/>
          <a:ln w="13970">
            <a:solidFill>
              <a:srgbClr val="C6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current dataset is a response-side census. It is not yet a US-trigger census.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2148840" cy="1234440"/>
          </a:xfrm>
          <a:prstGeom prst="roundRect">
            <a:avLst>
              <a:gd name="adj" fmla="val 4444"/>
            </a:avLst>
          </a:prstGeom>
          <a:solidFill>
            <a:srgbClr val="1C2D30"/>
          </a:solidFill>
          <a:ln w="20320">
            <a:solidFill>
              <a:srgbClr val="C95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432304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US-trigger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impulse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71800" y="2468880"/>
            <a:ext cx="594360" cy="502920"/>
          </a:xfrm>
          <a:prstGeom prst="chevron">
            <a:avLst/>
          </a:prstGeom>
          <a:solidFill>
            <a:srgbClr val="B9C6C8">
              <a:alpha val="80000"/>
            </a:srgbClr>
          </a:solidFill>
          <a:ln w="12700">
            <a:solidFill>
              <a:srgbClr val="B9C6C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2103120"/>
            <a:ext cx="2148840" cy="1234440"/>
          </a:xfrm>
          <a:prstGeom prst="roundRect">
            <a:avLst>
              <a:gd name="adj" fmla="val 4444"/>
            </a:avLst>
          </a:prstGeom>
          <a:solidFill>
            <a:srgbClr val="1C2D30"/>
          </a:solidFill>
          <a:ln w="20320">
            <a:solidFill>
              <a:srgbClr val="55B8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2432304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Third-Nation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2468880"/>
            <a:ext cx="594360" cy="502920"/>
          </a:xfrm>
          <a:prstGeom prst="chevron">
            <a:avLst/>
          </a:prstGeom>
          <a:solidFill>
            <a:srgbClr val="B9C6C8">
              <a:alpha val="80000"/>
            </a:srgbClr>
          </a:solidFill>
          <a:ln w="12700">
            <a:solidFill>
              <a:srgbClr val="B9C6C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2103120"/>
            <a:ext cx="2148840" cy="1234440"/>
          </a:xfrm>
          <a:prstGeom prst="roundRect">
            <a:avLst>
              <a:gd name="adj" fmla="val 4444"/>
            </a:avLst>
          </a:prstGeom>
          <a:solidFill>
            <a:srgbClr val="1C2D30"/>
          </a:solidFill>
          <a:ln w="20320">
            <a:solidFill>
              <a:srgbClr val="C6A2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1928" y="2432304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Realized geoeconomic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58200" y="2468880"/>
            <a:ext cx="594360" cy="502920"/>
          </a:xfrm>
          <a:prstGeom prst="chevron">
            <a:avLst/>
          </a:prstGeom>
          <a:solidFill>
            <a:srgbClr val="B9C6C8">
              <a:alpha val="80000"/>
            </a:srgbClr>
          </a:solidFill>
          <a:ln w="12700">
            <a:solidFill>
              <a:srgbClr val="B9C6C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0" y="2103120"/>
            <a:ext cx="2148840" cy="1234440"/>
          </a:xfrm>
          <a:prstGeom prst="roundRect">
            <a:avLst>
              <a:gd name="adj" fmla="val 4444"/>
            </a:avLst>
          </a:prstGeom>
          <a:solidFill>
            <a:srgbClr val="1C2D30"/>
          </a:solidFill>
          <a:ln w="20320">
            <a:solidFill>
              <a:srgbClr val="4A9C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36608" y="2432304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Interim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Annual counts combine both sides of the interaction: more US impulses can raise observed activity even if the Third-Nation response function is unchanged.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143000" y="51663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So: describe realized geoeconomic interactions - do not infer Third-Nation responsiveness alone.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Asian responses to US geoeconomic disruption are episodic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10972800" cy="0"/>
          </a:xfrm>
          <a:prstGeom prst="line">
            <a:avLst/>
          </a:prstGeom>
          <a:noFill/>
          <a:ln w="13970">
            <a:solidFill>
              <a:srgbClr val="C6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Annual counts in the exploratory response-side census; classifications may overlap.</a:t>
            </a:r>
            <a:endParaRPr lang="en-US" sz="1100" dirty="0"/>
          </a:p>
        </p:txBody>
      </p:sp>
      <p:pic>
        <p:nvPicPr>
          <p:cNvPr id="5" name="Image 0" descr="/mnt/data/annual_3A_responses_econom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0504" y="1353312"/>
            <a:ext cx="7920511" cy="4617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exploratory response-side census: 68 events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10972800" cy="0"/>
          </a:xfrm>
          <a:prstGeom prst="line">
            <a:avLst/>
          </a:prstGeom>
          <a:noFill/>
          <a:ln w="13970">
            <a:solidFill>
              <a:srgbClr val="C6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Acquiescence is the most visible category; Adaptation and Aggregation are rarer but conceptually distinct.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6184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71800" y="1508760"/>
            <a:ext cx="7315200" cy="475488"/>
          </a:xfrm>
          <a:prstGeom prst="rect">
            <a:avLst/>
          </a:prstGeom>
          <a:solidFill>
            <a:srgbClr val="F8F9F7"/>
          </a:solidFill>
          <a:ln w="12700">
            <a:solidFill>
              <a:srgbClr val="F8F9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61320" y="15819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Acquiescence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71800" y="2313432"/>
            <a:ext cx="4733365" cy="475488"/>
          </a:xfrm>
          <a:prstGeom prst="rect">
            <a:avLst/>
          </a:prstGeom>
          <a:solidFill>
            <a:srgbClr val="55B8C5"/>
          </a:solidFill>
          <a:ln w="12700">
            <a:solidFill>
              <a:srgbClr val="55B8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61320" y="2386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2278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71800" y="3118104"/>
            <a:ext cx="860612" cy="475488"/>
          </a:xfrm>
          <a:prstGeom prst="rect">
            <a:avLst/>
          </a:prstGeom>
          <a:solidFill>
            <a:srgbClr val="4A9C87"/>
          </a:solidFill>
          <a:ln w="12700">
            <a:solidFill>
              <a:srgbClr val="4A9C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61320" y="31912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0325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Aggregation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71800" y="3922776"/>
            <a:ext cx="968188" cy="475488"/>
          </a:xfrm>
          <a:prstGeom prst="rect">
            <a:avLst/>
          </a:prstGeom>
          <a:solidFill>
            <a:srgbClr val="E4B23E"/>
          </a:solidFill>
          <a:ln w="12700">
            <a:solidFill>
              <a:srgbClr val="E4B2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61320" y="39959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8371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OTHER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71800" y="4727448"/>
            <a:ext cx="1075765" cy="475488"/>
          </a:xfrm>
          <a:prstGeom prst="rect">
            <a:avLst/>
          </a:prstGeom>
          <a:solidFill>
            <a:srgbClr val="A8B52A"/>
          </a:solidFill>
          <a:ln w="12700">
            <a:solidFill>
              <a:srgbClr val="A8B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6132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56509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Counts are not mutually exclusive: an event may carry multiple strategy codes.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 is not just Trump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10972800" cy="0"/>
          </a:xfrm>
          <a:prstGeom prst="line">
            <a:avLst/>
          </a:prstGeom>
          <a:noFill/>
          <a:ln w="13970">
            <a:solidFill>
              <a:srgbClr val="C6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Pre-2017 cases already show acquiescence, legal resistance, and movement between the two.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2013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4173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Indonesia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06040" y="1417320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 WTO challenge to import restrictions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887968" y="1435608"/>
            <a:ext cx="2423160" cy="329184"/>
          </a:xfrm>
          <a:prstGeom prst="roundRect">
            <a:avLst>
              <a:gd name="adj" fmla="val 22222"/>
            </a:avLst>
          </a:prstGeom>
          <a:solidFill>
            <a:srgbClr val="C95A55"/>
          </a:solidFill>
          <a:ln w="12700">
            <a:solidFill>
              <a:srgbClr val="C95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0" y="1481328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38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Resistance / legal defence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17320" y="2167128"/>
            <a:ext cx="9875520" cy="0"/>
          </a:xfrm>
          <a:prstGeom prst="line">
            <a:avLst/>
          </a:prstGeom>
          <a:noFill/>
          <a:ln w="6350">
            <a:solidFill>
              <a:srgbClr val="4860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3288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2013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5328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2532888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Private-sector electronics local-purchase mandate removed after US pressure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87968" y="2551176"/>
            <a:ext cx="2423160" cy="329184"/>
          </a:xfrm>
          <a:prstGeom prst="roundRect">
            <a:avLst>
              <a:gd name="adj" fmla="val 22222"/>
            </a:avLst>
          </a:prstGeom>
          <a:solidFill>
            <a:srgbClr val="55B8C5"/>
          </a:solidFill>
          <a:ln w="12700">
            <a:solidFill>
              <a:srgbClr val="55B8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2596896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38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Acquiescence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17320" y="3282696"/>
            <a:ext cx="9875520" cy="0"/>
          </a:xfrm>
          <a:prstGeom prst="line">
            <a:avLst/>
          </a:prstGeom>
          <a:noFill/>
          <a:ln w="6350">
            <a:solidFill>
              <a:srgbClr val="4860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484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2015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364845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06040" y="3648456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Poultry dispute: adverse WTO ruling -&gt; implementation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87968" y="3666744"/>
            <a:ext cx="2423160" cy="329184"/>
          </a:xfrm>
          <a:prstGeom prst="roundRect">
            <a:avLst>
              <a:gd name="adj" fmla="val 22222"/>
            </a:avLst>
          </a:prstGeom>
          <a:solidFill>
            <a:srgbClr val="C6A24B"/>
          </a:solidFill>
          <a:ln w="12700">
            <a:solidFill>
              <a:srgbClr val="C6A2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3712464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38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Resistance -&gt; Acquiescence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417320" y="4398264"/>
            <a:ext cx="9875520" cy="0"/>
          </a:xfrm>
          <a:prstGeom prst="line">
            <a:avLst/>
          </a:prstGeom>
          <a:noFill/>
          <a:ln w="6350">
            <a:solidFill>
              <a:srgbClr val="4860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7640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2016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17320" y="476402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606040" y="4764024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Solar local-content challenge: India appeals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887968" y="4782312"/>
            <a:ext cx="2423160" cy="329184"/>
          </a:xfrm>
          <a:prstGeom prst="roundRect">
            <a:avLst>
              <a:gd name="adj" fmla="val 22222"/>
            </a:avLst>
          </a:prstGeom>
          <a:solidFill>
            <a:srgbClr val="C95A55"/>
          </a:solidFill>
          <a:ln w="12700">
            <a:solidFill>
              <a:srgbClr val="C95A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0" y="4828032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38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OTHER / resistance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Acquiescence is highly visible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10972800" cy="0"/>
          </a:xfrm>
          <a:prstGeom prst="line">
            <a:avLst/>
          </a:prstGeom>
          <a:noFill/>
          <a:ln w="13970">
            <a:solidFill>
              <a:srgbClr val="C6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Steel quotas, currency commitments, purchases, tariff cuts, regulatory concessions, and transshipment enforcement.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383280" cy="3429000"/>
          </a:xfrm>
          <a:prstGeom prst="roundRect">
            <a:avLst>
              <a:gd name="adj" fmla="val 1622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54864" cy="3429000"/>
          </a:xfrm>
          <a:prstGeom prst="rect">
            <a:avLst/>
          </a:prstGeom>
          <a:solidFill>
            <a:srgbClr val="55B8C5"/>
          </a:solidFill>
          <a:ln w="12700">
            <a:solidFill>
              <a:srgbClr val="55B8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BARGAINING MARGIN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2011680"/>
            <a:ext cx="3017520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visible concession is tied to a named US contention. The state avoids public retaliation on that axis.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Examples: Korea steel quota; Vietnam currency commitments; Trump-II tariff bargains.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34840" y="18745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Acquiescence changes the bargain.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453128" y="269748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 is Great-Power-facing. Its near-term result can therefore be observed in whether Washington relaxes, settles, or moves into implementation.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53128" y="41605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But visibility is endogenous: negotiated bargains are easier to find in news and official releases than quiet domestic restructuring.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Adaptation changes oneself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10972800" cy="0"/>
          </a:xfrm>
          <a:prstGeom prst="line">
            <a:avLst/>
          </a:prstGeom>
          <a:noFill/>
          <a:ln w="13970">
            <a:solidFill>
              <a:srgbClr val="C6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Domestic restructuring is not aimed at persuading Washington; it seeks to reduce vulnerability to the next shock.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166360" cy="1508760"/>
          </a:xfrm>
          <a:prstGeom prst="roundRect">
            <a:avLst>
              <a:gd name="adj" fmla="val 3636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54864" cy="1508760"/>
          </a:xfrm>
          <a:prstGeom prst="rect">
            <a:avLst/>
          </a:prstGeom>
          <a:solidFill>
            <a:srgbClr val="4A9C87"/>
          </a:solidFill>
          <a:ln w="12700">
            <a:solidFill>
              <a:srgbClr val="4A9C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819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Korea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011680"/>
            <a:ext cx="48006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Emergency automobile support; export-market diversification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166360" cy="1508760"/>
          </a:xfrm>
          <a:prstGeom prst="roundRect">
            <a:avLst>
              <a:gd name="adj" fmla="val 3636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417320"/>
            <a:ext cx="54864" cy="1508760"/>
          </a:xfrm>
          <a:prstGeom prst="rect">
            <a:avLst/>
          </a:prstGeom>
          <a:solidFill>
            <a:srgbClr val="4A9C87"/>
          </a:solidFill>
          <a:ln w="12700">
            <a:solidFill>
              <a:srgbClr val="4A9C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5819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Japan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64808" y="2011680"/>
            <a:ext cx="48006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Tariff emergency package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5166360" cy="1508760"/>
          </a:xfrm>
          <a:prstGeom prst="roundRect">
            <a:avLst>
              <a:gd name="adj" fmla="val 3636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291840"/>
            <a:ext cx="54864" cy="1508760"/>
          </a:xfrm>
          <a:prstGeom prst="rect">
            <a:avLst/>
          </a:prstGeom>
          <a:solidFill>
            <a:srgbClr val="4A9C87"/>
          </a:solidFill>
          <a:ln w="12700">
            <a:solidFill>
              <a:srgbClr val="4A9C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45643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Singapore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" y="3886200"/>
            <a:ext cx="48006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Economic resilience machinery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291840"/>
            <a:ext cx="5166360" cy="1508760"/>
          </a:xfrm>
          <a:prstGeom prst="roundRect">
            <a:avLst>
              <a:gd name="adj" fmla="val 3636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291840"/>
            <a:ext cx="54864" cy="1508760"/>
          </a:xfrm>
          <a:prstGeom prst="rect">
            <a:avLst/>
          </a:prstGeom>
          <a:solidFill>
            <a:srgbClr val="4A9C87"/>
          </a:solidFill>
          <a:ln w="12700">
            <a:solidFill>
              <a:srgbClr val="4A9C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345643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Korea 2026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64808" y="3886200"/>
            <a:ext cx="480060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Public-private Section 301 task force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05840" y="54406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Relevant outcomes: resilience, substitution, diversification, fiscal cost - not necessarily US policy reversal.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Aggregation changes outside options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10972800" cy="0"/>
          </a:xfrm>
          <a:prstGeom prst="line">
            <a:avLst/>
          </a:prstGeom>
          <a:noFill/>
          <a:ln w="13970">
            <a:solidFill>
              <a:srgbClr val="C6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Coalition-building can succeed even if Washington does not change its position.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54864" cy="1508760"/>
          </a:xfrm>
          <a:prstGeom prst="rect">
            <a:avLst/>
          </a:prstGeom>
          <a:solidFill>
            <a:srgbClr val="E4B23E"/>
          </a:solidFill>
          <a:ln w="12700">
            <a:solidFill>
              <a:srgbClr val="E4B2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CPTPP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2011680"/>
            <a:ext cx="47091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US withdrawal, 11 states proceed without Washington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417320"/>
            <a:ext cx="54864" cy="1508760"/>
          </a:xfrm>
          <a:prstGeom prst="rect">
            <a:avLst/>
          </a:prstGeom>
          <a:solidFill>
            <a:srgbClr val="E4B23E"/>
          </a:solidFill>
          <a:ln w="12700">
            <a:solidFill>
              <a:srgbClr val="E4B2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5819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Japan-EU EPA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64808" y="2011680"/>
            <a:ext cx="47091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Large non-US trade agreement amid protectionist pressure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29184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291840"/>
            <a:ext cx="54864" cy="1508760"/>
          </a:xfrm>
          <a:prstGeom prst="rect">
            <a:avLst/>
          </a:prstGeom>
          <a:solidFill>
            <a:srgbClr val="E4B23E"/>
          </a:solidFill>
          <a:ln w="12700">
            <a:solidFill>
              <a:srgbClr val="E4B2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4564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RCEP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6968" y="3886200"/>
            <a:ext cx="47091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Asia-Pacific economies institutionalise regional trade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29184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291840"/>
            <a:ext cx="54864" cy="1508760"/>
          </a:xfrm>
          <a:prstGeom prst="rect">
            <a:avLst/>
          </a:prstGeom>
          <a:solidFill>
            <a:srgbClr val="E4B23E"/>
          </a:solidFill>
          <a:ln w="12700">
            <a:solidFill>
              <a:srgbClr val="E4B2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34564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ASEAN-GCC-China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64808" y="3886200"/>
            <a:ext cx="47091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Broader coalition around resilience and supply chains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5394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= a viable outside option, additional policy space, and institutions that remain useful when Great-Power participation is optional.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Resistance is not unknown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10972800" cy="0"/>
          </a:xfrm>
          <a:prstGeom prst="line">
            <a:avLst/>
          </a:prstGeom>
          <a:noFill/>
          <a:ln w="13970">
            <a:solidFill>
              <a:srgbClr val="C6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OTHER is substantive behaviour outside the 3As - not a coding failure.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154680" cy="329184"/>
          </a:xfrm>
          <a:prstGeom prst="roundRect">
            <a:avLst>
              <a:gd name="adj" fmla="val 22222"/>
            </a:avLst>
          </a:prstGeom>
          <a:solidFill>
            <a:srgbClr val="C95A55"/>
          </a:solidFill>
          <a:ln w="12700">
            <a:solidFill>
              <a:srgbClr val="C95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46304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38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WTO challenge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154680" cy="329184"/>
          </a:xfrm>
          <a:prstGeom prst="roundRect">
            <a:avLst>
              <a:gd name="adj" fmla="val 22222"/>
            </a:avLst>
          </a:prstGeom>
          <a:solidFill>
            <a:srgbClr val="C95A55"/>
          </a:solidFill>
          <a:ln w="12700">
            <a:solidFill>
              <a:srgbClr val="C95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2272" y="146304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38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WTO litigation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92440" y="1417320"/>
            <a:ext cx="3154680" cy="329184"/>
          </a:xfrm>
          <a:prstGeom prst="roundRect">
            <a:avLst>
              <a:gd name="adj" fmla="val 22222"/>
            </a:avLst>
          </a:prstGeom>
          <a:solidFill>
            <a:srgbClr val="C95A55"/>
          </a:solidFill>
          <a:ln w="12700">
            <a:solidFill>
              <a:srgbClr val="C95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5592" y="146304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38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WTO appeal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057400"/>
            <a:ext cx="3154680" cy="329184"/>
          </a:xfrm>
          <a:prstGeom prst="roundRect">
            <a:avLst>
              <a:gd name="adj" fmla="val 22222"/>
            </a:avLst>
          </a:prstGeom>
          <a:solidFill>
            <a:srgbClr val="C95A55"/>
          </a:solidFill>
          <a:ln w="12700">
            <a:solidFill>
              <a:srgbClr val="C95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10312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38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Legal defence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2057400"/>
            <a:ext cx="3154680" cy="329184"/>
          </a:xfrm>
          <a:prstGeom prst="roundRect">
            <a:avLst>
              <a:gd name="adj" fmla="val 22222"/>
            </a:avLst>
          </a:prstGeom>
          <a:solidFill>
            <a:srgbClr val="C95A55"/>
          </a:solidFill>
          <a:ln w="12700">
            <a:solidFill>
              <a:srgbClr val="C95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210312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38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Retaliatory tariffs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92440" y="2057400"/>
            <a:ext cx="3154680" cy="329184"/>
          </a:xfrm>
          <a:prstGeom prst="roundRect">
            <a:avLst>
              <a:gd name="adj" fmla="val 22222"/>
            </a:avLst>
          </a:prstGeom>
          <a:solidFill>
            <a:srgbClr val="C95A55"/>
          </a:solidFill>
          <a:ln w="12700">
            <a:solidFill>
              <a:srgbClr val="C95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65592" y="210312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38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Diplomatic protest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2697480"/>
            <a:ext cx="3154680" cy="329184"/>
          </a:xfrm>
          <a:prstGeom prst="roundRect">
            <a:avLst>
              <a:gd name="adj" fmla="val 22222"/>
            </a:avLst>
          </a:prstGeom>
          <a:solidFill>
            <a:srgbClr val="C95A55"/>
          </a:solidFill>
          <a:ln w="12700">
            <a:solidFill>
              <a:srgbClr val="C95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743200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38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Refusal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Potentially high-risk under asymmetric power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77240" y="4434840"/>
            <a:ext cx="53035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India, June 2019: retaliatory tariffs; US holds its position.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5029200"/>
            <a:ext cx="56692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Australia, April 2025: criticises Trump tariffs but declines to retaliate - resistance plus restraint.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38862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question is not whether resistance exists. It is when asymmetric confrontation creates enough leverage to justify its risk.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3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574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30" kern="0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24871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3355848"/>
            <a:ext cx="5852160" cy="0"/>
          </a:xfrm>
          <a:prstGeom prst="line">
            <a:avLst/>
          </a:prstGeom>
          <a:noFill/>
          <a:ln w="17780">
            <a:solidFill>
              <a:srgbClr val="C6A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88620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When should a Third Nation fight back rather than acquiesce, adapt, or aggregate?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Interim results differ sharply across strategies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10972800" cy="0"/>
          </a:xfrm>
          <a:prstGeom prst="line">
            <a:avLst/>
          </a:prstGeom>
          <a:noFill/>
          <a:ln w="13970">
            <a:solidFill>
              <a:srgbClr val="C6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Observed disposition within roughly 60 days; descriptive association, not causal effectiveness.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508760" cy="658368"/>
          </a:xfrm>
          <a:prstGeom prst="rect">
            <a:avLst/>
          </a:prstGeom>
          <a:solidFill>
            <a:srgbClr val="355156"/>
          </a:solidFill>
          <a:ln w="12700">
            <a:solidFill>
              <a:srgbClr val="2338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1572768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1417320"/>
            <a:ext cx="502920" cy="658368"/>
          </a:xfrm>
          <a:prstGeom prst="rect">
            <a:avLst/>
          </a:prstGeom>
          <a:solidFill>
            <a:srgbClr val="355156"/>
          </a:solidFill>
          <a:ln w="12700">
            <a:solidFill>
              <a:srgbClr val="2338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75104" y="1572768"/>
            <a:ext cx="39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417320"/>
            <a:ext cx="1234440" cy="658368"/>
          </a:xfrm>
          <a:prstGeom prst="rect">
            <a:avLst/>
          </a:prstGeom>
          <a:solidFill>
            <a:srgbClr val="355156"/>
          </a:solidFill>
          <a:ln w="12700">
            <a:solidFill>
              <a:srgbClr val="2338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78024" y="1572768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 relaxes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1417320"/>
            <a:ext cx="1143000" cy="658368"/>
          </a:xfrm>
          <a:prstGeom prst="rect">
            <a:avLst/>
          </a:prstGeom>
          <a:solidFill>
            <a:srgbClr val="355156"/>
          </a:solidFill>
          <a:ln w="12700">
            <a:solidFill>
              <a:srgbClr val="2338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1572768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Compromise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417320"/>
            <a:ext cx="2057400" cy="658368"/>
          </a:xfrm>
          <a:prstGeom prst="rect">
            <a:avLst/>
          </a:prstGeom>
          <a:solidFill>
            <a:srgbClr val="355156"/>
          </a:solidFill>
          <a:ln w="12700">
            <a:solidFill>
              <a:srgbClr val="2338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1572768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Implementation / monitoring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1417320"/>
            <a:ext cx="1097280" cy="658368"/>
          </a:xfrm>
          <a:prstGeom prst="rect">
            <a:avLst/>
          </a:prstGeom>
          <a:solidFill>
            <a:srgbClr val="355156"/>
          </a:solidFill>
          <a:ln w="12700">
            <a:solidFill>
              <a:srgbClr val="2338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12864" y="157276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 holds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417320"/>
            <a:ext cx="1097280" cy="658368"/>
          </a:xfrm>
          <a:prstGeom prst="rect">
            <a:avLst/>
          </a:prstGeom>
          <a:solidFill>
            <a:srgbClr val="355156"/>
          </a:solidFill>
          <a:ln w="12700">
            <a:solidFill>
              <a:srgbClr val="2338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10144" y="1572768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 escalates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52560" y="1417320"/>
            <a:ext cx="1280160" cy="658368"/>
          </a:xfrm>
          <a:prstGeom prst="rect">
            <a:avLst/>
          </a:prstGeom>
          <a:solidFill>
            <a:srgbClr val="355156"/>
          </a:solidFill>
          <a:ln w="12700">
            <a:solidFill>
              <a:srgbClr val="2338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07424" y="157276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clear result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2075688"/>
            <a:ext cx="1508760" cy="822960"/>
          </a:xfrm>
          <a:prstGeom prst="rect">
            <a:avLst/>
          </a:prstGeom>
          <a:solidFill>
            <a:srgbClr val="2A4145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" y="233172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Acquiescence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20240" y="2075688"/>
            <a:ext cx="502920" cy="822960"/>
          </a:xfrm>
          <a:prstGeom prst="rect">
            <a:avLst/>
          </a:prstGeom>
          <a:solidFill>
            <a:srgbClr val="2A4145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75104" y="233172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23160" y="2075688"/>
            <a:ext cx="1234440" cy="822960"/>
          </a:xfrm>
          <a:prstGeom prst="rect">
            <a:avLst/>
          </a:prstGeom>
          <a:solidFill>
            <a:srgbClr val="2A4145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78024" y="233172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(43%)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0" y="2075688"/>
            <a:ext cx="1143000" cy="822960"/>
          </a:xfrm>
          <a:prstGeom prst="rect">
            <a:avLst/>
          </a:prstGeom>
          <a:solidFill>
            <a:srgbClr val="2A4145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12464" y="233172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(11%)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2075688"/>
            <a:ext cx="2057400" cy="822960"/>
          </a:xfrm>
          <a:prstGeom prst="rect">
            <a:avLst/>
          </a:prstGeom>
          <a:solidFill>
            <a:srgbClr val="2A4145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5464" y="233172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(30%)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2075688"/>
            <a:ext cx="1097280" cy="822960"/>
          </a:xfrm>
          <a:prstGeom prst="rect">
            <a:avLst/>
          </a:prstGeom>
          <a:solidFill>
            <a:srgbClr val="2A4145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12864" y="23317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(11%)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55280" y="2075688"/>
            <a:ext cx="1097280" cy="822960"/>
          </a:xfrm>
          <a:prstGeom prst="rect">
            <a:avLst/>
          </a:prstGeom>
          <a:solidFill>
            <a:srgbClr val="2A4145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10144" y="23317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52560" y="2075688"/>
            <a:ext cx="1280160" cy="822960"/>
          </a:xfrm>
          <a:prstGeom prst="rect">
            <a:avLst/>
          </a:prstGeom>
          <a:solidFill>
            <a:srgbClr val="2A4145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07424" y="23317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(5%)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2898648"/>
            <a:ext cx="1508760" cy="822960"/>
          </a:xfrm>
          <a:prstGeom prst="rect">
            <a:avLst/>
          </a:prstGeom>
          <a:solidFill>
            <a:srgbClr val="263B3E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" y="31546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Adaptation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920240" y="2898648"/>
            <a:ext cx="502920" cy="822960"/>
          </a:xfrm>
          <a:prstGeom prst="rect">
            <a:avLst/>
          </a:prstGeom>
          <a:solidFill>
            <a:srgbClr val="263B3E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75104" y="315468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23160" y="2898648"/>
            <a:ext cx="1234440" cy="822960"/>
          </a:xfrm>
          <a:prstGeom prst="rect">
            <a:avLst/>
          </a:prstGeom>
          <a:solidFill>
            <a:srgbClr val="263B3E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78024" y="315468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(13%)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0" y="2898648"/>
            <a:ext cx="1143000" cy="822960"/>
          </a:xfrm>
          <a:prstGeom prst="rect">
            <a:avLst/>
          </a:prstGeom>
          <a:solidFill>
            <a:srgbClr val="263B3E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12464" y="315468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00600" y="2898648"/>
            <a:ext cx="2057400" cy="822960"/>
          </a:xfrm>
          <a:prstGeom prst="rect">
            <a:avLst/>
          </a:prstGeom>
          <a:solidFill>
            <a:srgbClr val="263B3E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5464" y="315468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(25%)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858000" y="2898648"/>
            <a:ext cx="1097280" cy="822960"/>
          </a:xfrm>
          <a:prstGeom prst="rect">
            <a:avLst/>
          </a:prstGeom>
          <a:solidFill>
            <a:srgbClr val="263B3E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12864" y="3154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(63%)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955280" y="2898648"/>
            <a:ext cx="1097280" cy="822960"/>
          </a:xfrm>
          <a:prstGeom prst="rect">
            <a:avLst/>
          </a:prstGeom>
          <a:solidFill>
            <a:srgbClr val="263B3E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10144" y="3154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052560" y="2898648"/>
            <a:ext cx="1280160" cy="822960"/>
          </a:xfrm>
          <a:prstGeom prst="rect">
            <a:avLst/>
          </a:prstGeom>
          <a:solidFill>
            <a:srgbClr val="263B3E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07424" y="31546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11480" y="3721608"/>
            <a:ext cx="1508760" cy="822960"/>
          </a:xfrm>
          <a:prstGeom prst="rect">
            <a:avLst/>
          </a:prstGeom>
          <a:solidFill>
            <a:srgbClr val="2A4145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" y="397764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Aggregation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920240" y="3721608"/>
            <a:ext cx="502920" cy="822960"/>
          </a:xfrm>
          <a:prstGeom prst="rect">
            <a:avLst/>
          </a:prstGeom>
          <a:solidFill>
            <a:srgbClr val="2A4145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75104" y="397764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423160" y="3721608"/>
            <a:ext cx="1234440" cy="822960"/>
          </a:xfrm>
          <a:prstGeom prst="rect">
            <a:avLst/>
          </a:prstGeom>
          <a:solidFill>
            <a:srgbClr val="2A4145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78024" y="397764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657600" y="3721608"/>
            <a:ext cx="1143000" cy="822960"/>
          </a:xfrm>
          <a:prstGeom prst="rect">
            <a:avLst/>
          </a:prstGeom>
          <a:solidFill>
            <a:srgbClr val="2A4145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12464" y="397764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800600" y="3721608"/>
            <a:ext cx="2057400" cy="822960"/>
          </a:xfrm>
          <a:prstGeom prst="rect">
            <a:avLst/>
          </a:prstGeom>
          <a:solidFill>
            <a:srgbClr val="2A4145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55464" y="397764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(44%)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858000" y="3721608"/>
            <a:ext cx="1097280" cy="822960"/>
          </a:xfrm>
          <a:prstGeom prst="rect">
            <a:avLst/>
          </a:prstGeom>
          <a:solidFill>
            <a:srgbClr val="2A4145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12864" y="39776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(11%)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955280" y="3721608"/>
            <a:ext cx="1097280" cy="822960"/>
          </a:xfrm>
          <a:prstGeom prst="rect">
            <a:avLst/>
          </a:prstGeom>
          <a:solidFill>
            <a:srgbClr val="2A4145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10144" y="39776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052560" y="3721608"/>
            <a:ext cx="1280160" cy="822960"/>
          </a:xfrm>
          <a:prstGeom prst="rect">
            <a:avLst/>
          </a:prstGeom>
          <a:solidFill>
            <a:srgbClr val="2A4145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107424" y="397764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(44%)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11480" y="4544568"/>
            <a:ext cx="1508760" cy="822960"/>
          </a:xfrm>
          <a:prstGeom prst="rect">
            <a:avLst/>
          </a:prstGeom>
          <a:solidFill>
            <a:srgbClr val="263B3E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6344" y="480060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OTHER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1920240" y="4544568"/>
            <a:ext cx="502920" cy="822960"/>
          </a:xfrm>
          <a:prstGeom prst="rect">
            <a:avLst/>
          </a:prstGeom>
          <a:solidFill>
            <a:srgbClr val="263B3E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75104" y="4800600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423160" y="4544568"/>
            <a:ext cx="1234440" cy="822960"/>
          </a:xfrm>
          <a:prstGeom prst="rect">
            <a:avLst/>
          </a:prstGeom>
          <a:solidFill>
            <a:srgbClr val="263B3E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478024" y="480060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657600" y="4544568"/>
            <a:ext cx="1143000" cy="822960"/>
          </a:xfrm>
          <a:prstGeom prst="rect">
            <a:avLst/>
          </a:prstGeom>
          <a:solidFill>
            <a:srgbClr val="263B3E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712464" y="480060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800600" y="4544568"/>
            <a:ext cx="2057400" cy="822960"/>
          </a:xfrm>
          <a:prstGeom prst="rect">
            <a:avLst/>
          </a:prstGeom>
          <a:solidFill>
            <a:srgbClr val="263B3E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55464" y="4800600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(10%)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858000" y="4544568"/>
            <a:ext cx="1097280" cy="822960"/>
          </a:xfrm>
          <a:prstGeom prst="rect">
            <a:avLst/>
          </a:prstGeom>
          <a:solidFill>
            <a:srgbClr val="263B3E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12864" y="480060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(70%)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7955280" y="4544568"/>
            <a:ext cx="1097280" cy="822960"/>
          </a:xfrm>
          <a:prstGeom prst="rect">
            <a:avLst/>
          </a:prstGeom>
          <a:solidFill>
            <a:srgbClr val="263B3E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010144" y="480060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(10%)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9052560" y="4544568"/>
            <a:ext cx="1280160" cy="822960"/>
          </a:xfrm>
          <a:prstGeom prst="rect">
            <a:avLst/>
          </a:prstGeom>
          <a:solidFill>
            <a:srgbClr val="263B3E"/>
          </a:solidFill>
          <a:ln w="3810">
            <a:solidFill>
              <a:srgbClr val="49606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107424" y="48006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(10%)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457200" y="5623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Codes can overlap; rows are not mutually exclusive.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Different strategies seek different outcomes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10972800" cy="0"/>
          </a:xfrm>
          <a:prstGeom prst="line">
            <a:avLst/>
          </a:prstGeom>
          <a:noFill/>
          <a:ln w="13970">
            <a:solidFill>
              <a:srgbClr val="C6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 not turn the interim-results table into a single horse race over “what works”.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2697480" cy="3566160"/>
          </a:xfrm>
          <a:prstGeom prst="roundRect">
            <a:avLst>
              <a:gd name="adj" fmla="val 2034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54864" cy="3566160"/>
          </a:xfrm>
          <a:prstGeom prst="rect">
            <a:avLst/>
          </a:prstGeom>
          <a:solidFill>
            <a:srgbClr val="55B8C5"/>
          </a:solidFill>
          <a:ln w="12700">
            <a:solidFill>
              <a:srgbClr val="55B8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81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ACQUIESCENCE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2331720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changes?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bargain.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Outcome to measure: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 relief, settlement, implementation.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Clock: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Often short.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697480" cy="3566160"/>
          </a:xfrm>
          <a:prstGeom prst="roundRect">
            <a:avLst>
              <a:gd name="adj" fmla="val 2034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417320"/>
            <a:ext cx="54864" cy="3566160"/>
          </a:xfrm>
          <a:prstGeom prst="rect">
            <a:avLst/>
          </a:prstGeom>
          <a:solidFill>
            <a:srgbClr val="4A9C87"/>
          </a:solidFill>
          <a:ln w="12700">
            <a:solidFill>
              <a:srgbClr val="4A9C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1581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30168" y="2011680"/>
            <a:ext cx="2331720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changes?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Oneself.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Outcome to measure: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Resilience, diversification, substitution, fiscal cost.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Clock: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Medium.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2697480" cy="3566160"/>
          </a:xfrm>
          <a:prstGeom prst="roundRect">
            <a:avLst>
              <a:gd name="adj" fmla="val 2034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17320"/>
            <a:ext cx="54864" cy="3566160"/>
          </a:xfrm>
          <a:prstGeom prst="rect">
            <a:avLst/>
          </a:prstGeom>
          <a:solidFill>
            <a:srgbClr val="E4B23E"/>
          </a:solidFill>
          <a:ln w="12700">
            <a:solidFill>
              <a:srgbClr val="E4B2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581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AGGREGATION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64808" y="2011680"/>
            <a:ext cx="2331720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changes?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Outside options.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Outcome to measure: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Viable institutions, policy space, coalition durability.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Clock: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Medium to long.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98280" y="1417320"/>
            <a:ext cx="2514600" cy="3566160"/>
          </a:xfrm>
          <a:prstGeom prst="roundRect">
            <a:avLst>
              <a:gd name="adj" fmla="val 2182"/>
            </a:avLst>
          </a:prstGeom>
          <a:solidFill>
            <a:srgbClr val="1C2D30"/>
          </a:solidFill>
          <a:ln w="7620">
            <a:solidFill>
              <a:srgbClr val="4960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98280" y="1417320"/>
            <a:ext cx="54864" cy="3566160"/>
          </a:xfrm>
          <a:prstGeom prst="rect">
            <a:avLst/>
          </a:prstGeom>
          <a:solidFill>
            <a:srgbClr val="C95A55"/>
          </a:solidFill>
          <a:ln w="12700">
            <a:solidFill>
              <a:srgbClr val="C95A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99448" y="15819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OTHER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99448" y="2011680"/>
            <a:ext cx="2148840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changes?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contest.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Outcome to measure: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Deterrence, delay, precedent, leverage.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Clock: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Often long.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88720" y="53492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60-day US-response variable is naturally best suited to Acquiescence.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3As are a portfolio, not three mutually exclusive choices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10972800" cy="0"/>
          </a:xfrm>
          <a:prstGeom prst="line">
            <a:avLst/>
          </a:prstGeom>
          <a:noFill/>
          <a:ln w="13970">
            <a:solidFill>
              <a:srgbClr val="C6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state can sequence the modalities across horizons and counterparties.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B8C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TODAY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00200" y="2011680"/>
            <a:ext cx="1234440" cy="1234440"/>
          </a:xfrm>
          <a:prstGeom prst="ellipse">
            <a:avLst/>
          </a:prstGeom>
          <a:solidFill>
            <a:srgbClr val="1C2D30"/>
          </a:solidFill>
          <a:ln w="25400">
            <a:solidFill>
              <a:srgbClr val="55B8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24505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Acquiesce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Buy policy space on the immediate axis of contention.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0" y="2359152"/>
            <a:ext cx="594360" cy="502920"/>
          </a:xfrm>
          <a:prstGeom prst="chevron">
            <a:avLst/>
          </a:prstGeom>
          <a:solidFill>
            <a:srgbClr val="C6A24B"/>
          </a:solidFill>
          <a:ln w="12700">
            <a:solidFill>
              <a:srgbClr val="C6A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C8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HOME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2011680"/>
            <a:ext cx="1234440" cy="1234440"/>
          </a:xfrm>
          <a:prstGeom prst="ellipse">
            <a:avLst/>
          </a:prstGeom>
          <a:solidFill>
            <a:srgbClr val="1C2D30"/>
          </a:solidFill>
          <a:ln w="25400">
            <a:solidFill>
              <a:srgbClr val="4A9C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4505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97680" y="3611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Make the next shock hurt less.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86600" y="2359152"/>
            <a:ext cx="594360" cy="502920"/>
          </a:xfrm>
          <a:prstGeom prst="chevron">
            <a:avLst/>
          </a:prstGeom>
          <a:solidFill>
            <a:srgbClr val="C6A24B"/>
          </a:solidFill>
          <a:ln w="12700">
            <a:solidFill>
              <a:srgbClr val="C6A2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4B2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ABROAD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458200" y="2011680"/>
            <a:ext cx="1234440" cy="1234440"/>
          </a:xfrm>
          <a:prstGeom prst="ellipse">
            <a:avLst/>
          </a:prstGeom>
          <a:solidFill>
            <a:srgbClr val="1C2D30"/>
          </a:solidFill>
          <a:ln w="25400">
            <a:solidFill>
              <a:srgbClr val="E4B2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4505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Aggregate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26680" y="36118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 better outside options.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9834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Aggregation frequently follows rather than substitutes for Acquiescence: bargain bilaterally while building institutions elsewhere.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10972800" cy="0"/>
          </a:xfrm>
          <a:prstGeom prst="line">
            <a:avLst/>
          </a:prstGeom>
          <a:noFill/>
          <a:ln w="13970">
            <a:solidFill>
              <a:srgbClr val="C6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941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6C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3As describe constructive strategic modalities; the research programme asks when, why, and with what effects states use them.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Acquiescence changes the bargain. It is Great-Power-facing.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106070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Adaptation changes oneself. It seeks greater Great-Power independence.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106070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Aggregation changes outside options. It builds G-minus institutional capacity.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106070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8F9F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Resistance remains available - but in this exploratory sample the US usually persists and sometimes escalates.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97280" y="4709160"/>
            <a:ext cx="9784080" cy="0"/>
          </a:xfrm>
          <a:prstGeom prst="line">
            <a:avLst/>
          </a:prstGeom>
          <a:noFill/>
          <a:ln w="15240">
            <a:solidFill>
              <a:srgbClr val="C6A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0749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A24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 Acquiescence today finance the Adaptation and Aggregation that make Acquiescence less necessary tomorrow?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25603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B9C6C8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Lee Kuan Yew School of Public Policy,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PP5182: The Basic 3A Toolkit</dc:title>
  <dc:subject>PP5182 Economic Diplomacy</dc:subject>
  <dc:creator>Danny Quah</dc:creator>
  <cp:lastModifiedBy>Danny Quah</cp:lastModifiedBy>
  <cp:revision>1</cp:revision>
  <dcterms:created xsi:type="dcterms:W3CDTF">2026-10-05T02:43:14Z</dcterms:created>
  <dcterms:modified xsi:type="dcterms:W3CDTF">2026-10-05T02:43:14Z</dcterms:modified>
</cp:coreProperties>
</file>