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70" r:id="rId10"/>
    <p:sldId id="264" r:id="rId11"/>
    <p:sldId id="265"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0773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D9E429-495D-B14C-AAFB-7DD9E7C5C604}" type="slidenum">
              <a:rPr lang="en-US" smtClean="0"/>
              <a:t>9</a:t>
            </a:fld>
            <a:endParaRPr lang="en-US"/>
          </a:p>
        </p:txBody>
      </p:sp>
    </p:spTree>
    <p:extLst>
      <p:ext uri="{BB962C8B-B14F-4D97-AF65-F5344CB8AC3E}">
        <p14:creationId xmlns:p14="http://schemas.microsoft.com/office/powerpoint/2010/main" val="2879529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ADFCB-420F-C95C-2120-9D5DB85A2D3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8BEDC88-B0CA-3022-C5CC-AFC2A7F905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39EEC29-1320-B59B-2564-A767316D8408}"/>
              </a:ext>
            </a:extLst>
          </p:cNvPr>
          <p:cNvSpPr>
            <a:spLocks noGrp="1"/>
          </p:cNvSpPr>
          <p:nvPr>
            <p:ph type="dt" sz="half" idx="10"/>
          </p:nvPr>
        </p:nvSpPr>
        <p:spPr/>
        <p:txBody>
          <a:bodyPr/>
          <a:lstStyle/>
          <a:p>
            <a:fld id="{D5E241E2-E659-394A-B377-6162B0B16AA1}" type="datetimeFigureOut">
              <a:rPr lang="en-US" smtClean="0"/>
              <a:t>8/17/26</a:t>
            </a:fld>
            <a:endParaRPr lang="en-US"/>
          </a:p>
        </p:txBody>
      </p:sp>
      <p:sp>
        <p:nvSpPr>
          <p:cNvPr id="5" name="Footer Placeholder 4">
            <a:extLst>
              <a:ext uri="{FF2B5EF4-FFF2-40B4-BE49-F238E27FC236}">
                <a16:creationId xmlns:a16="http://schemas.microsoft.com/office/drawing/2014/main" id="{F9AE942D-A22A-843A-E751-59D859B1B2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B386A-4151-8A7D-731D-FB5DCCE53B74}"/>
              </a:ext>
            </a:extLst>
          </p:cNvPr>
          <p:cNvSpPr>
            <a:spLocks noGrp="1"/>
          </p:cNvSpPr>
          <p:nvPr>
            <p:ph type="sldNum" sz="quarter" idx="12"/>
          </p:nvPr>
        </p:nvSpPr>
        <p:spPr/>
        <p:txBody>
          <a:bodyPr/>
          <a:lstStyle/>
          <a:p>
            <a:fld id="{E03872BE-C2AC-1143-A900-A5E3E8D6D172}" type="slidenum">
              <a:rPr lang="en-US" smtClean="0"/>
              <a:t>‹#›</a:t>
            </a:fld>
            <a:endParaRPr lang="en-US"/>
          </a:p>
        </p:txBody>
      </p:sp>
    </p:spTree>
    <p:extLst>
      <p:ext uri="{BB962C8B-B14F-4D97-AF65-F5344CB8AC3E}">
        <p14:creationId xmlns:p14="http://schemas.microsoft.com/office/powerpoint/2010/main" val="34262128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373B"/>
        </a:solidFill>
        <a:effectLst/>
      </p:bgPr>
    </p:bg>
    <p:spTree>
      <p:nvGrpSpPr>
        <p:cNvPr id="1" name=""/>
        <p:cNvGrpSpPr/>
        <p:nvPr/>
      </p:nvGrpSpPr>
      <p:grpSpPr>
        <a:xfrm>
          <a:off x="0" y="0"/>
          <a:ext cx="0" cy="0"/>
          <a:chOff x="0" y="0"/>
          <a:chExt cx="0" cy="0"/>
        </a:xfrm>
      </p:grpSpPr>
      <p:sp>
        <p:nvSpPr>
          <p:cNvPr id="2" name="Text 0"/>
          <p:cNvSpPr/>
          <p:nvPr/>
        </p:nvSpPr>
        <p:spPr>
          <a:xfrm>
            <a:off x="548640" y="2514600"/>
            <a:ext cx="9601200" cy="100584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PP5182 GEOECONOMICS</a:t>
            </a:r>
            <a:endParaRPr lang="en-US" sz="4400" dirty="0"/>
          </a:p>
        </p:txBody>
      </p:sp>
      <p:sp>
        <p:nvSpPr>
          <p:cNvPr id="3" name="Text 1"/>
          <p:cNvSpPr/>
          <p:nvPr/>
        </p:nvSpPr>
        <p:spPr>
          <a:xfrm>
            <a:off x="548640" y="3456432"/>
            <a:ext cx="9601200" cy="548640"/>
          </a:xfrm>
          <a:prstGeom prst="rect">
            <a:avLst/>
          </a:prstGeom>
          <a:noFill/>
          <a:ln/>
        </p:spPr>
        <p:txBody>
          <a:bodyPr wrap="square" lIns="0" tIns="0" rIns="0" bIns="0" rtlCol="0" anchor="ctr"/>
          <a:lstStyle/>
          <a:p>
            <a:pPr marL="0" indent="0" algn="l">
              <a:buNone/>
            </a:pPr>
            <a:r>
              <a:rPr lang="en-US" sz="2400" dirty="0">
                <a:solidFill>
                  <a:srgbClr val="B9BFC1"/>
                </a:solidFill>
                <a:latin typeface="Calibri" pitchFamily="34" charset="0"/>
                <a:ea typeface="Calibri" pitchFamily="34" charset="-122"/>
                <a:cs typeface="Calibri" pitchFamily="34" charset="-120"/>
              </a:rPr>
              <a:t>Why Geopolitics Is Important Again</a:t>
            </a:r>
            <a:endParaRPr lang="en-US" sz="2400" dirty="0"/>
          </a:p>
        </p:txBody>
      </p:sp>
      <p:sp>
        <p:nvSpPr>
          <p:cNvPr id="4" name="Shape 2"/>
          <p:cNvSpPr/>
          <p:nvPr/>
        </p:nvSpPr>
        <p:spPr>
          <a:xfrm>
            <a:off x="548640" y="4224528"/>
            <a:ext cx="1508760" cy="0"/>
          </a:xfrm>
          <a:prstGeom prst="line">
            <a:avLst/>
          </a:prstGeom>
          <a:noFill/>
          <a:ln w="38100">
            <a:solidFill>
              <a:srgbClr val="EB811B"/>
            </a:solidFill>
            <a:prstDash val="solid"/>
          </a:ln>
        </p:spPr>
        <p:txBody>
          <a:bodyPr/>
          <a:lstStyle/>
          <a:p>
            <a:endParaRPr lang="en-US"/>
          </a:p>
        </p:txBody>
      </p:sp>
      <p:sp>
        <p:nvSpPr>
          <p:cNvPr id="5" name="Text 3"/>
          <p:cNvSpPr/>
          <p:nvPr/>
        </p:nvSpPr>
        <p:spPr>
          <a:xfrm>
            <a:off x="548640" y="4526280"/>
            <a:ext cx="731520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Danny Quah</a:t>
            </a:r>
            <a:endParaRPr lang="en-US" sz="1400" dirty="0"/>
          </a:p>
        </p:txBody>
      </p:sp>
      <p:sp>
        <p:nvSpPr>
          <p:cNvPr id="6" name="Text 4"/>
          <p:cNvSpPr/>
          <p:nvPr/>
        </p:nvSpPr>
        <p:spPr>
          <a:xfrm>
            <a:off x="548640" y="4864608"/>
            <a:ext cx="8229600" cy="502920"/>
          </a:xfrm>
          <a:prstGeom prst="rect">
            <a:avLst/>
          </a:prstGeom>
          <a:noFill/>
          <a:ln/>
        </p:spPr>
        <p:txBody>
          <a:bodyPr wrap="square" lIns="0" tIns="0" rIns="0" bIns="0" rtlCol="0" anchor="ctr"/>
          <a:lstStyle/>
          <a:p>
            <a:pPr marL="0" indent="0" algn="l">
              <a:buNone/>
            </a:pPr>
            <a:r>
              <a:rPr lang="en-US" sz="1300" dirty="0">
                <a:solidFill>
                  <a:srgbClr val="B9BFC1"/>
                </a:solidFill>
                <a:latin typeface="Calibri" pitchFamily="34" charset="0"/>
                <a:ea typeface="Calibri" pitchFamily="34" charset="-122"/>
                <a:cs typeface="Calibri" pitchFamily="34" charset="-120"/>
              </a:rPr>
              <a:t>Li Ka Shing Professor in Economics, Lee Kuan Yew School of Public Policy, NUS  </a:t>
            </a:r>
          </a:p>
          <a:p>
            <a:pPr marL="0" indent="0" algn="l">
              <a:buNone/>
            </a:pPr>
            <a:r>
              <a:rPr lang="en-US" sz="1300" dirty="0">
                <a:solidFill>
                  <a:srgbClr val="B9BFC1"/>
                </a:solidFill>
                <a:latin typeface="Calibri" pitchFamily="34" charset="0"/>
                <a:cs typeface="Calibri" pitchFamily="34" charset="-120"/>
              </a:rPr>
              <a:t>2026.08.17.Mon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685800"/>
          </a:xfrm>
          <a:prstGeom prst="rect">
            <a:avLst/>
          </a:prstGeom>
          <a:noFill/>
          <a:ln/>
        </p:spPr>
        <p:txBody>
          <a:bodyPr wrap="square" lIns="0" tIns="0" rIns="0" bIns="0" rtlCol="0" anchor="ctr"/>
          <a:lstStyle/>
          <a:p>
            <a:pPr marL="0" indent="0" algn="l">
              <a:buNone/>
            </a:pPr>
            <a:r>
              <a:rPr lang="en-US" sz="3400" b="1" dirty="0">
                <a:solidFill>
                  <a:srgbClr val="23373B"/>
                </a:solidFill>
                <a:latin typeface="Cambria" pitchFamily="34" charset="0"/>
                <a:ea typeface="Cambria" pitchFamily="34" charset="-122"/>
                <a:cs typeface="Cambria" pitchFamily="34" charset="-120"/>
              </a:rPr>
              <a:t>How Is Geopolitics Important Again?</a:t>
            </a:r>
            <a:endParaRPr lang="en-US" sz="3400" dirty="0"/>
          </a:p>
        </p:txBody>
      </p:sp>
      <p:sp>
        <p:nvSpPr>
          <p:cNvPr id="3" name="Text 1"/>
          <p:cNvSpPr/>
          <p:nvPr/>
        </p:nvSpPr>
        <p:spPr>
          <a:xfrm>
            <a:off x="548640" y="1115568"/>
            <a:ext cx="10515600" cy="411480"/>
          </a:xfrm>
          <a:prstGeom prst="rect">
            <a:avLst/>
          </a:prstGeom>
          <a:noFill/>
          <a:ln/>
        </p:spPr>
        <p:txBody>
          <a:bodyPr wrap="square" lIns="0" tIns="0" rIns="0" bIns="0" rtlCol="0" anchor="ctr"/>
          <a:lstStyle/>
          <a:p>
            <a:pPr marL="0" indent="0" algn="l">
              <a:buNone/>
            </a:pPr>
            <a:r>
              <a:rPr lang="en-US" sz="1500" i="1" dirty="0">
                <a:solidFill>
                  <a:srgbClr val="4E5E61"/>
                </a:solidFill>
                <a:latin typeface="Calibri" pitchFamily="34" charset="0"/>
                <a:ea typeface="Calibri" pitchFamily="34" charset="-122"/>
                <a:cs typeface="Calibri" pitchFamily="34" charset="-120"/>
              </a:rPr>
              <a:t>Three questions begin the framing for this course.</a:t>
            </a:r>
            <a:endParaRPr lang="en-US" sz="1500" dirty="0"/>
          </a:p>
        </p:txBody>
      </p:sp>
      <p:sp>
        <p:nvSpPr>
          <p:cNvPr id="4" name="Shape 2"/>
          <p:cNvSpPr/>
          <p:nvPr/>
        </p:nvSpPr>
        <p:spPr>
          <a:xfrm>
            <a:off x="548640" y="1965960"/>
            <a:ext cx="3337560" cy="3566160"/>
          </a:xfrm>
          <a:prstGeom prst="roundRect">
            <a:avLst>
              <a:gd name="adj" fmla="val 1644"/>
            </a:avLst>
          </a:prstGeom>
          <a:solidFill>
            <a:srgbClr val="EDF0F0"/>
          </a:solidFill>
          <a:ln/>
        </p:spPr>
        <p:txBody>
          <a:bodyPr/>
          <a:lstStyle/>
          <a:p>
            <a:endParaRPr lang="en-US"/>
          </a:p>
        </p:txBody>
      </p:sp>
      <p:sp>
        <p:nvSpPr>
          <p:cNvPr id="5" name="Shape 3"/>
          <p:cNvSpPr/>
          <p:nvPr/>
        </p:nvSpPr>
        <p:spPr>
          <a:xfrm>
            <a:off x="914400" y="2331720"/>
            <a:ext cx="512064" cy="512064"/>
          </a:xfrm>
          <a:prstGeom prst="ellipse">
            <a:avLst/>
          </a:prstGeom>
          <a:solidFill>
            <a:srgbClr val="EB811B"/>
          </a:solidFill>
          <a:ln/>
        </p:spPr>
        <p:txBody>
          <a:bodyPr/>
          <a:lstStyle/>
          <a:p>
            <a:endParaRPr lang="en-US"/>
          </a:p>
        </p:txBody>
      </p:sp>
      <p:sp>
        <p:nvSpPr>
          <p:cNvPr id="6" name="Text 4"/>
          <p:cNvSpPr/>
          <p:nvPr/>
        </p:nvSpPr>
        <p:spPr>
          <a:xfrm>
            <a:off x="914400" y="2331720"/>
            <a:ext cx="512064" cy="512064"/>
          </a:xfrm>
          <a:prstGeom prst="rect">
            <a:avLst/>
          </a:prstGeom>
          <a:noFill/>
          <a:ln/>
        </p:spPr>
        <p:txBody>
          <a:bodyPr wrap="square" lIns="0" tIns="0" rIns="0" bIns="0" rtlCol="0" anchor="ctr"/>
          <a:lstStyle/>
          <a:p>
            <a:pPr marL="0" indent="0" algn="ctr">
              <a:buNone/>
            </a:pPr>
            <a:r>
              <a:rPr lang="en-US" sz="1800" b="1" dirty="0">
                <a:solidFill>
                  <a:srgbClr val="23373B"/>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914400" y="3063240"/>
            <a:ext cx="2606040" cy="822960"/>
          </a:xfrm>
          <a:prstGeom prst="rect">
            <a:avLst/>
          </a:prstGeom>
          <a:noFill/>
          <a:ln/>
        </p:spPr>
        <p:txBody>
          <a:bodyPr wrap="square" lIns="0" tIns="0" rIns="0" bIns="0" rtlCol="0" anchor="t"/>
          <a:lstStyle/>
          <a:p>
            <a:pPr marL="0" indent="0" algn="l">
              <a:buNone/>
            </a:pPr>
            <a:r>
              <a:rPr lang="en-US" sz="1900" b="1" dirty="0">
                <a:solidFill>
                  <a:srgbClr val="23373B"/>
                </a:solidFill>
                <a:latin typeface="Cambria" pitchFamily="34" charset="0"/>
                <a:ea typeface="Cambria" pitchFamily="34" charset="-122"/>
                <a:cs typeface="Cambria" pitchFamily="34" charset="-120"/>
              </a:rPr>
              <a:t>What's True Now</a:t>
            </a:r>
            <a:endParaRPr lang="en-US" sz="1900" dirty="0"/>
          </a:p>
        </p:txBody>
      </p:sp>
      <p:sp>
        <p:nvSpPr>
          <p:cNvPr id="8" name="Text 6"/>
          <p:cNvSpPr/>
          <p:nvPr/>
        </p:nvSpPr>
        <p:spPr>
          <a:xfrm>
            <a:off x="914400" y="3931920"/>
            <a:ext cx="2606040" cy="1371600"/>
          </a:xfrm>
          <a:prstGeom prst="rect">
            <a:avLst/>
          </a:prstGeom>
          <a:noFill/>
          <a:ln/>
        </p:spPr>
        <p:txBody>
          <a:bodyPr wrap="square" lIns="0" tIns="0" rIns="0" bIns="0" rtlCol="0" anchor="t"/>
          <a:lstStyle/>
          <a:p>
            <a:pPr marL="0" indent="0" algn="l">
              <a:lnSpc>
                <a:spcPct val="115000"/>
              </a:lnSpc>
              <a:buNone/>
            </a:pPr>
            <a:r>
              <a:rPr lang="en-US" sz="1350" dirty="0">
                <a:solidFill>
                  <a:srgbClr val="4E5E61"/>
                </a:solidFill>
                <a:latin typeface="Calibri" pitchFamily="34" charset="0"/>
                <a:ea typeface="Calibri" pitchFamily="34" charset="-122"/>
                <a:cs typeface="Calibri" pitchFamily="34" charset="-120"/>
              </a:rPr>
              <a:t>Mercantilism, cross-border cooperation failures, and power-based disagreement between nation states.</a:t>
            </a:r>
            <a:endParaRPr lang="en-US" sz="1350" dirty="0"/>
          </a:p>
        </p:txBody>
      </p:sp>
      <p:sp>
        <p:nvSpPr>
          <p:cNvPr id="9" name="Shape 7"/>
          <p:cNvSpPr/>
          <p:nvPr/>
        </p:nvSpPr>
        <p:spPr>
          <a:xfrm>
            <a:off x="4206240" y="1965960"/>
            <a:ext cx="3337560" cy="3566160"/>
          </a:xfrm>
          <a:prstGeom prst="roundRect">
            <a:avLst>
              <a:gd name="adj" fmla="val 1644"/>
            </a:avLst>
          </a:prstGeom>
          <a:solidFill>
            <a:srgbClr val="EDF0F0"/>
          </a:solidFill>
          <a:ln/>
        </p:spPr>
        <p:txBody>
          <a:bodyPr/>
          <a:lstStyle/>
          <a:p>
            <a:endParaRPr lang="en-US"/>
          </a:p>
        </p:txBody>
      </p:sp>
      <p:sp>
        <p:nvSpPr>
          <p:cNvPr id="10" name="Shape 8"/>
          <p:cNvSpPr/>
          <p:nvPr/>
        </p:nvSpPr>
        <p:spPr>
          <a:xfrm>
            <a:off x="4572000" y="2331720"/>
            <a:ext cx="512064" cy="512064"/>
          </a:xfrm>
          <a:prstGeom prst="ellipse">
            <a:avLst/>
          </a:prstGeom>
          <a:solidFill>
            <a:srgbClr val="EB811B"/>
          </a:solidFill>
          <a:ln/>
        </p:spPr>
        <p:txBody>
          <a:bodyPr/>
          <a:lstStyle/>
          <a:p>
            <a:endParaRPr lang="en-US"/>
          </a:p>
        </p:txBody>
      </p:sp>
      <p:sp>
        <p:nvSpPr>
          <p:cNvPr id="11" name="Text 9"/>
          <p:cNvSpPr/>
          <p:nvPr/>
        </p:nvSpPr>
        <p:spPr>
          <a:xfrm>
            <a:off x="4572000" y="2331720"/>
            <a:ext cx="512064" cy="512064"/>
          </a:xfrm>
          <a:prstGeom prst="rect">
            <a:avLst/>
          </a:prstGeom>
          <a:noFill/>
          <a:ln/>
        </p:spPr>
        <p:txBody>
          <a:bodyPr wrap="square" lIns="0" tIns="0" rIns="0" bIns="0" rtlCol="0" anchor="ctr"/>
          <a:lstStyle/>
          <a:p>
            <a:pPr marL="0" indent="0" algn="ctr">
              <a:buNone/>
            </a:pPr>
            <a:r>
              <a:rPr lang="en-US" sz="1800" b="1" dirty="0">
                <a:solidFill>
                  <a:srgbClr val="23373B"/>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572000" y="3063240"/>
            <a:ext cx="2606040" cy="822960"/>
          </a:xfrm>
          <a:prstGeom prst="rect">
            <a:avLst/>
          </a:prstGeom>
          <a:noFill/>
          <a:ln/>
        </p:spPr>
        <p:txBody>
          <a:bodyPr wrap="square" lIns="0" tIns="0" rIns="0" bIns="0" rtlCol="0" anchor="t"/>
          <a:lstStyle/>
          <a:p>
            <a:pPr marL="0" indent="0" algn="l">
              <a:buNone/>
            </a:pPr>
            <a:r>
              <a:rPr lang="en-US" sz="1900" b="1" dirty="0">
                <a:solidFill>
                  <a:srgbClr val="23373B"/>
                </a:solidFill>
                <a:latin typeface="Cambria" pitchFamily="34" charset="0"/>
                <a:ea typeface="Cambria" pitchFamily="34" charset="-122"/>
                <a:cs typeface="Cambria" pitchFamily="34" charset="-120"/>
              </a:rPr>
              <a:t>The Earlier Aspiration</a:t>
            </a:r>
            <a:endParaRPr lang="en-US" sz="1900" dirty="0"/>
          </a:p>
        </p:txBody>
      </p:sp>
      <p:sp>
        <p:nvSpPr>
          <p:cNvPr id="13" name="Text 11"/>
          <p:cNvSpPr/>
          <p:nvPr/>
        </p:nvSpPr>
        <p:spPr>
          <a:xfrm>
            <a:off x="4572000" y="3931920"/>
            <a:ext cx="2606040" cy="1371600"/>
          </a:xfrm>
          <a:prstGeom prst="rect">
            <a:avLst/>
          </a:prstGeom>
          <a:noFill/>
          <a:ln/>
        </p:spPr>
        <p:txBody>
          <a:bodyPr wrap="square" lIns="0" tIns="0" rIns="0" bIns="0" rtlCol="0" anchor="t"/>
          <a:lstStyle/>
          <a:p>
            <a:pPr marL="0" indent="0" algn="l">
              <a:lnSpc>
                <a:spcPct val="115000"/>
              </a:lnSpc>
              <a:buNone/>
            </a:pPr>
            <a:r>
              <a:rPr lang="en-US" sz="1350" dirty="0">
                <a:solidFill>
                  <a:srgbClr val="4E5E61"/>
                </a:solidFill>
                <a:latin typeface="Calibri" pitchFamily="34" charset="0"/>
                <a:ea typeface="Calibri" pitchFamily="34" charset="-122"/>
                <a:cs typeface="Calibri" pitchFamily="34" charset="-120"/>
              </a:rPr>
              <a:t>A rules-based multilateral order, and globalisation, built and led by America.</a:t>
            </a:r>
            <a:endParaRPr lang="en-US" sz="1350" dirty="0"/>
          </a:p>
        </p:txBody>
      </p:sp>
      <p:sp>
        <p:nvSpPr>
          <p:cNvPr id="14" name="Shape 12"/>
          <p:cNvSpPr/>
          <p:nvPr/>
        </p:nvSpPr>
        <p:spPr>
          <a:xfrm>
            <a:off x="7863840" y="1965960"/>
            <a:ext cx="3337560" cy="3566160"/>
          </a:xfrm>
          <a:prstGeom prst="roundRect">
            <a:avLst>
              <a:gd name="adj" fmla="val 1644"/>
            </a:avLst>
          </a:prstGeom>
          <a:solidFill>
            <a:srgbClr val="EDF0F0"/>
          </a:solidFill>
          <a:ln/>
        </p:spPr>
        <p:txBody>
          <a:bodyPr/>
          <a:lstStyle/>
          <a:p>
            <a:endParaRPr lang="en-US"/>
          </a:p>
        </p:txBody>
      </p:sp>
      <p:sp>
        <p:nvSpPr>
          <p:cNvPr id="15" name="Shape 13"/>
          <p:cNvSpPr/>
          <p:nvPr/>
        </p:nvSpPr>
        <p:spPr>
          <a:xfrm>
            <a:off x="8229600" y="2331720"/>
            <a:ext cx="512064" cy="512064"/>
          </a:xfrm>
          <a:prstGeom prst="ellipse">
            <a:avLst/>
          </a:prstGeom>
          <a:solidFill>
            <a:srgbClr val="EB811B"/>
          </a:solidFill>
          <a:ln/>
        </p:spPr>
        <p:txBody>
          <a:bodyPr/>
          <a:lstStyle/>
          <a:p>
            <a:endParaRPr lang="en-US"/>
          </a:p>
        </p:txBody>
      </p:sp>
      <p:sp>
        <p:nvSpPr>
          <p:cNvPr id="16" name="Text 14"/>
          <p:cNvSpPr/>
          <p:nvPr/>
        </p:nvSpPr>
        <p:spPr>
          <a:xfrm>
            <a:off x="8229600" y="2331720"/>
            <a:ext cx="512064" cy="512064"/>
          </a:xfrm>
          <a:prstGeom prst="rect">
            <a:avLst/>
          </a:prstGeom>
          <a:noFill/>
          <a:ln/>
        </p:spPr>
        <p:txBody>
          <a:bodyPr wrap="square" lIns="0" tIns="0" rIns="0" bIns="0" rtlCol="0" anchor="ctr"/>
          <a:lstStyle/>
          <a:p>
            <a:pPr marL="0" indent="0" algn="ctr">
              <a:buNone/>
            </a:pPr>
            <a:r>
              <a:rPr lang="en-US" sz="1800" b="1" dirty="0">
                <a:solidFill>
                  <a:srgbClr val="23373B"/>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229600" y="3063240"/>
            <a:ext cx="2606040" cy="822960"/>
          </a:xfrm>
          <a:prstGeom prst="rect">
            <a:avLst/>
          </a:prstGeom>
          <a:noFill/>
          <a:ln/>
        </p:spPr>
        <p:txBody>
          <a:bodyPr wrap="square" lIns="0" tIns="0" rIns="0" bIns="0" rtlCol="0" anchor="t"/>
          <a:lstStyle/>
          <a:p>
            <a:pPr marL="0" indent="0" algn="l">
              <a:buNone/>
            </a:pPr>
            <a:r>
              <a:rPr lang="en-US" sz="1900" b="1" dirty="0">
                <a:solidFill>
                  <a:srgbClr val="23373B"/>
                </a:solidFill>
                <a:latin typeface="Cambria" pitchFamily="34" charset="0"/>
                <a:ea typeface="Cambria" pitchFamily="34" charset="-122"/>
                <a:cs typeface="Cambria" pitchFamily="34" charset="-120"/>
              </a:rPr>
              <a:t>Where Small States?</a:t>
            </a:r>
            <a:endParaRPr lang="en-US" sz="1900" dirty="0"/>
          </a:p>
        </p:txBody>
      </p:sp>
      <p:sp>
        <p:nvSpPr>
          <p:cNvPr id="18" name="Text 16"/>
          <p:cNvSpPr/>
          <p:nvPr/>
        </p:nvSpPr>
        <p:spPr>
          <a:xfrm>
            <a:off x="8229600" y="3931920"/>
            <a:ext cx="2606040" cy="1371600"/>
          </a:xfrm>
          <a:prstGeom prst="rect">
            <a:avLst/>
          </a:prstGeom>
          <a:noFill/>
          <a:ln/>
        </p:spPr>
        <p:txBody>
          <a:bodyPr wrap="square" lIns="0" tIns="0" rIns="0" bIns="0" rtlCol="0" anchor="t"/>
          <a:lstStyle/>
          <a:p>
            <a:pPr marL="0" indent="0" algn="l">
              <a:lnSpc>
                <a:spcPct val="115000"/>
              </a:lnSpc>
              <a:buNone/>
            </a:pPr>
            <a:r>
              <a:rPr lang="en-US" sz="1350" dirty="0">
                <a:solidFill>
                  <a:srgbClr val="4E5E61"/>
                </a:solidFill>
                <a:latin typeface="Calibri" pitchFamily="34" charset="0"/>
                <a:ea typeface="Calibri" pitchFamily="34" charset="-122"/>
                <a:cs typeface="Calibri" pitchFamily="34" charset="-120"/>
              </a:rPr>
              <a:t>How a rewritten geoeconomics repositions smaller states across Asia.</a:t>
            </a:r>
            <a:endParaRPr lang="en-US" sz="1350" dirty="0"/>
          </a:p>
        </p:txBody>
      </p:sp>
      <p:sp>
        <p:nvSpPr>
          <p:cNvPr id="19" name="Text 17"/>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Asia's New Geoeconomics  |  Danny Quah</a:t>
            </a:r>
            <a:endParaRPr lang="en-US" sz="1050" dirty="0"/>
          </a:p>
        </p:txBody>
      </p:sp>
      <p:sp>
        <p:nvSpPr>
          <p:cNvPr id="20" name="Text 18"/>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4E5E61"/>
                </a:solidFill>
                <a:latin typeface="Calibri" pitchFamily="34" charset="0"/>
                <a:ea typeface="Calibri" pitchFamily="34" charset="-122"/>
                <a:cs typeface="Calibri" pitchFamily="34" charset="-120"/>
              </a:rPr>
              <a:t>1</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3373B"/>
        </a:solidFill>
        <a:effectLst/>
      </p:bgPr>
    </p:bg>
    <p:spTree>
      <p:nvGrpSpPr>
        <p:cNvPr id="1" name=""/>
        <p:cNvGrpSpPr/>
        <p:nvPr/>
      </p:nvGrpSpPr>
      <p:grpSpPr>
        <a:xfrm>
          <a:off x="0" y="0"/>
          <a:ext cx="0" cy="0"/>
          <a:chOff x="0" y="0"/>
          <a:chExt cx="0" cy="0"/>
        </a:xfrm>
      </p:grpSpPr>
      <p:sp>
        <p:nvSpPr>
          <p:cNvPr id="2" name="Text 0"/>
          <p:cNvSpPr/>
          <p:nvPr/>
        </p:nvSpPr>
        <p:spPr>
          <a:xfrm>
            <a:off x="548640" y="2148840"/>
            <a:ext cx="9601200" cy="365760"/>
          </a:xfrm>
          <a:prstGeom prst="rect">
            <a:avLst/>
          </a:prstGeom>
          <a:noFill/>
          <a:ln/>
        </p:spPr>
        <p:txBody>
          <a:bodyPr wrap="square" lIns="0" tIns="0" rIns="0" bIns="0" rtlCol="0" anchor="ctr"/>
          <a:lstStyle/>
          <a:p>
            <a:pPr marL="0" indent="0" algn="l">
              <a:buNone/>
            </a:pPr>
            <a:r>
              <a:rPr lang="en-US" sz="1300" b="1" kern="0" spc="200" dirty="0">
                <a:solidFill>
                  <a:srgbClr val="EB811B"/>
                </a:solidFill>
                <a:latin typeface="Calibri" pitchFamily="34" charset="0"/>
                <a:ea typeface="Calibri" pitchFamily="34" charset="-122"/>
                <a:cs typeface="Calibri" pitchFamily="34" charset="-120"/>
              </a:rPr>
              <a:t>PART ONE</a:t>
            </a:r>
            <a:endParaRPr lang="en-US" sz="1300" dirty="0"/>
          </a:p>
        </p:txBody>
      </p:sp>
      <p:sp>
        <p:nvSpPr>
          <p:cNvPr id="3" name="Text 1"/>
          <p:cNvSpPr/>
          <p:nvPr/>
        </p:nvSpPr>
        <p:spPr>
          <a:xfrm>
            <a:off x="548640" y="2560320"/>
            <a:ext cx="10058400" cy="1463040"/>
          </a:xfrm>
          <a:prstGeom prst="rect">
            <a:avLst/>
          </a:prstGeom>
          <a:noFill/>
          <a:ln/>
        </p:spPr>
        <p:txBody>
          <a:bodyPr wrap="square" lIns="0" tIns="0" rIns="0" bIns="0"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Rules-Based Multilateralism and Globalisation</a:t>
            </a:r>
            <a:endParaRPr lang="en-US" sz="3800" dirty="0"/>
          </a:p>
        </p:txBody>
      </p:sp>
      <p:sp>
        <p:nvSpPr>
          <p:cNvPr id="4" name="Shape 2"/>
          <p:cNvSpPr/>
          <p:nvPr/>
        </p:nvSpPr>
        <p:spPr>
          <a:xfrm>
            <a:off x="548640" y="3794760"/>
            <a:ext cx="1508760" cy="0"/>
          </a:xfrm>
          <a:prstGeom prst="line">
            <a:avLst/>
          </a:prstGeom>
          <a:noFill/>
          <a:ln w="38100">
            <a:solidFill>
              <a:srgbClr val="EB811B"/>
            </a:solidFill>
            <a:prstDash val="solid"/>
          </a:ln>
        </p:spPr>
        <p:txBody>
          <a:bodyPr/>
          <a:lstStyle/>
          <a:p>
            <a:endParaRPr lang="en-US"/>
          </a:p>
        </p:txBody>
      </p:sp>
      <p:sp>
        <p:nvSpPr>
          <p:cNvPr id="5" name="Text 3"/>
          <p:cNvSpPr/>
          <p:nvPr/>
        </p:nvSpPr>
        <p:spPr>
          <a:xfrm>
            <a:off x="548640" y="4023360"/>
            <a:ext cx="8686800" cy="731520"/>
          </a:xfrm>
          <a:prstGeom prst="rect">
            <a:avLst/>
          </a:prstGeom>
          <a:noFill/>
          <a:ln/>
        </p:spPr>
        <p:txBody>
          <a:bodyPr wrap="square" lIns="0" tIns="0" rIns="0" bIns="0" rtlCol="0" anchor="ctr"/>
          <a:lstStyle/>
          <a:p>
            <a:pPr marL="0" indent="0" algn="l">
              <a:buNone/>
            </a:pPr>
            <a:r>
              <a:rPr lang="en-US" sz="1500" i="1" dirty="0">
                <a:solidFill>
                  <a:srgbClr val="B9BFC1"/>
                </a:solidFill>
                <a:latin typeface="Calibri" pitchFamily="34" charset="0"/>
                <a:ea typeface="Calibri" pitchFamily="34" charset="-122"/>
                <a:cs typeface="Calibri" pitchFamily="34" charset="-120"/>
              </a:rPr>
              <a:t>The postwar aspiration, and the logic that underwrote it.</a:t>
            </a:r>
            <a:endParaRPr lang="en-US" sz="1500" dirty="0"/>
          </a:p>
        </p:txBody>
      </p:sp>
      <p:sp>
        <p:nvSpPr>
          <p:cNvPr id="6" name="Text 4"/>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B9BFC1"/>
                </a:solidFill>
                <a:latin typeface="Calibri" pitchFamily="34" charset="0"/>
                <a:ea typeface="Calibri" pitchFamily="34" charset="-122"/>
                <a:cs typeface="Calibri" pitchFamily="34" charset="-120"/>
              </a:rPr>
              <a:t>Asia's New Geoeconomics  |  Danny Quah</a:t>
            </a:r>
            <a:endParaRPr lang="en-US" sz="1050" dirty="0"/>
          </a:p>
        </p:txBody>
      </p:sp>
      <p:sp>
        <p:nvSpPr>
          <p:cNvPr id="7" name="Text 5"/>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B9BFC1"/>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What Multilateralism Promised</a:t>
            </a:r>
            <a:endParaRPr lang="en-US" sz="3200" dirty="0"/>
          </a:p>
        </p:txBody>
      </p:sp>
      <p:sp>
        <p:nvSpPr>
          <p:cNvPr id="3" name="Text 1"/>
          <p:cNvSpPr/>
          <p:nvPr/>
        </p:nvSpPr>
        <p:spPr>
          <a:xfrm>
            <a:off x="548640" y="1097280"/>
            <a:ext cx="10515600" cy="411480"/>
          </a:xfrm>
          <a:prstGeom prst="rect">
            <a:avLst/>
          </a:prstGeom>
          <a:noFill/>
          <a:ln/>
        </p:spPr>
        <p:txBody>
          <a:bodyPr wrap="square" lIns="0" tIns="0" rIns="0" bIns="0" rtlCol="0" anchor="ctr"/>
          <a:lstStyle/>
          <a:p>
            <a:pPr marL="0" indent="0" algn="l">
              <a:buNone/>
            </a:pPr>
            <a:r>
              <a:rPr lang="en-US" sz="1500" i="1" dirty="0">
                <a:solidFill>
                  <a:srgbClr val="4E5E61"/>
                </a:solidFill>
                <a:latin typeface="Calibri" pitchFamily="34" charset="0"/>
                <a:ea typeface="Calibri" pitchFamily="34" charset="-122"/>
                <a:cs typeface="Calibri" pitchFamily="34" charset="-120"/>
              </a:rPr>
              <a:t>Three commitments underwrote the postwar system.</a:t>
            </a:r>
            <a:endParaRPr lang="en-US" sz="1500" dirty="0"/>
          </a:p>
        </p:txBody>
      </p:sp>
      <p:sp>
        <p:nvSpPr>
          <p:cNvPr id="4" name="Shape 2"/>
          <p:cNvSpPr/>
          <p:nvPr/>
        </p:nvSpPr>
        <p:spPr>
          <a:xfrm>
            <a:off x="548640" y="1965960"/>
            <a:ext cx="3337560" cy="3566160"/>
          </a:xfrm>
          <a:prstGeom prst="roundRect">
            <a:avLst>
              <a:gd name="adj" fmla="val 1644"/>
            </a:avLst>
          </a:prstGeom>
          <a:solidFill>
            <a:srgbClr val="EDF0F0"/>
          </a:solidFill>
          <a:ln/>
        </p:spPr>
        <p:txBody>
          <a:bodyPr/>
          <a:lstStyle/>
          <a:p>
            <a:endParaRPr lang="en-US"/>
          </a:p>
        </p:txBody>
      </p:sp>
      <p:sp>
        <p:nvSpPr>
          <p:cNvPr id="5" name="Shape 3"/>
          <p:cNvSpPr/>
          <p:nvPr/>
        </p:nvSpPr>
        <p:spPr>
          <a:xfrm>
            <a:off x="914400" y="2331720"/>
            <a:ext cx="512064" cy="512064"/>
          </a:xfrm>
          <a:prstGeom prst="ellipse">
            <a:avLst/>
          </a:prstGeom>
          <a:solidFill>
            <a:srgbClr val="EB811B"/>
          </a:solidFill>
          <a:ln/>
        </p:spPr>
        <p:txBody>
          <a:bodyPr/>
          <a:lstStyle/>
          <a:p>
            <a:endParaRPr lang="en-US"/>
          </a:p>
        </p:txBody>
      </p:sp>
      <p:sp>
        <p:nvSpPr>
          <p:cNvPr id="6" name="Text 4"/>
          <p:cNvSpPr/>
          <p:nvPr/>
        </p:nvSpPr>
        <p:spPr>
          <a:xfrm>
            <a:off x="914400" y="2331720"/>
            <a:ext cx="512064" cy="512064"/>
          </a:xfrm>
          <a:prstGeom prst="rect">
            <a:avLst/>
          </a:prstGeom>
          <a:noFill/>
          <a:ln/>
        </p:spPr>
        <p:txBody>
          <a:bodyPr wrap="square" lIns="0" tIns="0" rIns="0" bIns="0" rtlCol="0" anchor="ctr"/>
          <a:lstStyle/>
          <a:p>
            <a:pPr marL="0" indent="0" algn="ctr">
              <a:buNone/>
            </a:pPr>
            <a:r>
              <a:rPr lang="en-US" sz="1800" b="1" dirty="0">
                <a:solidFill>
                  <a:srgbClr val="23373B"/>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914400" y="3063240"/>
            <a:ext cx="2606040" cy="822960"/>
          </a:xfrm>
          <a:prstGeom prst="rect">
            <a:avLst/>
          </a:prstGeom>
          <a:noFill/>
          <a:ln/>
        </p:spPr>
        <p:txBody>
          <a:bodyPr wrap="square" lIns="0" tIns="0" rIns="0" bIns="0" rtlCol="0" anchor="t"/>
          <a:lstStyle/>
          <a:p>
            <a:pPr marL="0" indent="0" algn="l">
              <a:buNone/>
            </a:pPr>
            <a:r>
              <a:rPr lang="en-US" sz="1800" b="1" dirty="0">
                <a:solidFill>
                  <a:srgbClr val="23373B"/>
                </a:solidFill>
                <a:latin typeface="Cambria" pitchFamily="34" charset="0"/>
                <a:ea typeface="Cambria" pitchFamily="34" charset="-122"/>
                <a:cs typeface="Cambria" pitchFamily="34" charset="-120"/>
              </a:rPr>
              <a:t>A Level Playing Field</a:t>
            </a:r>
            <a:endParaRPr lang="en-US" sz="1800" dirty="0"/>
          </a:p>
        </p:txBody>
      </p:sp>
      <p:sp>
        <p:nvSpPr>
          <p:cNvPr id="8" name="Text 6"/>
          <p:cNvSpPr/>
          <p:nvPr/>
        </p:nvSpPr>
        <p:spPr>
          <a:xfrm>
            <a:off x="914400" y="3931920"/>
            <a:ext cx="2606040" cy="1371600"/>
          </a:xfrm>
          <a:prstGeom prst="rect">
            <a:avLst/>
          </a:prstGeom>
          <a:noFill/>
          <a:ln/>
        </p:spPr>
        <p:txBody>
          <a:bodyPr wrap="square" lIns="0" tIns="0" rIns="0" bIns="0" rtlCol="0" anchor="t"/>
          <a:lstStyle/>
          <a:p>
            <a:pPr marL="0" indent="0" algn="l">
              <a:lnSpc>
                <a:spcPct val="115000"/>
              </a:lnSpc>
              <a:buNone/>
            </a:pPr>
            <a:r>
              <a:rPr lang="en-US" sz="1350" dirty="0">
                <a:solidFill>
                  <a:srgbClr val="4E5E61"/>
                </a:solidFill>
                <a:latin typeface="Calibri" pitchFamily="34" charset="0"/>
                <a:ea typeface="Calibri" pitchFamily="34" charset="-122"/>
                <a:cs typeface="Calibri" pitchFamily="34" charset="-120"/>
              </a:rPr>
              <a:t>Nations engage one another by common rules — not by raw power.</a:t>
            </a:r>
            <a:endParaRPr lang="en-US" sz="1350" dirty="0"/>
          </a:p>
        </p:txBody>
      </p:sp>
      <p:sp>
        <p:nvSpPr>
          <p:cNvPr id="9" name="Shape 7"/>
          <p:cNvSpPr/>
          <p:nvPr/>
        </p:nvSpPr>
        <p:spPr>
          <a:xfrm>
            <a:off x="4206240" y="1965960"/>
            <a:ext cx="3337560" cy="3566160"/>
          </a:xfrm>
          <a:prstGeom prst="roundRect">
            <a:avLst>
              <a:gd name="adj" fmla="val 1644"/>
            </a:avLst>
          </a:prstGeom>
          <a:solidFill>
            <a:srgbClr val="EDF0F0"/>
          </a:solidFill>
          <a:ln/>
        </p:spPr>
        <p:txBody>
          <a:bodyPr/>
          <a:lstStyle/>
          <a:p>
            <a:endParaRPr lang="en-US"/>
          </a:p>
        </p:txBody>
      </p:sp>
      <p:sp>
        <p:nvSpPr>
          <p:cNvPr id="10" name="Shape 8"/>
          <p:cNvSpPr/>
          <p:nvPr/>
        </p:nvSpPr>
        <p:spPr>
          <a:xfrm>
            <a:off x="4572000" y="2331720"/>
            <a:ext cx="512064" cy="512064"/>
          </a:xfrm>
          <a:prstGeom prst="ellipse">
            <a:avLst/>
          </a:prstGeom>
          <a:solidFill>
            <a:srgbClr val="EB811B"/>
          </a:solidFill>
          <a:ln/>
        </p:spPr>
        <p:txBody>
          <a:bodyPr/>
          <a:lstStyle/>
          <a:p>
            <a:endParaRPr lang="en-US"/>
          </a:p>
        </p:txBody>
      </p:sp>
      <p:sp>
        <p:nvSpPr>
          <p:cNvPr id="11" name="Text 9"/>
          <p:cNvSpPr/>
          <p:nvPr/>
        </p:nvSpPr>
        <p:spPr>
          <a:xfrm>
            <a:off x="4572000" y="2331720"/>
            <a:ext cx="512064" cy="512064"/>
          </a:xfrm>
          <a:prstGeom prst="rect">
            <a:avLst/>
          </a:prstGeom>
          <a:noFill/>
          <a:ln/>
        </p:spPr>
        <p:txBody>
          <a:bodyPr wrap="square" lIns="0" tIns="0" rIns="0" bIns="0" rtlCol="0" anchor="ctr"/>
          <a:lstStyle/>
          <a:p>
            <a:pPr marL="0" indent="0" algn="ctr">
              <a:buNone/>
            </a:pPr>
            <a:r>
              <a:rPr lang="en-US" sz="1800" b="1" dirty="0">
                <a:solidFill>
                  <a:srgbClr val="23373B"/>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572000" y="3063240"/>
            <a:ext cx="2606040" cy="822960"/>
          </a:xfrm>
          <a:prstGeom prst="rect">
            <a:avLst/>
          </a:prstGeom>
          <a:noFill/>
          <a:ln/>
        </p:spPr>
        <p:txBody>
          <a:bodyPr wrap="square" lIns="0" tIns="0" rIns="0" bIns="0" rtlCol="0" anchor="t"/>
          <a:lstStyle/>
          <a:p>
            <a:pPr marL="0" indent="0" algn="l">
              <a:buNone/>
            </a:pPr>
            <a:r>
              <a:rPr lang="en-US" sz="1800" b="1" dirty="0">
                <a:solidFill>
                  <a:srgbClr val="23373B"/>
                </a:solidFill>
                <a:latin typeface="Cambria" pitchFamily="34" charset="0"/>
                <a:ea typeface="Cambria" pitchFamily="34" charset="-122"/>
                <a:cs typeface="Cambria" pitchFamily="34" charset="-120"/>
              </a:rPr>
              <a:t>Peaceful Dispute Resolution</a:t>
            </a:r>
            <a:endParaRPr lang="en-US" sz="1800" dirty="0"/>
          </a:p>
        </p:txBody>
      </p:sp>
      <p:sp>
        <p:nvSpPr>
          <p:cNvPr id="13" name="Text 11"/>
          <p:cNvSpPr/>
          <p:nvPr/>
        </p:nvSpPr>
        <p:spPr>
          <a:xfrm>
            <a:off x="4572000" y="3931920"/>
            <a:ext cx="2606040" cy="1371600"/>
          </a:xfrm>
          <a:prstGeom prst="rect">
            <a:avLst/>
          </a:prstGeom>
          <a:noFill/>
          <a:ln/>
        </p:spPr>
        <p:txBody>
          <a:bodyPr wrap="square" lIns="0" tIns="0" rIns="0" bIns="0" rtlCol="0" anchor="t"/>
          <a:lstStyle/>
          <a:p>
            <a:pPr marL="0" indent="0" algn="l">
              <a:lnSpc>
                <a:spcPct val="115000"/>
              </a:lnSpc>
              <a:buNone/>
            </a:pPr>
            <a:r>
              <a:rPr lang="en-US" sz="1350" dirty="0">
                <a:solidFill>
                  <a:srgbClr val="4E5E61"/>
                </a:solidFill>
                <a:latin typeface="Calibri" pitchFamily="34" charset="0"/>
                <a:ea typeface="Calibri" pitchFamily="34" charset="-122"/>
                <a:cs typeface="Calibri" pitchFamily="34" charset="-120"/>
              </a:rPr>
              <a:t>Disputes are settled through adjudication, not through coercion.</a:t>
            </a:r>
            <a:endParaRPr lang="en-US" sz="1350" dirty="0"/>
          </a:p>
        </p:txBody>
      </p:sp>
      <p:sp>
        <p:nvSpPr>
          <p:cNvPr id="14" name="Shape 12"/>
          <p:cNvSpPr/>
          <p:nvPr/>
        </p:nvSpPr>
        <p:spPr>
          <a:xfrm>
            <a:off x="7863840" y="1965960"/>
            <a:ext cx="3337560" cy="3566160"/>
          </a:xfrm>
          <a:prstGeom prst="roundRect">
            <a:avLst>
              <a:gd name="adj" fmla="val 1644"/>
            </a:avLst>
          </a:prstGeom>
          <a:solidFill>
            <a:srgbClr val="EDF0F0"/>
          </a:solidFill>
          <a:ln/>
        </p:spPr>
        <p:txBody>
          <a:bodyPr/>
          <a:lstStyle/>
          <a:p>
            <a:endParaRPr lang="en-US"/>
          </a:p>
        </p:txBody>
      </p:sp>
      <p:sp>
        <p:nvSpPr>
          <p:cNvPr id="15" name="Shape 13"/>
          <p:cNvSpPr/>
          <p:nvPr/>
        </p:nvSpPr>
        <p:spPr>
          <a:xfrm>
            <a:off x="8229600" y="2331720"/>
            <a:ext cx="512064" cy="512064"/>
          </a:xfrm>
          <a:prstGeom prst="ellipse">
            <a:avLst/>
          </a:prstGeom>
          <a:solidFill>
            <a:srgbClr val="EB811B"/>
          </a:solidFill>
          <a:ln/>
        </p:spPr>
        <p:txBody>
          <a:bodyPr/>
          <a:lstStyle/>
          <a:p>
            <a:endParaRPr lang="en-US"/>
          </a:p>
        </p:txBody>
      </p:sp>
      <p:sp>
        <p:nvSpPr>
          <p:cNvPr id="16" name="Text 14"/>
          <p:cNvSpPr/>
          <p:nvPr/>
        </p:nvSpPr>
        <p:spPr>
          <a:xfrm>
            <a:off x="8229600" y="2331720"/>
            <a:ext cx="512064" cy="512064"/>
          </a:xfrm>
          <a:prstGeom prst="rect">
            <a:avLst/>
          </a:prstGeom>
          <a:noFill/>
          <a:ln/>
        </p:spPr>
        <p:txBody>
          <a:bodyPr wrap="square" lIns="0" tIns="0" rIns="0" bIns="0" rtlCol="0" anchor="ctr"/>
          <a:lstStyle/>
          <a:p>
            <a:pPr marL="0" indent="0" algn="ctr">
              <a:buNone/>
            </a:pPr>
            <a:r>
              <a:rPr lang="en-US" sz="1800" b="1" dirty="0">
                <a:solidFill>
                  <a:srgbClr val="23373B"/>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229600" y="3063240"/>
            <a:ext cx="2606040" cy="822960"/>
          </a:xfrm>
          <a:prstGeom prst="rect">
            <a:avLst/>
          </a:prstGeom>
          <a:noFill/>
          <a:ln/>
        </p:spPr>
        <p:txBody>
          <a:bodyPr wrap="square" lIns="0" tIns="0" rIns="0" bIns="0" rtlCol="0" anchor="t"/>
          <a:lstStyle/>
          <a:p>
            <a:pPr marL="0" indent="0" algn="l">
              <a:buNone/>
            </a:pPr>
            <a:r>
              <a:rPr lang="en-US" sz="1800" b="1" dirty="0">
                <a:solidFill>
                  <a:srgbClr val="23373B"/>
                </a:solidFill>
                <a:latin typeface="Cambria" pitchFamily="34" charset="0"/>
                <a:ea typeface="Cambria" pitchFamily="34" charset="-122"/>
                <a:cs typeface="Cambria" pitchFamily="34" charset="-120"/>
              </a:rPr>
              <a:t>Collaboration on Shared Challenges</a:t>
            </a:r>
            <a:endParaRPr lang="en-US" sz="1800" dirty="0"/>
          </a:p>
        </p:txBody>
      </p:sp>
      <p:sp>
        <p:nvSpPr>
          <p:cNvPr id="18" name="Text 16"/>
          <p:cNvSpPr/>
          <p:nvPr/>
        </p:nvSpPr>
        <p:spPr>
          <a:xfrm>
            <a:off x="8229600" y="3931920"/>
            <a:ext cx="2606040" cy="1371600"/>
          </a:xfrm>
          <a:prstGeom prst="rect">
            <a:avLst/>
          </a:prstGeom>
          <a:noFill/>
          <a:ln/>
        </p:spPr>
        <p:txBody>
          <a:bodyPr wrap="square" lIns="0" tIns="0" rIns="0" bIns="0" rtlCol="0" anchor="t"/>
          <a:lstStyle/>
          <a:p>
            <a:pPr marL="0" indent="0" algn="l">
              <a:lnSpc>
                <a:spcPct val="115000"/>
              </a:lnSpc>
              <a:buNone/>
            </a:pPr>
            <a:r>
              <a:rPr lang="en-US" sz="1350" dirty="0">
                <a:solidFill>
                  <a:srgbClr val="4E5E61"/>
                </a:solidFill>
                <a:latin typeface="Calibri" pitchFamily="34" charset="0"/>
                <a:ea typeface="Calibri" pitchFamily="34" charset="-122"/>
                <a:cs typeface="Calibri" pitchFamily="34" charset="-120"/>
              </a:rPr>
              <a:t>Coordinated action when no single state can effectively act alone.</a:t>
            </a:r>
            <a:endParaRPr lang="en-US" sz="1350" dirty="0"/>
          </a:p>
        </p:txBody>
      </p:sp>
      <p:sp>
        <p:nvSpPr>
          <p:cNvPr id="19" name="Text 17"/>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Asia's New Geoeconomics  |  Danny Quah</a:t>
            </a:r>
            <a:endParaRPr lang="en-US" sz="1050" dirty="0"/>
          </a:p>
        </p:txBody>
      </p:sp>
      <p:sp>
        <p:nvSpPr>
          <p:cNvPr id="20" name="Text 18"/>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4E5E61"/>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And Globalisation</a:t>
            </a:r>
            <a:endParaRPr lang="en-US" sz="3200" dirty="0"/>
          </a:p>
        </p:txBody>
      </p:sp>
      <p:sp>
        <p:nvSpPr>
          <p:cNvPr id="3" name="Text 1"/>
          <p:cNvSpPr/>
          <p:nvPr/>
        </p:nvSpPr>
        <p:spPr>
          <a:xfrm>
            <a:off x="548640" y="1097280"/>
            <a:ext cx="10515600" cy="411480"/>
          </a:xfrm>
          <a:prstGeom prst="rect">
            <a:avLst/>
          </a:prstGeom>
          <a:noFill/>
          <a:ln/>
        </p:spPr>
        <p:txBody>
          <a:bodyPr wrap="square" lIns="0" tIns="0" rIns="0" bIns="0" rtlCol="0" anchor="ctr"/>
          <a:lstStyle/>
          <a:p>
            <a:pPr marL="0" indent="0" algn="l">
              <a:buNone/>
            </a:pPr>
            <a:r>
              <a:rPr lang="en-US" sz="1500" i="1" dirty="0">
                <a:solidFill>
                  <a:srgbClr val="4E5E61"/>
                </a:solidFill>
                <a:latin typeface="Calibri" pitchFamily="34" charset="0"/>
                <a:ea typeface="Calibri" pitchFamily="34" charset="-122"/>
                <a:cs typeface="Calibri" pitchFamily="34" charset="-120"/>
              </a:rPr>
              <a:t>The economic logic paired with multilateral rules.</a:t>
            </a:r>
            <a:endParaRPr lang="en-US" sz="1500" dirty="0"/>
          </a:p>
        </p:txBody>
      </p:sp>
      <p:sp>
        <p:nvSpPr>
          <p:cNvPr id="4" name="Shape 2"/>
          <p:cNvSpPr/>
          <p:nvPr/>
        </p:nvSpPr>
        <p:spPr>
          <a:xfrm>
            <a:off x="548640" y="2148840"/>
            <a:ext cx="11094415" cy="3108960"/>
          </a:xfrm>
          <a:prstGeom prst="roundRect">
            <a:avLst>
              <a:gd name="adj" fmla="val 1765"/>
            </a:avLst>
          </a:prstGeom>
          <a:solidFill>
            <a:srgbClr val="EDF0F0"/>
          </a:solidFill>
          <a:ln/>
        </p:spPr>
        <p:txBody>
          <a:bodyPr/>
          <a:lstStyle/>
          <a:p>
            <a:endParaRPr lang="en-US"/>
          </a:p>
        </p:txBody>
      </p:sp>
      <p:sp>
        <p:nvSpPr>
          <p:cNvPr id="5" name="Text 3"/>
          <p:cNvSpPr/>
          <p:nvPr/>
        </p:nvSpPr>
        <p:spPr>
          <a:xfrm>
            <a:off x="1097280" y="2560320"/>
            <a:ext cx="9997135" cy="1828800"/>
          </a:xfrm>
          <a:prstGeom prst="rect">
            <a:avLst/>
          </a:prstGeom>
          <a:noFill/>
          <a:ln/>
        </p:spPr>
        <p:txBody>
          <a:bodyPr wrap="square" lIns="0" tIns="0" rIns="0" bIns="0" rtlCol="0" anchor="ctr"/>
          <a:lstStyle/>
          <a:p>
            <a:pPr marL="0" indent="0" algn="l">
              <a:lnSpc>
                <a:spcPct val="115000"/>
              </a:lnSpc>
              <a:buNone/>
            </a:pPr>
            <a:r>
              <a:rPr lang="en-US" sz="3000" b="1" i="1" dirty="0">
                <a:solidFill>
                  <a:srgbClr val="23373B"/>
                </a:solidFill>
                <a:latin typeface="Cambria" pitchFamily="34" charset="0"/>
                <a:ea typeface="Cambria" pitchFamily="34" charset="-122"/>
                <a:cs typeface="Cambria" pitchFamily="34" charset="-120"/>
              </a:rPr>
              <a:t>Anything made anywhere would become available everywhere — more and more cheaply.</a:t>
            </a:r>
            <a:endParaRPr lang="en-US" sz="3000" dirty="0"/>
          </a:p>
        </p:txBody>
      </p:sp>
      <p:sp>
        <p:nvSpPr>
          <p:cNvPr id="6" name="Text 4"/>
          <p:cNvSpPr/>
          <p:nvPr/>
        </p:nvSpPr>
        <p:spPr>
          <a:xfrm>
            <a:off x="1097280" y="4434840"/>
            <a:ext cx="9997135" cy="640080"/>
          </a:xfrm>
          <a:prstGeom prst="rect">
            <a:avLst/>
          </a:prstGeom>
          <a:noFill/>
          <a:ln/>
        </p:spPr>
        <p:txBody>
          <a:bodyPr wrap="square" lIns="0" tIns="0" rIns="0" bIns="0" rtlCol="0" anchor="t"/>
          <a:lstStyle/>
          <a:p>
            <a:pPr marL="0" indent="0" algn="l">
              <a:buNone/>
            </a:pPr>
            <a:r>
              <a:rPr lang="en-US" sz="1400" dirty="0">
                <a:solidFill>
                  <a:srgbClr val="4E5E61"/>
                </a:solidFill>
                <a:latin typeface="Calibri" pitchFamily="34" charset="0"/>
                <a:ea typeface="Calibri" pitchFamily="34" charset="-122"/>
                <a:cs typeface="Calibri" pitchFamily="34" charset="-120"/>
              </a:rPr>
              <a:t>That promise — not just peace among states, but rising material abundance — was globalization’s half of the postwar bargain.</a:t>
            </a:r>
            <a:endParaRPr lang="en-US" sz="1400" dirty="0"/>
          </a:p>
        </p:txBody>
      </p:sp>
      <p:sp>
        <p:nvSpPr>
          <p:cNvPr id="7" name="Text 5"/>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Asia's New Geoeconomics  |  Danny Quah</a:t>
            </a:r>
            <a:endParaRPr lang="en-US" sz="1050" dirty="0"/>
          </a:p>
        </p:txBody>
      </p:sp>
      <p:sp>
        <p:nvSpPr>
          <p:cNvPr id="8" name="Text 6"/>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4E5E61"/>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3373B"/>
        </a:solidFill>
        <a:effectLst/>
      </p:bgPr>
    </p:bg>
    <p:spTree>
      <p:nvGrpSpPr>
        <p:cNvPr id="1" name=""/>
        <p:cNvGrpSpPr/>
        <p:nvPr/>
      </p:nvGrpSpPr>
      <p:grpSpPr>
        <a:xfrm>
          <a:off x="0" y="0"/>
          <a:ext cx="0" cy="0"/>
          <a:chOff x="0" y="0"/>
          <a:chExt cx="0" cy="0"/>
        </a:xfrm>
      </p:grpSpPr>
      <p:sp>
        <p:nvSpPr>
          <p:cNvPr id="2" name="Text 0"/>
          <p:cNvSpPr/>
          <p:nvPr/>
        </p:nvSpPr>
        <p:spPr>
          <a:xfrm>
            <a:off x="548640" y="2148840"/>
            <a:ext cx="9601200" cy="365760"/>
          </a:xfrm>
          <a:prstGeom prst="rect">
            <a:avLst/>
          </a:prstGeom>
          <a:noFill/>
          <a:ln/>
        </p:spPr>
        <p:txBody>
          <a:bodyPr wrap="square" lIns="0" tIns="0" rIns="0" bIns="0" rtlCol="0" anchor="ctr"/>
          <a:lstStyle/>
          <a:p>
            <a:pPr marL="0" indent="0" algn="l">
              <a:buNone/>
            </a:pPr>
            <a:r>
              <a:rPr lang="en-US" sz="1300" b="1" kern="0" spc="200" dirty="0">
                <a:solidFill>
                  <a:srgbClr val="EB811B"/>
                </a:solidFill>
                <a:latin typeface="Calibri" pitchFamily="34" charset="0"/>
                <a:ea typeface="Calibri" pitchFamily="34" charset="-122"/>
                <a:cs typeface="Calibri" pitchFamily="34" charset="-120"/>
              </a:rPr>
              <a:t>PART TWO</a:t>
            </a:r>
            <a:endParaRPr lang="en-US" sz="1300" dirty="0"/>
          </a:p>
        </p:txBody>
      </p:sp>
      <p:sp>
        <p:nvSpPr>
          <p:cNvPr id="3" name="Text 1"/>
          <p:cNvSpPr/>
          <p:nvPr/>
        </p:nvSpPr>
        <p:spPr>
          <a:xfrm>
            <a:off x="548640" y="2560320"/>
            <a:ext cx="10058400" cy="1463040"/>
          </a:xfrm>
          <a:prstGeom prst="rect">
            <a:avLst/>
          </a:prstGeom>
          <a:noFill/>
          <a:ln/>
        </p:spPr>
        <p:txBody>
          <a:bodyPr wrap="square" lIns="0" tIns="0" rIns="0" bIns="0"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America Built That Rules-Based Order</a:t>
            </a:r>
            <a:endParaRPr lang="en-US" sz="3800" dirty="0"/>
          </a:p>
        </p:txBody>
      </p:sp>
      <p:sp>
        <p:nvSpPr>
          <p:cNvPr id="4" name="Shape 2"/>
          <p:cNvSpPr/>
          <p:nvPr/>
        </p:nvSpPr>
        <p:spPr>
          <a:xfrm>
            <a:off x="548640" y="3794760"/>
            <a:ext cx="1508760" cy="0"/>
          </a:xfrm>
          <a:prstGeom prst="line">
            <a:avLst/>
          </a:prstGeom>
          <a:noFill/>
          <a:ln w="38100">
            <a:solidFill>
              <a:srgbClr val="EB811B"/>
            </a:solidFill>
            <a:prstDash val="solid"/>
          </a:ln>
        </p:spPr>
        <p:txBody>
          <a:bodyPr/>
          <a:lstStyle/>
          <a:p>
            <a:endParaRPr lang="en-US"/>
          </a:p>
        </p:txBody>
      </p:sp>
      <p:sp>
        <p:nvSpPr>
          <p:cNvPr id="5" name="Text 3"/>
          <p:cNvSpPr/>
          <p:nvPr/>
        </p:nvSpPr>
        <p:spPr>
          <a:xfrm>
            <a:off x="548640" y="4023360"/>
            <a:ext cx="8686800" cy="731520"/>
          </a:xfrm>
          <a:prstGeom prst="rect">
            <a:avLst/>
          </a:prstGeom>
          <a:noFill/>
          <a:ln/>
        </p:spPr>
        <p:txBody>
          <a:bodyPr wrap="square" lIns="0" tIns="0" rIns="0" bIns="0" rtlCol="0" anchor="ctr"/>
          <a:lstStyle/>
          <a:p>
            <a:pPr marL="0" indent="0" algn="l">
              <a:buNone/>
            </a:pPr>
            <a:r>
              <a:rPr lang="en-US" sz="1500" i="1" dirty="0">
                <a:solidFill>
                  <a:srgbClr val="B9BFC1"/>
                </a:solidFill>
                <a:latin typeface="Calibri" pitchFamily="34" charset="0"/>
                <a:ea typeface="Calibri" pitchFamily="34" charset="-122"/>
                <a:cs typeface="Calibri" pitchFamily="34" charset="-120"/>
              </a:rPr>
              <a:t>Reconstruction, ideology, and doctrine converged around one project.</a:t>
            </a:r>
            <a:endParaRPr lang="en-US" sz="1500" dirty="0"/>
          </a:p>
        </p:txBody>
      </p:sp>
      <p:sp>
        <p:nvSpPr>
          <p:cNvPr id="6" name="Text 4"/>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B9BFC1"/>
                </a:solidFill>
                <a:latin typeface="Calibri" pitchFamily="34" charset="0"/>
                <a:ea typeface="Calibri" pitchFamily="34" charset="-122"/>
                <a:cs typeface="Calibri" pitchFamily="34" charset="-120"/>
              </a:rPr>
              <a:t>Asia's New Geoeconomics  |  Danny Quah</a:t>
            </a:r>
            <a:endParaRPr lang="en-US" sz="1050" dirty="0"/>
          </a:p>
        </p:txBody>
      </p:sp>
      <p:sp>
        <p:nvSpPr>
          <p:cNvPr id="7" name="Text 5"/>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B9BFC1"/>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Postwar Foundations</a:t>
            </a:r>
            <a:endParaRPr lang="en-US" sz="3200" dirty="0"/>
          </a:p>
        </p:txBody>
      </p:sp>
      <p:sp>
        <p:nvSpPr>
          <p:cNvPr id="3" name="Text 1"/>
          <p:cNvSpPr/>
          <p:nvPr/>
        </p:nvSpPr>
        <p:spPr>
          <a:xfrm>
            <a:off x="548640" y="1097280"/>
            <a:ext cx="10515600" cy="411480"/>
          </a:xfrm>
          <a:prstGeom prst="rect">
            <a:avLst/>
          </a:prstGeom>
          <a:noFill/>
          <a:ln/>
        </p:spPr>
        <p:txBody>
          <a:bodyPr wrap="square" lIns="0" tIns="0" rIns="0" bIns="0" rtlCol="0" anchor="ctr"/>
          <a:lstStyle/>
          <a:p>
            <a:pPr marL="0" indent="0" algn="l">
              <a:buNone/>
            </a:pPr>
            <a:r>
              <a:rPr lang="en-US" sz="1500" i="1" dirty="0">
                <a:solidFill>
                  <a:srgbClr val="4E5E61"/>
                </a:solidFill>
                <a:latin typeface="Calibri" pitchFamily="34" charset="0"/>
                <a:ea typeface="Calibri" pitchFamily="34" charset="-122"/>
                <a:cs typeface="Calibri" pitchFamily="34" charset="-120"/>
              </a:rPr>
              <a:t>Reconstruction and ideology, together.</a:t>
            </a:r>
            <a:endParaRPr lang="en-US" sz="1500" dirty="0"/>
          </a:p>
        </p:txBody>
      </p:sp>
      <p:sp>
        <p:nvSpPr>
          <p:cNvPr id="4" name="Shape 2"/>
          <p:cNvSpPr/>
          <p:nvPr/>
        </p:nvSpPr>
        <p:spPr>
          <a:xfrm>
            <a:off x="548640" y="1965960"/>
            <a:ext cx="5166360" cy="3566160"/>
          </a:xfrm>
          <a:prstGeom prst="roundRect">
            <a:avLst>
              <a:gd name="adj" fmla="val 1538"/>
            </a:avLst>
          </a:prstGeom>
          <a:solidFill>
            <a:srgbClr val="EDF0F0"/>
          </a:solidFill>
          <a:ln/>
        </p:spPr>
        <p:txBody>
          <a:bodyPr/>
          <a:lstStyle/>
          <a:p>
            <a:endParaRPr lang="en-US"/>
          </a:p>
        </p:txBody>
      </p:sp>
      <p:sp>
        <p:nvSpPr>
          <p:cNvPr id="5" name="Shape 3"/>
          <p:cNvSpPr/>
          <p:nvPr/>
        </p:nvSpPr>
        <p:spPr>
          <a:xfrm>
            <a:off x="914400" y="2468880"/>
            <a:ext cx="640080" cy="0"/>
          </a:xfrm>
          <a:prstGeom prst="line">
            <a:avLst/>
          </a:prstGeom>
          <a:noFill/>
          <a:ln w="38100">
            <a:solidFill>
              <a:srgbClr val="EB811B"/>
            </a:solidFill>
            <a:prstDash val="solid"/>
          </a:ln>
        </p:spPr>
        <p:txBody>
          <a:bodyPr/>
          <a:lstStyle/>
          <a:p>
            <a:endParaRPr lang="en-US"/>
          </a:p>
        </p:txBody>
      </p:sp>
      <p:sp>
        <p:nvSpPr>
          <p:cNvPr id="6" name="Text 4"/>
          <p:cNvSpPr/>
          <p:nvPr/>
        </p:nvSpPr>
        <p:spPr>
          <a:xfrm>
            <a:off x="914400" y="2651760"/>
            <a:ext cx="4434840" cy="640080"/>
          </a:xfrm>
          <a:prstGeom prst="rect">
            <a:avLst/>
          </a:prstGeom>
          <a:noFill/>
          <a:ln/>
        </p:spPr>
        <p:txBody>
          <a:bodyPr wrap="square" lIns="0" tIns="0" rIns="0" bIns="0" rtlCol="0" anchor="t"/>
          <a:lstStyle/>
          <a:p>
            <a:pPr marL="0" indent="0" algn="l">
              <a:buNone/>
            </a:pPr>
            <a:r>
              <a:rPr lang="en-US" sz="2000" b="1" dirty="0">
                <a:solidFill>
                  <a:srgbClr val="23373B"/>
                </a:solidFill>
                <a:latin typeface="Cambria" pitchFamily="34" charset="0"/>
                <a:ea typeface="Cambria" pitchFamily="34" charset="-122"/>
                <a:cs typeface="Cambria" pitchFamily="34" charset="-120"/>
              </a:rPr>
              <a:t>Reconstruction as Strategy</a:t>
            </a:r>
            <a:endParaRPr lang="en-US" sz="2000" dirty="0"/>
          </a:p>
        </p:txBody>
      </p:sp>
      <p:sp>
        <p:nvSpPr>
          <p:cNvPr id="7" name="Text 5"/>
          <p:cNvSpPr/>
          <p:nvPr/>
        </p:nvSpPr>
        <p:spPr>
          <a:xfrm>
            <a:off x="914400" y="3383280"/>
            <a:ext cx="4434840" cy="1920240"/>
          </a:xfrm>
          <a:prstGeom prst="rect">
            <a:avLst/>
          </a:prstGeom>
          <a:noFill/>
          <a:ln/>
        </p:spPr>
        <p:txBody>
          <a:bodyPr wrap="square" lIns="0" tIns="0" rIns="0" bIns="0" rtlCol="0" anchor="t"/>
          <a:lstStyle/>
          <a:p>
            <a:pPr marL="0" indent="0" algn="l">
              <a:lnSpc>
                <a:spcPct val="120000"/>
              </a:lnSpc>
              <a:buNone/>
            </a:pPr>
            <a:r>
              <a:rPr lang="en-US" sz="1450" dirty="0">
                <a:solidFill>
                  <a:srgbClr val="4E5E61"/>
                </a:solidFill>
                <a:latin typeface="Calibri" pitchFamily="34" charset="0"/>
                <a:ea typeface="Calibri" pitchFamily="34" charset="-122"/>
                <a:cs typeface="Calibri" pitchFamily="34" charset="-120"/>
              </a:rPr>
              <a:t>At the end of the Second World War, the Marshall Plan rebuilt Western Europe under American leadership — binding recovery to the new order.  </a:t>
            </a:r>
          </a:p>
          <a:p>
            <a:pPr marL="0" indent="0" algn="l">
              <a:lnSpc>
                <a:spcPct val="120000"/>
              </a:lnSpc>
              <a:buNone/>
            </a:pPr>
            <a:endParaRPr lang="en-US" sz="1450" dirty="0">
              <a:solidFill>
                <a:srgbClr val="4E5E61"/>
              </a:solidFill>
              <a:latin typeface="Calibri" pitchFamily="34" charset="0"/>
              <a:ea typeface="Calibri" pitchFamily="34" charset="-122"/>
              <a:cs typeface="Calibri" pitchFamily="34" charset="-120"/>
            </a:endParaRPr>
          </a:p>
          <a:p>
            <a:pPr marL="285750" indent="-285750" algn="l">
              <a:lnSpc>
                <a:spcPct val="120000"/>
              </a:lnSpc>
              <a:buFont typeface="Arial" panose="020B0604020202020204" pitchFamily="34" charset="0"/>
              <a:buChar char="•"/>
            </a:pPr>
            <a:r>
              <a:rPr lang="en-US" sz="1450" dirty="0">
                <a:solidFill>
                  <a:srgbClr val="4E5E61"/>
                </a:solidFill>
                <a:latin typeface="Calibri" pitchFamily="34" charset="0"/>
                <a:ea typeface="Calibri" pitchFamily="34" charset="-122"/>
                <a:cs typeface="Calibri" pitchFamily="34" charset="-120"/>
              </a:rPr>
              <a:t>The cost 5% US GDP (USD1.5tn in 2026), matched by European funds; the result, recovery to pre-war output by 1950.</a:t>
            </a:r>
            <a:endParaRPr lang="en-US" sz="1450" dirty="0"/>
          </a:p>
        </p:txBody>
      </p:sp>
      <p:sp>
        <p:nvSpPr>
          <p:cNvPr id="8" name="Shape 6"/>
          <p:cNvSpPr/>
          <p:nvPr/>
        </p:nvSpPr>
        <p:spPr>
          <a:xfrm>
            <a:off x="6080760" y="1965960"/>
            <a:ext cx="5166360" cy="3566160"/>
          </a:xfrm>
          <a:prstGeom prst="roundRect">
            <a:avLst>
              <a:gd name="adj" fmla="val 1538"/>
            </a:avLst>
          </a:prstGeom>
          <a:solidFill>
            <a:srgbClr val="EDF0F0"/>
          </a:solidFill>
          <a:ln/>
        </p:spPr>
        <p:txBody>
          <a:bodyPr/>
          <a:lstStyle/>
          <a:p>
            <a:endParaRPr lang="en-US"/>
          </a:p>
        </p:txBody>
      </p:sp>
      <p:sp>
        <p:nvSpPr>
          <p:cNvPr id="9" name="Shape 7"/>
          <p:cNvSpPr/>
          <p:nvPr/>
        </p:nvSpPr>
        <p:spPr>
          <a:xfrm>
            <a:off x="6446520" y="2468880"/>
            <a:ext cx="640080" cy="0"/>
          </a:xfrm>
          <a:prstGeom prst="line">
            <a:avLst/>
          </a:prstGeom>
          <a:noFill/>
          <a:ln w="38100">
            <a:solidFill>
              <a:srgbClr val="EB811B"/>
            </a:solidFill>
            <a:prstDash val="solid"/>
          </a:ln>
        </p:spPr>
        <p:txBody>
          <a:bodyPr/>
          <a:lstStyle/>
          <a:p>
            <a:endParaRPr lang="en-US"/>
          </a:p>
        </p:txBody>
      </p:sp>
      <p:sp>
        <p:nvSpPr>
          <p:cNvPr id="10" name="Text 8"/>
          <p:cNvSpPr/>
          <p:nvPr/>
        </p:nvSpPr>
        <p:spPr>
          <a:xfrm>
            <a:off x="6446520" y="2651760"/>
            <a:ext cx="4434840" cy="640080"/>
          </a:xfrm>
          <a:prstGeom prst="rect">
            <a:avLst/>
          </a:prstGeom>
          <a:noFill/>
          <a:ln/>
        </p:spPr>
        <p:txBody>
          <a:bodyPr wrap="square" lIns="0" tIns="0" rIns="0" bIns="0" rtlCol="0" anchor="t"/>
          <a:lstStyle/>
          <a:p>
            <a:pPr marL="0" indent="0" algn="l">
              <a:buNone/>
            </a:pPr>
            <a:r>
              <a:rPr lang="en-US" sz="2000" b="1" dirty="0">
                <a:solidFill>
                  <a:srgbClr val="23373B"/>
                </a:solidFill>
                <a:latin typeface="Cambria" pitchFamily="34" charset="0"/>
                <a:ea typeface="Cambria" pitchFamily="34" charset="-122"/>
                <a:cs typeface="Cambria" pitchFamily="34" charset="-120"/>
              </a:rPr>
              <a:t>Democracy vs. Tyranny</a:t>
            </a:r>
            <a:endParaRPr lang="en-US" sz="2000" dirty="0"/>
          </a:p>
        </p:txBody>
      </p:sp>
      <p:sp>
        <p:nvSpPr>
          <p:cNvPr id="11" name="Text 9"/>
          <p:cNvSpPr/>
          <p:nvPr/>
        </p:nvSpPr>
        <p:spPr>
          <a:xfrm>
            <a:off x="6446520" y="3383280"/>
            <a:ext cx="4434840" cy="1920240"/>
          </a:xfrm>
          <a:prstGeom prst="rect">
            <a:avLst/>
          </a:prstGeom>
          <a:noFill/>
          <a:ln/>
        </p:spPr>
        <p:txBody>
          <a:bodyPr wrap="square" lIns="0" tIns="0" rIns="0" bIns="0" rtlCol="0" anchor="t"/>
          <a:lstStyle/>
          <a:p>
            <a:pPr marL="0" indent="0" algn="l">
              <a:lnSpc>
                <a:spcPct val="120000"/>
              </a:lnSpc>
              <a:buNone/>
            </a:pPr>
            <a:r>
              <a:rPr lang="en-US" sz="1450" dirty="0">
                <a:solidFill>
                  <a:srgbClr val="4E5E61"/>
                </a:solidFill>
                <a:latin typeface="Calibri" pitchFamily="34" charset="0"/>
                <a:ea typeface="Calibri" pitchFamily="34" charset="-122"/>
                <a:cs typeface="Calibri" pitchFamily="34" charset="-120"/>
              </a:rPr>
              <a:t>Eisenhower and Kennedy cast the Cold War as “democracy and freedom” against “totalitarianism and tyranny” — multilateralism as the free world’s shared project.</a:t>
            </a:r>
          </a:p>
          <a:p>
            <a:pPr marL="0" indent="0" algn="l">
              <a:lnSpc>
                <a:spcPct val="120000"/>
              </a:lnSpc>
              <a:buNone/>
            </a:pPr>
            <a:endParaRPr lang="en-US" sz="1450" dirty="0">
              <a:solidFill>
                <a:srgbClr val="4E5E61"/>
              </a:solidFill>
              <a:latin typeface="Calibri" pitchFamily="34" charset="0"/>
              <a:ea typeface="Calibri" pitchFamily="34" charset="-122"/>
              <a:cs typeface="Calibri" pitchFamily="34" charset="-120"/>
            </a:endParaRPr>
          </a:p>
          <a:p>
            <a:pPr marL="285750" indent="-285750" algn="l">
              <a:lnSpc>
                <a:spcPct val="120000"/>
              </a:lnSpc>
              <a:buFont typeface="Arial" panose="020B0604020202020204" pitchFamily="34" charset="0"/>
              <a:buChar char="•"/>
            </a:pPr>
            <a:r>
              <a:rPr lang="en-US" sz="1450" dirty="0">
                <a:solidFill>
                  <a:srgbClr val="4E5E61"/>
                </a:solidFill>
                <a:latin typeface="Calibri" pitchFamily="34" charset="0"/>
                <a:ea typeface="Calibri" pitchFamily="34" charset="-122"/>
                <a:cs typeface="Calibri" pitchFamily="34" charset="-120"/>
              </a:rPr>
              <a:t>JFK’s “long twilight struggle”: Cold War competition against communism (misquote) </a:t>
            </a:r>
          </a:p>
        </p:txBody>
      </p:sp>
      <p:sp>
        <p:nvSpPr>
          <p:cNvPr id="12" name="Text 10"/>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Asia's New Geoeconomics  |  Danny Quah</a:t>
            </a:r>
            <a:endParaRPr lang="en-US" sz="1050" dirty="0"/>
          </a:p>
        </p:txBody>
      </p:sp>
      <p:sp>
        <p:nvSpPr>
          <p:cNvPr id="13" name="Text 11"/>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4E5E61"/>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On the Free Market</a:t>
            </a:r>
            <a:endParaRPr lang="en-US" sz="3200" dirty="0"/>
          </a:p>
        </p:txBody>
      </p:sp>
      <p:sp>
        <p:nvSpPr>
          <p:cNvPr id="3" name="Shape 1"/>
          <p:cNvSpPr/>
          <p:nvPr/>
        </p:nvSpPr>
        <p:spPr>
          <a:xfrm>
            <a:off x="548640" y="1417320"/>
            <a:ext cx="11094415" cy="4160520"/>
          </a:xfrm>
          <a:prstGeom prst="roundRect">
            <a:avLst>
              <a:gd name="adj" fmla="val 1319"/>
            </a:avLst>
          </a:prstGeom>
          <a:solidFill>
            <a:srgbClr val="2F4246"/>
          </a:solidFill>
          <a:ln/>
        </p:spPr>
        <p:txBody>
          <a:bodyPr/>
          <a:lstStyle/>
          <a:p>
            <a:endParaRPr lang="en-US"/>
          </a:p>
        </p:txBody>
      </p:sp>
      <p:sp>
        <p:nvSpPr>
          <p:cNvPr id="4" name="Text 2"/>
          <p:cNvSpPr/>
          <p:nvPr/>
        </p:nvSpPr>
        <p:spPr>
          <a:xfrm>
            <a:off x="1143000" y="1737360"/>
            <a:ext cx="9905695" cy="3246120"/>
          </a:xfrm>
          <a:prstGeom prst="rect">
            <a:avLst/>
          </a:prstGeom>
          <a:noFill/>
          <a:ln/>
        </p:spPr>
        <p:txBody>
          <a:bodyPr wrap="square" lIns="0" tIns="0" rIns="0" bIns="0" rtlCol="0" anchor="ctr"/>
          <a:lstStyle/>
          <a:p>
            <a:pPr marL="0" indent="0" algn="l">
              <a:lnSpc>
                <a:spcPct val="125000"/>
              </a:lnSpc>
              <a:buNone/>
            </a:pPr>
            <a:r>
              <a:rPr lang="en-US" sz="3000" i="1" dirty="0">
                <a:solidFill>
                  <a:srgbClr val="FFFFFF"/>
                </a:solidFill>
                <a:latin typeface="Cambria" pitchFamily="34" charset="0"/>
                <a:ea typeface="Cambria" pitchFamily="34" charset="-122"/>
                <a:cs typeface="Cambria" pitchFamily="34" charset="-120"/>
              </a:rPr>
              <a:t>“Underlying arguments against the free market is a lack of belief in freedom itself.”</a:t>
            </a:r>
            <a:endParaRPr lang="en-US" sz="3000" dirty="0"/>
          </a:p>
        </p:txBody>
      </p:sp>
      <p:sp>
        <p:nvSpPr>
          <p:cNvPr id="5" name="Shape 3"/>
          <p:cNvSpPr/>
          <p:nvPr/>
        </p:nvSpPr>
        <p:spPr>
          <a:xfrm>
            <a:off x="1143000" y="4983480"/>
            <a:ext cx="640080" cy="0"/>
          </a:xfrm>
          <a:prstGeom prst="line">
            <a:avLst/>
          </a:prstGeom>
          <a:noFill/>
          <a:ln w="31750">
            <a:solidFill>
              <a:srgbClr val="EB811B"/>
            </a:solidFill>
            <a:prstDash val="solid"/>
          </a:ln>
        </p:spPr>
        <p:txBody>
          <a:bodyPr/>
          <a:lstStyle/>
          <a:p>
            <a:endParaRPr lang="en-US"/>
          </a:p>
        </p:txBody>
      </p:sp>
      <p:sp>
        <p:nvSpPr>
          <p:cNvPr id="6" name="Text 4"/>
          <p:cNvSpPr/>
          <p:nvPr/>
        </p:nvSpPr>
        <p:spPr>
          <a:xfrm>
            <a:off x="1143000" y="5120640"/>
            <a:ext cx="9905695" cy="365760"/>
          </a:xfrm>
          <a:prstGeom prst="rect">
            <a:avLst/>
          </a:prstGeom>
          <a:noFill/>
          <a:ln/>
        </p:spPr>
        <p:txBody>
          <a:bodyPr wrap="square" lIns="0" tIns="0" rIns="0" bIns="0" rtlCol="0" anchor="ctr"/>
          <a:lstStyle/>
          <a:p>
            <a:pPr marL="0" indent="0" algn="l">
              <a:buNone/>
            </a:pPr>
            <a:r>
              <a:rPr lang="en-US" sz="1350" b="1" dirty="0">
                <a:solidFill>
                  <a:srgbClr val="B9BFC1"/>
                </a:solidFill>
                <a:latin typeface="Calibri" pitchFamily="34" charset="0"/>
                <a:ea typeface="Calibri" pitchFamily="34" charset="-122"/>
                <a:cs typeface="Calibri" pitchFamily="34" charset="-120"/>
              </a:rPr>
              <a:t>Milton Friedman, Capitalism and Freedom (1962)</a:t>
            </a:r>
            <a:endParaRPr lang="en-US" sz="1350" dirty="0"/>
          </a:p>
        </p:txBody>
      </p:sp>
      <p:sp>
        <p:nvSpPr>
          <p:cNvPr id="7" name="Text 5"/>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Asia's New Geoeconomics  |  Danny Quah</a:t>
            </a:r>
            <a:endParaRPr lang="en-US" sz="1050" dirty="0"/>
          </a:p>
        </p:txBody>
      </p:sp>
      <p:sp>
        <p:nvSpPr>
          <p:cNvPr id="8" name="Text 6"/>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4E5E61"/>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F990D-9161-D34B-3054-DD027339F10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AA7F9B8C-A3B0-1FF9-82CA-15316DF11F76}"/>
              </a:ext>
            </a:extLst>
          </p:cNvPr>
          <p:cNvSpPr>
            <a:spLocks noGrp="1"/>
          </p:cNvSpPr>
          <p:nvPr>
            <p:ph type="subTitle" idx="1"/>
          </p:nvPr>
        </p:nvSpPr>
        <p:spPr/>
        <p:txBody>
          <a:bodyPr/>
          <a:lstStyle/>
          <a:p>
            <a:endParaRPr lang="en-US" dirty="0"/>
          </a:p>
        </p:txBody>
      </p:sp>
      <p:pic>
        <p:nvPicPr>
          <p:cNvPr id="4" name="Picture 3">
            <a:extLst>
              <a:ext uri="{FF2B5EF4-FFF2-40B4-BE49-F238E27FC236}">
                <a16:creationId xmlns:a16="http://schemas.microsoft.com/office/drawing/2014/main" id="{A330937F-9DB1-4202-7E6B-D4AF8318E7F4}"/>
              </a:ext>
            </a:extLst>
          </p:cNvPr>
          <p:cNvPicPr>
            <a:picLocks noChangeAspect="1"/>
          </p:cNvPicPr>
          <p:nvPr/>
        </p:nvPicPr>
        <p:blipFill>
          <a:blip r:embed="rId3"/>
          <a:stretch>
            <a:fillRect/>
          </a:stretch>
        </p:blipFill>
        <p:spPr>
          <a:xfrm>
            <a:off x="6096000" y="781050"/>
            <a:ext cx="4838700" cy="5295900"/>
          </a:xfrm>
          <a:prstGeom prst="rect">
            <a:avLst/>
          </a:prstGeom>
        </p:spPr>
      </p:pic>
      <p:pic>
        <p:nvPicPr>
          <p:cNvPr id="6" name="Picture 5">
            <a:extLst>
              <a:ext uri="{FF2B5EF4-FFF2-40B4-BE49-F238E27FC236}">
                <a16:creationId xmlns:a16="http://schemas.microsoft.com/office/drawing/2014/main" id="{9EB2AF34-0AB6-B325-CC5C-7BFA269DC5A1}"/>
              </a:ext>
            </a:extLst>
          </p:cNvPr>
          <p:cNvPicPr>
            <a:picLocks noChangeAspect="1"/>
          </p:cNvPicPr>
          <p:nvPr/>
        </p:nvPicPr>
        <p:blipFill>
          <a:blip r:embed="rId4"/>
          <a:stretch>
            <a:fillRect/>
          </a:stretch>
        </p:blipFill>
        <p:spPr>
          <a:xfrm>
            <a:off x="1231900" y="1270000"/>
            <a:ext cx="4864100" cy="3987800"/>
          </a:xfrm>
          <a:prstGeom prst="rect">
            <a:avLst/>
          </a:prstGeom>
        </p:spPr>
      </p:pic>
    </p:spTree>
    <p:extLst>
      <p:ext uri="{BB962C8B-B14F-4D97-AF65-F5344CB8AC3E}">
        <p14:creationId xmlns:p14="http://schemas.microsoft.com/office/powerpoint/2010/main" val="3453533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On China's Accession to the WTO</a:t>
            </a:r>
            <a:endParaRPr lang="en-US" sz="3200" dirty="0"/>
          </a:p>
        </p:txBody>
      </p:sp>
      <p:sp>
        <p:nvSpPr>
          <p:cNvPr id="3" name="Shape 1"/>
          <p:cNvSpPr/>
          <p:nvPr/>
        </p:nvSpPr>
        <p:spPr>
          <a:xfrm>
            <a:off x="548640" y="1417320"/>
            <a:ext cx="11094415" cy="4160520"/>
          </a:xfrm>
          <a:prstGeom prst="roundRect">
            <a:avLst>
              <a:gd name="adj" fmla="val 1319"/>
            </a:avLst>
          </a:prstGeom>
          <a:solidFill>
            <a:srgbClr val="2F4246"/>
          </a:solidFill>
          <a:ln/>
        </p:spPr>
        <p:txBody>
          <a:bodyPr/>
          <a:lstStyle/>
          <a:p>
            <a:endParaRPr lang="en-US"/>
          </a:p>
        </p:txBody>
      </p:sp>
      <p:sp>
        <p:nvSpPr>
          <p:cNvPr id="4" name="Text 2"/>
          <p:cNvSpPr/>
          <p:nvPr/>
        </p:nvSpPr>
        <p:spPr>
          <a:xfrm>
            <a:off x="1143000" y="1737360"/>
            <a:ext cx="9905695" cy="3246120"/>
          </a:xfrm>
          <a:prstGeom prst="rect">
            <a:avLst/>
          </a:prstGeom>
          <a:noFill/>
          <a:ln/>
        </p:spPr>
        <p:txBody>
          <a:bodyPr wrap="square" lIns="0" tIns="0" rIns="0" bIns="0" rtlCol="0" anchor="ctr"/>
          <a:lstStyle/>
          <a:p>
            <a:pPr marL="0" indent="0" algn="l">
              <a:lnSpc>
                <a:spcPct val="125000"/>
              </a:lnSpc>
              <a:buNone/>
            </a:pPr>
            <a:r>
              <a:rPr lang="en-US" sz="2000" i="1" dirty="0">
                <a:solidFill>
                  <a:srgbClr val="FFFFFF"/>
                </a:solidFill>
                <a:latin typeface="Cambria" pitchFamily="34" charset="0"/>
                <a:ea typeface="Cambria" pitchFamily="34" charset="-122"/>
                <a:cs typeface="Cambria" pitchFamily="34" charset="-120"/>
              </a:rPr>
              <a:t>“China is a growing threat to Taiwan and its neighbors — we shouldn’t strengthen it. Or China violates labor rights and human rights — we shouldn’t reward it. Or China is a dangerous proliferator — we shouldn’t empower it. … The question is not whether we approve or disapprove of China’s practices. The question is what’s the smartest thing to do.”</a:t>
            </a:r>
            <a:endParaRPr lang="en-US" sz="2000" dirty="0"/>
          </a:p>
        </p:txBody>
      </p:sp>
      <p:sp>
        <p:nvSpPr>
          <p:cNvPr id="5" name="Shape 3"/>
          <p:cNvSpPr/>
          <p:nvPr/>
        </p:nvSpPr>
        <p:spPr>
          <a:xfrm>
            <a:off x="1143000" y="4983480"/>
            <a:ext cx="640080" cy="0"/>
          </a:xfrm>
          <a:prstGeom prst="line">
            <a:avLst/>
          </a:prstGeom>
          <a:noFill/>
          <a:ln w="31750">
            <a:solidFill>
              <a:srgbClr val="EB811B"/>
            </a:solidFill>
            <a:prstDash val="solid"/>
          </a:ln>
        </p:spPr>
        <p:txBody>
          <a:bodyPr/>
          <a:lstStyle/>
          <a:p>
            <a:endParaRPr lang="en-US"/>
          </a:p>
        </p:txBody>
      </p:sp>
      <p:sp>
        <p:nvSpPr>
          <p:cNvPr id="6" name="Text 4"/>
          <p:cNvSpPr/>
          <p:nvPr/>
        </p:nvSpPr>
        <p:spPr>
          <a:xfrm>
            <a:off x="1143000" y="5120640"/>
            <a:ext cx="9905695" cy="365760"/>
          </a:xfrm>
          <a:prstGeom prst="rect">
            <a:avLst/>
          </a:prstGeom>
          <a:noFill/>
          <a:ln/>
        </p:spPr>
        <p:txBody>
          <a:bodyPr wrap="square" lIns="0" tIns="0" rIns="0" bIns="0" rtlCol="0" anchor="ctr"/>
          <a:lstStyle/>
          <a:p>
            <a:pPr marL="0" indent="0" algn="l">
              <a:buNone/>
            </a:pPr>
            <a:r>
              <a:rPr lang="en-US" sz="1350" b="1" dirty="0">
                <a:solidFill>
                  <a:srgbClr val="B9BFC1"/>
                </a:solidFill>
                <a:latin typeface="Calibri" pitchFamily="34" charset="0"/>
                <a:ea typeface="Calibri" pitchFamily="34" charset="-122"/>
                <a:cs typeface="Calibri" pitchFamily="34" charset="-120"/>
              </a:rPr>
              <a:t>Bill Clinton, on China's WTO accession (2000)</a:t>
            </a:r>
            <a:endParaRPr lang="en-US" sz="1350" dirty="0"/>
          </a:p>
        </p:txBody>
      </p:sp>
      <p:sp>
        <p:nvSpPr>
          <p:cNvPr id="7" name="Text 5"/>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Asia's New Geoeconomics  |  Danny Quah</a:t>
            </a:r>
            <a:endParaRPr lang="en-US" sz="1050" dirty="0"/>
          </a:p>
        </p:txBody>
      </p:sp>
      <p:sp>
        <p:nvSpPr>
          <p:cNvPr id="8" name="Text 6"/>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4E5E61"/>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23373B"/>
        </a:solidFill>
        <a:effectLst/>
      </p:bgPr>
    </p:bg>
    <p:spTree>
      <p:nvGrpSpPr>
        <p:cNvPr id="1" name=""/>
        <p:cNvGrpSpPr/>
        <p:nvPr/>
      </p:nvGrpSpPr>
      <p:grpSpPr>
        <a:xfrm>
          <a:off x="0" y="0"/>
          <a:ext cx="0" cy="0"/>
          <a:chOff x="0" y="0"/>
          <a:chExt cx="0" cy="0"/>
        </a:xfrm>
      </p:grpSpPr>
      <p:sp>
        <p:nvSpPr>
          <p:cNvPr id="2" name="Text 0"/>
          <p:cNvSpPr/>
          <p:nvPr/>
        </p:nvSpPr>
        <p:spPr>
          <a:xfrm>
            <a:off x="548640" y="2148840"/>
            <a:ext cx="9601200" cy="365760"/>
          </a:xfrm>
          <a:prstGeom prst="rect">
            <a:avLst/>
          </a:prstGeom>
          <a:noFill/>
          <a:ln/>
        </p:spPr>
        <p:txBody>
          <a:bodyPr wrap="square" lIns="0" tIns="0" rIns="0" bIns="0" rtlCol="0" anchor="ctr"/>
          <a:lstStyle/>
          <a:p>
            <a:pPr marL="0" indent="0" algn="l">
              <a:buNone/>
            </a:pPr>
            <a:r>
              <a:rPr lang="en-US" sz="1300" b="1" kern="0" spc="200" dirty="0">
                <a:solidFill>
                  <a:srgbClr val="EB811B"/>
                </a:solidFill>
                <a:latin typeface="Calibri" pitchFamily="34" charset="0"/>
                <a:ea typeface="Calibri" pitchFamily="34" charset="-122"/>
                <a:cs typeface="Calibri" pitchFamily="34" charset="-120"/>
              </a:rPr>
              <a:t>PART THREE</a:t>
            </a:r>
            <a:endParaRPr lang="en-US" sz="1300" dirty="0"/>
          </a:p>
        </p:txBody>
      </p:sp>
      <p:sp>
        <p:nvSpPr>
          <p:cNvPr id="3" name="Text 1"/>
          <p:cNvSpPr/>
          <p:nvPr/>
        </p:nvSpPr>
        <p:spPr>
          <a:xfrm>
            <a:off x="548640" y="2560320"/>
            <a:ext cx="10058400" cy="1463040"/>
          </a:xfrm>
          <a:prstGeom prst="rect">
            <a:avLst/>
          </a:prstGeom>
          <a:noFill/>
          <a:ln/>
        </p:spPr>
        <p:txBody>
          <a:bodyPr wrap="square" lIns="0" tIns="0" rIns="0" bIns="0"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Compare to an Earlier American Mercantilism</a:t>
            </a:r>
            <a:endParaRPr lang="en-US" sz="3800" dirty="0"/>
          </a:p>
        </p:txBody>
      </p:sp>
      <p:sp>
        <p:nvSpPr>
          <p:cNvPr id="4" name="Shape 2"/>
          <p:cNvSpPr/>
          <p:nvPr/>
        </p:nvSpPr>
        <p:spPr>
          <a:xfrm>
            <a:off x="548640" y="3794760"/>
            <a:ext cx="1508760" cy="0"/>
          </a:xfrm>
          <a:prstGeom prst="line">
            <a:avLst/>
          </a:prstGeom>
          <a:noFill/>
          <a:ln w="38100">
            <a:solidFill>
              <a:srgbClr val="EB811B"/>
            </a:solidFill>
            <a:prstDash val="solid"/>
          </a:ln>
        </p:spPr>
        <p:txBody>
          <a:bodyPr/>
          <a:lstStyle/>
          <a:p>
            <a:endParaRPr lang="en-US"/>
          </a:p>
        </p:txBody>
      </p:sp>
      <p:sp>
        <p:nvSpPr>
          <p:cNvPr id="5" name="Text 3"/>
          <p:cNvSpPr/>
          <p:nvPr/>
        </p:nvSpPr>
        <p:spPr>
          <a:xfrm>
            <a:off x="548640" y="4023360"/>
            <a:ext cx="8686800" cy="731520"/>
          </a:xfrm>
          <a:prstGeom prst="rect">
            <a:avLst/>
          </a:prstGeom>
          <a:noFill/>
          <a:ln/>
        </p:spPr>
        <p:txBody>
          <a:bodyPr wrap="square" lIns="0" tIns="0" rIns="0" bIns="0" rtlCol="0" anchor="ctr"/>
          <a:lstStyle/>
          <a:p>
            <a:pPr marL="0" indent="0" algn="l">
              <a:buNone/>
            </a:pPr>
            <a:r>
              <a:rPr lang="en-US" sz="1500" i="1" dirty="0">
                <a:solidFill>
                  <a:srgbClr val="B9BFC1"/>
                </a:solidFill>
                <a:latin typeface="Calibri" pitchFamily="34" charset="0"/>
                <a:ea typeface="Calibri" pitchFamily="34" charset="-122"/>
                <a:cs typeface="Calibri" pitchFamily="34" charset="-120"/>
              </a:rPr>
              <a:t>Before free trade, America protected industry for a century.</a:t>
            </a:r>
            <a:endParaRPr lang="en-US" sz="1500" dirty="0"/>
          </a:p>
        </p:txBody>
      </p:sp>
      <p:sp>
        <p:nvSpPr>
          <p:cNvPr id="6" name="Text 4"/>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B9BFC1"/>
                </a:solidFill>
                <a:latin typeface="Calibri" pitchFamily="34" charset="0"/>
                <a:ea typeface="Calibri" pitchFamily="34" charset="-122"/>
                <a:cs typeface="Calibri" pitchFamily="34" charset="-120"/>
              </a:rPr>
              <a:t>Asia's New Geoeconomics  |  Danny Quah</a:t>
            </a:r>
            <a:endParaRPr lang="en-US" sz="1050" dirty="0"/>
          </a:p>
        </p:txBody>
      </p:sp>
      <p:sp>
        <p:nvSpPr>
          <p:cNvPr id="7" name="Text 5"/>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B9BFC1"/>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A Century of Protection</a:t>
            </a:r>
            <a:endParaRPr lang="en-US" sz="3200" dirty="0"/>
          </a:p>
        </p:txBody>
      </p:sp>
      <p:sp>
        <p:nvSpPr>
          <p:cNvPr id="3" name="Text 1"/>
          <p:cNvSpPr/>
          <p:nvPr/>
        </p:nvSpPr>
        <p:spPr>
          <a:xfrm>
            <a:off x="548640" y="1097280"/>
            <a:ext cx="10515600" cy="411480"/>
          </a:xfrm>
          <a:prstGeom prst="rect">
            <a:avLst/>
          </a:prstGeom>
          <a:noFill/>
          <a:ln/>
        </p:spPr>
        <p:txBody>
          <a:bodyPr wrap="square" lIns="0" tIns="0" rIns="0" bIns="0" rtlCol="0" anchor="ctr"/>
          <a:lstStyle/>
          <a:p>
            <a:pPr marL="0" indent="0" algn="l">
              <a:buNone/>
            </a:pPr>
            <a:r>
              <a:rPr lang="en-US" sz="1500" i="1" dirty="0">
                <a:solidFill>
                  <a:srgbClr val="4E5E61"/>
                </a:solidFill>
                <a:latin typeface="Calibri" pitchFamily="34" charset="0"/>
                <a:ea typeface="Calibri" pitchFamily="34" charset="-122"/>
                <a:cs typeface="Calibri" pitchFamily="34" charset="-120"/>
              </a:rPr>
              <a:t>Tariffs and subsidies as the older American doctrine.</a:t>
            </a:r>
            <a:endParaRPr lang="en-US" sz="1500" dirty="0"/>
          </a:p>
        </p:txBody>
      </p:sp>
      <p:sp>
        <p:nvSpPr>
          <p:cNvPr id="4" name="Shape 2"/>
          <p:cNvSpPr/>
          <p:nvPr/>
        </p:nvSpPr>
        <p:spPr>
          <a:xfrm>
            <a:off x="548640" y="1874520"/>
            <a:ext cx="11094415" cy="1252728"/>
          </a:xfrm>
          <a:prstGeom prst="roundRect">
            <a:avLst>
              <a:gd name="adj" fmla="val 3650"/>
            </a:avLst>
          </a:prstGeom>
          <a:solidFill>
            <a:srgbClr val="EDF0F0"/>
          </a:solidFill>
          <a:ln/>
        </p:spPr>
        <p:txBody>
          <a:bodyPr/>
          <a:lstStyle/>
          <a:p>
            <a:endParaRPr lang="en-US"/>
          </a:p>
        </p:txBody>
      </p:sp>
      <p:sp>
        <p:nvSpPr>
          <p:cNvPr id="5" name="Text 3"/>
          <p:cNvSpPr/>
          <p:nvPr/>
        </p:nvSpPr>
        <p:spPr>
          <a:xfrm>
            <a:off x="868680" y="1874520"/>
            <a:ext cx="1188720" cy="1252728"/>
          </a:xfrm>
          <a:prstGeom prst="rect">
            <a:avLst/>
          </a:prstGeom>
          <a:noFill/>
          <a:ln/>
        </p:spPr>
        <p:txBody>
          <a:bodyPr wrap="square" lIns="0" tIns="0" rIns="0" bIns="0" rtlCol="0" anchor="ctr"/>
          <a:lstStyle/>
          <a:p>
            <a:pPr marL="0" indent="0" algn="l">
              <a:buNone/>
            </a:pPr>
            <a:r>
              <a:rPr lang="en-US" sz="2400" b="1" dirty="0">
                <a:solidFill>
                  <a:srgbClr val="EB811B"/>
                </a:solidFill>
                <a:latin typeface="Cambria" pitchFamily="34" charset="0"/>
                <a:ea typeface="Cambria" pitchFamily="34" charset="-122"/>
                <a:cs typeface="Cambria" pitchFamily="34" charset="-120"/>
              </a:rPr>
              <a:t>1791</a:t>
            </a:r>
            <a:endParaRPr lang="en-US" sz="2400" dirty="0"/>
          </a:p>
        </p:txBody>
      </p:sp>
      <p:sp>
        <p:nvSpPr>
          <p:cNvPr id="6" name="Text 4"/>
          <p:cNvSpPr/>
          <p:nvPr/>
        </p:nvSpPr>
        <p:spPr>
          <a:xfrm>
            <a:off x="2240280" y="1984248"/>
            <a:ext cx="9082735" cy="320040"/>
          </a:xfrm>
          <a:prstGeom prst="rect">
            <a:avLst/>
          </a:prstGeom>
          <a:noFill/>
          <a:ln/>
        </p:spPr>
        <p:txBody>
          <a:bodyPr wrap="square" lIns="0" tIns="0" rIns="0" bIns="0" rtlCol="0" anchor="ctr"/>
          <a:lstStyle/>
          <a:p>
            <a:pPr marL="0" indent="0" algn="l">
              <a:buNone/>
            </a:pPr>
            <a:r>
              <a:rPr lang="en-US" sz="1300" b="1" dirty="0">
                <a:solidFill>
                  <a:srgbClr val="23373B"/>
                </a:solidFill>
                <a:latin typeface="Calibri" pitchFamily="34" charset="0"/>
                <a:ea typeface="Calibri" pitchFamily="34" charset="-122"/>
                <a:cs typeface="Calibri" pitchFamily="34" charset="-120"/>
              </a:rPr>
              <a:t>Alexander Hamilton, Report on Manufactures</a:t>
            </a:r>
            <a:endParaRPr lang="en-US" sz="1300" dirty="0"/>
          </a:p>
        </p:txBody>
      </p:sp>
      <p:sp>
        <p:nvSpPr>
          <p:cNvPr id="7" name="Text 5"/>
          <p:cNvSpPr/>
          <p:nvPr/>
        </p:nvSpPr>
        <p:spPr>
          <a:xfrm>
            <a:off x="2240280" y="2295144"/>
            <a:ext cx="9082735" cy="502920"/>
          </a:xfrm>
          <a:prstGeom prst="rect">
            <a:avLst/>
          </a:prstGeom>
          <a:noFill/>
          <a:ln/>
        </p:spPr>
        <p:txBody>
          <a:bodyPr wrap="square" lIns="0" tIns="0" rIns="0" bIns="0" rtlCol="0" anchor="t"/>
          <a:lstStyle/>
          <a:p>
            <a:pPr marL="0" indent="0" algn="l">
              <a:lnSpc>
                <a:spcPct val="110000"/>
              </a:lnSpc>
              <a:buNone/>
            </a:pPr>
            <a:r>
              <a:rPr lang="en-US" sz="1300" i="1" dirty="0">
                <a:solidFill>
                  <a:srgbClr val="4E5E61"/>
                </a:solidFill>
                <a:latin typeface="Calibri" pitchFamily="34" charset="0"/>
                <a:ea typeface="Calibri" pitchFamily="34" charset="-122"/>
                <a:cs typeface="Calibri" pitchFamily="34" charset="-120"/>
              </a:rPr>
              <a:t>Tariffs and subsidies to incentivize industrialization — protection from foreign producers until scale made industries globally competitive.</a:t>
            </a:r>
            <a:endParaRPr lang="en-US" sz="1300" dirty="0"/>
          </a:p>
        </p:txBody>
      </p:sp>
      <p:sp>
        <p:nvSpPr>
          <p:cNvPr id="8" name="Text 6"/>
          <p:cNvSpPr/>
          <p:nvPr/>
        </p:nvSpPr>
        <p:spPr>
          <a:xfrm>
            <a:off x="2240280" y="2788920"/>
            <a:ext cx="9082735" cy="320040"/>
          </a:xfrm>
          <a:prstGeom prst="rect">
            <a:avLst/>
          </a:prstGeom>
          <a:noFill/>
          <a:ln/>
        </p:spPr>
        <p:txBody>
          <a:bodyPr wrap="square" lIns="0" tIns="0" rIns="0" bIns="0" rtlCol="0" anchor="ctr"/>
          <a:lstStyle/>
          <a:p>
            <a:pPr marL="0" indent="0" algn="l">
              <a:buNone/>
            </a:pPr>
            <a:r>
              <a:rPr lang="en-US" sz="1100" dirty="0">
                <a:solidFill>
                  <a:srgbClr val="4E5E61"/>
                </a:solidFill>
                <a:latin typeface="Calibri" pitchFamily="34" charset="0"/>
                <a:ea typeface="Calibri" pitchFamily="34" charset="-122"/>
                <a:cs typeface="Calibri" pitchFamily="34" charset="-120"/>
              </a:rPr>
              <a:t>As framed by USTR (Jan 2026): this vision “laid the foundation for American, and even global, prosperity.”</a:t>
            </a:r>
            <a:endParaRPr lang="en-US" sz="1100" dirty="0"/>
          </a:p>
        </p:txBody>
      </p:sp>
      <p:sp>
        <p:nvSpPr>
          <p:cNvPr id="9" name="Shape 7"/>
          <p:cNvSpPr/>
          <p:nvPr/>
        </p:nvSpPr>
        <p:spPr>
          <a:xfrm>
            <a:off x="548640" y="3291840"/>
            <a:ext cx="11094415" cy="1252728"/>
          </a:xfrm>
          <a:prstGeom prst="roundRect">
            <a:avLst>
              <a:gd name="adj" fmla="val 3650"/>
            </a:avLst>
          </a:prstGeom>
          <a:solidFill>
            <a:srgbClr val="EDF0F0"/>
          </a:solidFill>
          <a:ln/>
        </p:spPr>
        <p:txBody>
          <a:bodyPr/>
          <a:lstStyle/>
          <a:p>
            <a:endParaRPr lang="en-US"/>
          </a:p>
        </p:txBody>
      </p:sp>
      <p:sp>
        <p:nvSpPr>
          <p:cNvPr id="10" name="Text 8"/>
          <p:cNvSpPr/>
          <p:nvPr/>
        </p:nvSpPr>
        <p:spPr>
          <a:xfrm>
            <a:off x="868680" y="3291840"/>
            <a:ext cx="1188720" cy="1252728"/>
          </a:xfrm>
          <a:prstGeom prst="rect">
            <a:avLst/>
          </a:prstGeom>
          <a:noFill/>
          <a:ln/>
        </p:spPr>
        <p:txBody>
          <a:bodyPr wrap="square" lIns="0" tIns="0" rIns="0" bIns="0" rtlCol="0" anchor="ctr"/>
          <a:lstStyle/>
          <a:p>
            <a:pPr marL="0" indent="0" algn="l">
              <a:buNone/>
            </a:pPr>
            <a:r>
              <a:rPr lang="en-US" sz="2400" b="1" dirty="0">
                <a:solidFill>
                  <a:srgbClr val="EB811B"/>
                </a:solidFill>
                <a:latin typeface="Cambria" pitchFamily="34" charset="0"/>
                <a:ea typeface="Cambria" pitchFamily="34" charset="-122"/>
                <a:cs typeface="Cambria" pitchFamily="34" charset="-120"/>
              </a:rPr>
              <a:t>1847</a:t>
            </a:r>
            <a:endParaRPr lang="en-US" sz="2400" dirty="0"/>
          </a:p>
        </p:txBody>
      </p:sp>
      <p:sp>
        <p:nvSpPr>
          <p:cNvPr id="11" name="Text 9"/>
          <p:cNvSpPr/>
          <p:nvPr/>
        </p:nvSpPr>
        <p:spPr>
          <a:xfrm>
            <a:off x="2240280" y="3401568"/>
            <a:ext cx="9082735" cy="320040"/>
          </a:xfrm>
          <a:prstGeom prst="rect">
            <a:avLst/>
          </a:prstGeom>
          <a:noFill/>
          <a:ln/>
        </p:spPr>
        <p:txBody>
          <a:bodyPr wrap="square" lIns="0" tIns="0" rIns="0" bIns="0" rtlCol="0" anchor="ctr"/>
          <a:lstStyle/>
          <a:p>
            <a:pPr marL="0" indent="0" algn="l">
              <a:buNone/>
            </a:pPr>
            <a:r>
              <a:rPr lang="en-US" sz="1300" b="1" dirty="0">
                <a:solidFill>
                  <a:srgbClr val="23373B"/>
                </a:solidFill>
                <a:latin typeface="Calibri" pitchFamily="34" charset="0"/>
                <a:ea typeface="Calibri" pitchFamily="34" charset="-122"/>
                <a:cs typeface="Calibri" pitchFamily="34" charset="-120"/>
              </a:rPr>
              <a:t>Abraham Lincoln (attributed)</a:t>
            </a:r>
            <a:endParaRPr lang="en-US" sz="1300" dirty="0"/>
          </a:p>
        </p:txBody>
      </p:sp>
      <p:sp>
        <p:nvSpPr>
          <p:cNvPr id="12" name="Text 10"/>
          <p:cNvSpPr/>
          <p:nvPr/>
        </p:nvSpPr>
        <p:spPr>
          <a:xfrm>
            <a:off x="2240280" y="3712464"/>
            <a:ext cx="9082735" cy="502920"/>
          </a:xfrm>
          <a:prstGeom prst="rect">
            <a:avLst/>
          </a:prstGeom>
          <a:noFill/>
          <a:ln/>
        </p:spPr>
        <p:txBody>
          <a:bodyPr wrap="square" lIns="0" tIns="0" rIns="0" bIns="0" rtlCol="0" anchor="t"/>
          <a:lstStyle/>
          <a:p>
            <a:pPr marL="0" indent="0" algn="l">
              <a:lnSpc>
                <a:spcPct val="110000"/>
              </a:lnSpc>
              <a:buNone/>
            </a:pPr>
            <a:r>
              <a:rPr lang="en-US" sz="1300" i="1" dirty="0">
                <a:solidFill>
                  <a:srgbClr val="4E5E61"/>
                </a:solidFill>
                <a:latin typeface="Calibri" pitchFamily="34" charset="0"/>
                <a:ea typeface="Calibri" pitchFamily="34" charset="-122"/>
                <a:cs typeface="Calibri" pitchFamily="34" charset="-120"/>
              </a:rPr>
              <a:t>“Give us a protective tariff, and we will have the greatest nation on earth.”</a:t>
            </a:r>
            <a:endParaRPr lang="en-US" sz="1300" dirty="0"/>
          </a:p>
        </p:txBody>
      </p:sp>
      <p:sp>
        <p:nvSpPr>
          <p:cNvPr id="13" name="Text 11"/>
          <p:cNvSpPr/>
          <p:nvPr/>
        </p:nvSpPr>
        <p:spPr>
          <a:xfrm>
            <a:off x="2240280" y="4206240"/>
            <a:ext cx="9082735" cy="320040"/>
          </a:xfrm>
          <a:prstGeom prst="rect">
            <a:avLst/>
          </a:prstGeom>
          <a:noFill/>
          <a:ln/>
        </p:spPr>
        <p:txBody>
          <a:bodyPr wrap="square" lIns="0" tIns="0" rIns="0" bIns="0" rtlCol="0" anchor="ctr"/>
          <a:lstStyle/>
          <a:p>
            <a:pPr marL="0" indent="0" algn="l">
              <a:buNone/>
            </a:pPr>
            <a:r>
              <a:rPr lang="en-US" sz="1100" dirty="0">
                <a:solidFill>
                  <a:srgbClr val="4E5E61"/>
                </a:solidFill>
                <a:latin typeface="Calibri" pitchFamily="34" charset="0"/>
                <a:ea typeface="Calibri" pitchFamily="34" charset="-122"/>
                <a:cs typeface="Calibri" pitchFamily="34" charset="-120"/>
              </a:rPr>
              <a:t>Widely attributed but never confirmed as an actual quotation.</a:t>
            </a:r>
            <a:endParaRPr lang="en-US" sz="1100" dirty="0"/>
          </a:p>
        </p:txBody>
      </p:sp>
      <p:sp>
        <p:nvSpPr>
          <p:cNvPr id="14" name="Shape 12"/>
          <p:cNvSpPr/>
          <p:nvPr/>
        </p:nvSpPr>
        <p:spPr>
          <a:xfrm>
            <a:off x="548640" y="4709160"/>
            <a:ext cx="11094415" cy="1252728"/>
          </a:xfrm>
          <a:prstGeom prst="roundRect">
            <a:avLst>
              <a:gd name="adj" fmla="val 3650"/>
            </a:avLst>
          </a:prstGeom>
          <a:solidFill>
            <a:srgbClr val="EDF0F0"/>
          </a:solidFill>
          <a:ln/>
        </p:spPr>
        <p:txBody>
          <a:bodyPr/>
          <a:lstStyle/>
          <a:p>
            <a:endParaRPr lang="en-US"/>
          </a:p>
        </p:txBody>
      </p:sp>
      <p:sp>
        <p:nvSpPr>
          <p:cNvPr id="15" name="Text 13"/>
          <p:cNvSpPr/>
          <p:nvPr/>
        </p:nvSpPr>
        <p:spPr>
          <a:xfrm>
            <a:off x="868680" y="4709160"/>
            <a:ext cx="1188720" cy="1252728"/>
          </a:xfrm>
          <a:prstGeom prst="rect">
            <a:avLst/>
          </a:prstGeom>
          <a:noFill/>
          <a:ln/>
        </p:spPr>
        <p:txBody>
          <a:bodyPr wrap="square" lIns="0" tIns="0" rIns="0" bIns="0" rtlCol="0" anchor="ctr"/>
          <a:lstStyle/>
          <a:p>
            <a:pPr marL="0" indent="0" algn="l">
              <a:buNone/>
            </a:pPr>
            <a:r>
              <a:rPr lang="en-US" sz="2400" b="1" dirty="0">
                <a:solidFill>
                  <a:srgbClr val="EB811B"/>
                </a:solidFill>
                <a:latin typeface="Cambria" pitchFamily="34" charset="0"/>
                <a:ea typeface="Cambria" pitchFamily="34" charset="-122"/>
                <a:cs typeface="Cambria" pitchFamily="34" charset="-120"/>
              </a:rPr>
              <a:t>1896</a:t>
            </a:r>
            <a:endParaRPr lang="en-US" sz="2400" dirty="0"/>
          </a:p>
        </p:txBody>
      </p:sp>
      <p:sp>
        <p:nvSpPr>
          <p:cNvPr id="16" name="Text 14"/>
          <p:cNvSpPr/>
          <p:nvPr/>
        </p:nvSpPr>
        <p:spPr>
          <a:xfrm>
            <a:off x="2240280" y="4818888"/>
            <a:ext cx="9082735" cy="320040"/>
          </a:xfrm>
          <a:prstGeom prst="rect">
            <a:avLst/>
          </a:prstGeom>
          <a:noFill/>
          <a:ln/>
        </p:spPr>
        <p:txBody>
          <a:bodyPr wrap="square" lIns="0" tIns="0" rIns="0" bIns="0" rtlCol="0" anchor="ctr"/>
          <a:lstStyle/>
          <a:p>
            <a:pPr marL="0" indent="0" algn="l">
              <a:buNone/>
            </a:pPr>
            <a:r>
              <a:rPr lang="en-US" sz="1300" b="1" dirty="0">
                <a:solidFill>
                  <a:srgbClr val="23373B"/>
                </a:solidFill>
                <a:latin typeface="Calibri" pitchFamily="34" charset="0"/>
                <a:ea typeface="Calibri" pitchFamily="34" charset="-122"/>
                <a:cs typeface="Calibri" pitchFamily="34" charset="-120"/>
              </a:rPr>
              <a:t>Republican Party Platform</a:t>
            </a:r>
            <a:endParaRPr lang="en-US" sz="1300" dirty="0"/>
          </a:p>
        </p:txBody>
      </p:sp>
      <p:sp>
        <p:nvSpPr>
          <p:cNvPr id="17" name="Text 15"/>
          <p:cNvSpPr/>
          <p:nvPr/>
        </p:nvSpPr>
        <p:spPr>
          <a:xfrm>
            <a:off x="2240280" y="5129784"/>
            <a:ext cx="9082735" cy="502920"/>
          </a:xfrm>
          <a:prstGeom prst="rect">
            <a:avLst/>
          </a:prstGeom>
          <a:noFill/>
          <a:ln/>
        </p:spPr>
        <p:txBody>
          <a:bodyPr wrap="square" lIns="0" tIns="0" rIns="0" bIns="0" rtlCol="0" anchor="t"/>
          <a:lstStyle/>
          <a:p>
            <a:pPr>
              <a:lnSpc>
                <a:spcPct val="110000"/>
              </a:lnSpc>
            </a:pPr>
            <a:r>
              <a:rPr lang="en-US" sz="1300" i="1" dirty="0">
                <a:solidFill>
                  <a:srgbClr val="4E5E61"/>
                </a:solidFill>
                <a:latin typeface="Calibri" pitchFamily="34" charset="0"/>
                <a:ea typeface="Calibri" pitchFamily="34" charset="-122"/>
                <a:cs typeface="Calibri" pitchFamily="34" charset="-120"/>
              </a:rPr>
              <a:t>“… policy of protection, as the bulwark of American industrial independence and the foundation of American development and prosperity.”  “It secures the American market for the American producer … and founds the strength of all on the strength of each.”</a:t>
            </a:r>
            <a:endParaRPr lang="en-US" sz="1300" dirty="0"/>
          </a:p>
        </p:txBody>
      </p:sp>
      <p:sp>
        <p:nvSpPr>
          <p:cNvPr id="18" name="Text 16"/>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Asia's New Geoeconomics  |  Danny Quah</a:t>
            </a:r>
            <a:endParaRPr lang="en-US" sz="1050" dirty="0"/>
          </a:p>
        </p:txBody>
      </p:sp>
      <p:sp>
        <p:nvSpPr>
          <p:cNvPr id="19" name="Text 17"/>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4E5E61"/>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698480" cy="685800"/>
          </a:xfrm>
          <a:prstGeom prst="rect">
            <a:avLst/>
          </a:prstGeom>
          <a:noFill/>
          <a:ln/>
        </p:spPr>
        <p:txBody>
          <a:bodyPr wrap="square" lIns="0" tIns="0" rIns="0" bIns="0" rtlCol="0" anchor="ctr"/>
          <a:lstStyle/>
          <a:p>
            <a:pPr marL="0" indent="0" algn="l">
              <a:buNone/>
            </a:pPr>
            <a:r>
              <a:rPr lang="en-US" sz="2800" b="1" dirty="0">
                <a:solidFill>
                  <a:srgbClr val="23373B"/>
                </a:solidFill>
                <a:latin typeface="Cambria" pitchFamily="34" charset="0"/>
                <a:ea typeface="Cambria" pitchFamily="34" charset="-122"/>
                <a:cs typeface="Cambria" pitchFamily="34" charset="-120"/>
              </a:rPr>
              <a:t>Economic Efficiency: Hegemonic Stability Theory</a:t>
            </a:r>
            <a:endParaRPr lang="en-US" sz="2800" dirty="0"/>
          </a:p>
        </p:txBody>
      </p:sp>
      <p:sp>
        <p:nvSpPr>
          <p:cNvPr id="3" name="Text 1"/>
          <p:cNvSpPr/>
          <p:nvPr/>
        </p:nvSpPr>
        <p:spPr>
          <a:xfrm>
            <a:off x="548640" y="1115568"/>
            <a:ext cx="10515600" cy="411480"/>
          </a:xfrm>
          <a:prstGeom prst="rect">
            <a:avLst/>
          </a:prstGeom>
          <a:noFill/>
          <a:ln/>
        </p:spPr>
        <p:txBody>
          <a:bodyPr wrap="square" lIns="0" tIns="0" rIns="0" bIns="0" rtlCol="0" anchor="ctr"/>
          <a:lstStyle/>
          <a:p>
            <a:pPr marL="0" indent="0" algn="l">
              <a:buNone/>
            </a:pPr>
            <a:r>
              <a:rPr lang="en-US" sz="1500" i="1" dirty="0">
                <a:solidFill>
                  <a:srgbClr val="4E5E61"/>
                </a:solidFill>
                <a:latin typeface="Calibri" pitchFamily="34" charset="0"/>
                <a:ea typeface="Calibri" pitchFamily="34" charset="-122"/>
                <a:cs typeface="Calibri" pitchFamily="34" charset="-120"/>
              </a:rPr>
              <a:t>Charles Kindleberger: a leading economy underwrites the international system's stability.</a:t>
            </a:r>
            <a:endParaRPr lang="en-US" sz="1500" dirty="0"/>
          </a:p>
        </p:txBody>
      </p:sp>
      <p:sp>
        <p:nvSpPr>
          <p:cNvPr id="4" name="Shape 2"/>
          <p:cNvSpPr/>
          <p:nvPr/>
        </p:nvSpPr>
        <p:spPr>
          <a:xfrm>
            <a:off x="548640" y="1965960"/>
            <a:ext cx="5166360" cy="2377440"/>
          </a:xfrm>
          <a:prstGeom prst="roundRect">
            <a:avLst>
              <a:gd name="adj" fmla="val 2308"/>
            </a:avLst>
          </a:prstGeom>
          <a:solidFill>
            <a:srgbClr val="EDF0F0"/>
          </a:solidFill>
          <a:ln/>
        </p:spPr>
        <p:txBody>
          <a:bodyPr/>
          <a:lstStyle/>
          <a:p>
            <a:endParaRPr lang="en-US"/>
          </a:p>
        </p:txBody>
      </p:sp>
      <p:sp>
        <p:nvSpPr>
          <p:cNvPr id="5" name="Text 3"/>
          <p:cNvSpPr/>
          <p:nvPr/>
        </p:nvSpPr>
        <p:spPr>
          <a:xfrm>
            <a:off x="960120" y="2240280"/>
            <a:ext cx="4343400" cy="822960"/>
          </a:xfrm>
          <a:prstGeom prst="rect">
            <a:avLst/>
          </a:prstGeom>
          <a:noFill/>
          <a:ln/>
        </p:spPr>
        <p:txBody>
          <a:bodyPr wrap="square" lIns="0" tIns="0" rIns="0" bIns="0" rtlCol="0" anchor="ctr"/>
          <a:lstStyle/>
          <a:p>
            <a:pPr marL="0" indent="0" algn="l">
              <a:buNone/>
            </a:pPr>
            <a:r>
              <a:rPr lang="en-US" sz="4000" b="1" dirty="0">
                <a:solidFill>
                  <a:srgbClr val="23373B"/>
                </a:solidFill>
                <a:latin typeface="Cambria" pitchFamily="34" charset="0"/>
                <a:ea typeface="Cambria" pitchFamily="34" charset="-122"/>
                <a:cs typeface="Cambria" pitchFamily="34" charset="-120"/>
              </a:rPr>
              <a:t>1930</a:t>
            </a:r>
            <a:endParaRPr lang="en-US" sz="4000" dirty="0"/>
          </a:p>
        </p:txBody>
      </p:sp>
      <p:sp>
        <p:nvSpPr>
          <p:cNvPr id="6" name="Text 4"/>
          <p:cNvSpPr/>
          <p:nvPr/>
        </p:nvSpPr>
        <p:spPr>
          <a:xfrm>
            <a:off x="960120" y="3200400"/>
            <a:ext cx="4343400" cy="960120"/>
          </a:xfrm>
          <a:prstGeom prst="rect">
            <a:avLst/>
          </a:prstGeom>
          <a:noFill/>
          <a:ln/>
        </p:spPr>
        <p:txBody>
          <a:bodyPr wrap="square" lIns="0" tIns="0" rIns="0" bIns="0" rtlCol="0" anchor="t"/>
          <a:lstStyle/>
          <a:p>
            <a:pPr marL="0" indent="0" algn="l">
              <a:lnSpc>
                <a:spcPct val="115000"/>
              </a:lnSpc>
              <a:buNone/>
            </a:pPr>
            <a:r>
              <a:rPr lang="en-US" sz="1400" dirty="0">
                <a:solidFill>
                  <a:srgbClr val="4E5E61"/>
                </a:solidFill>
                <a:latin typeface="Calibri" pitchFamily="34" charset="0"/>
                <a:ea typeface="Calibri" pitchFamily="34" charset="-122"/>
                <a:cs typeface="Calibri" pitchFamily="34" charset="-120"/>
              </a:rPr>
              <a:t>Smoot-Hawley tariffs worsened the Great Depression — leadership abdicated.</a:t>
            </a:r>
            <a:endParaRPr lang="en-US" sz="1400" dirty="0"/>
          </a:p>
        </p:txBody>
      </p:sp>
      <p:sp>
        <p:nvSpPr>
          <p:cNvPr id="7" name="Shape 5"/>
          <p:cNvSpPr/>
          <p:nvPr/>
        </p:nvSpPr>
        <p:spPr>
          <a:xfrm>
            <a:off x="6080760" y="1965960"/>
            <a:ext cx="5166360" cy="2377440"/>
          </a:xfrm>
          <a:prstGeom prst="roundRect">
            <a:avLst>
              <a:gd name="adj" fmla="val 2308"/>
            </a:avLst>
          </a:prstGeom>
          <a:solidFill>
            <a:srgbClr val="EDF0F0"/>
          </a:solidFill>
          <a:ln/>
        </p:spPr>
        <p:txBody>
          <a:bodyPr/>
          <a:lstStyle/>
          <a:p>
            <a:endParaRPr lang="en-US"/>
          </a:p>
        </p:txBody>
      </p:sp>
      <p:sp>
        <p:nvSpPr>
          <p:cNvPr id="8" name="Text 6"/>
          <p:cNvSpPr/>
          <p:nvPr/>
        </p:nvSpPr>
        <p:spPr>
          <a:xfrm>
            <a:off x="6492240" y="2240280"/>
            <a:ext cx="4343400" cy="822960"/>
          </a:xfrm>
          <a:prstGeom prst="rect">
            <a:avLst/>
          </a:prstGeom>
          <a:noFill/>
          <a:ln/>
        </p:spPr>
        <p:txBody>
          <a:bodyPr wrap="square" lIns="0" tIns="0" rIns="0" bIns="0" rtlCol="0" anchor="ctr"/>
          <a:lstStyle/>
          <a:p>
            <a:pPr marL="0" indent="0" algn="l">
              <a:buNone/>
            </a:pPr>
            <a:r>
              <a:rPr lang="en-US" sz="4000" b="1" dirty="0">
                <a:solidFill>
                  <a:srgbClr val="23373B"/>
                </a:solidFill>
                <a:latin typeface="Cambria" pitchFamily="34" charset="0"/>
                <a:ea typeface="Cambria" pitchFamily="34" charset="-122"/>
                <a:cs typeface="Cambria" pitchFamily="34" charset="-120"/>
              </a:rPr>
              <a:t>1945 →</a:t>
            </a:r>
            <a:endParaRPr lang="en-US" sz="4000" dirty="0"/>
          </a:p>
        </p:txBody>
      </p:sp>
      <p:sp>
        <p:nvSpPr>
          <p:cNvPr id="9" name="Text 7"/>
          <p:cNvSpPr/>
          <p:nvPr/>
        </p:nvSpPr>
        <p:spPr>
          <a:xfrm>
            <a:off x="6492240" y="3200400"/>
            <a:ext cx="4343400" cy="960120"/>
          </a:xfrm>
          <a:prstGeom prst="rect">
            <a:avLst/>
          </a:prstGeom>
          <a:noFill/>
          <a:ln/>
        </p:spPr>
        <p:txBody>
          <a:bodyPr wrap="square" lIns="0" tIns="0" rIns="0" bIns="0" rtlCol="0" anchor="t"/>
          <a:lstStyle/>
          <a:p>
            <a:pPr marL="0" indent="0" algn="l">
              <a:lnSpc>
                <a:spcPct val="115000"/>
              </a:lnSpc>
              <a:buNone/>
            </a:pPr>
            <a:r>
              <a:rPr lang="en-US" sz="1400" dirty="0">
                <a:solidFill>
                  <a:srgbClr val="4E5E61"/>
                </a:solidFill>
                <a:latin typeface="Calibri" pitchFamily="34" charset="0"/>
                <a:ea typeface="Calibri" pitchFamily="34" charset="-122"/>
                <a:cs typeface="Calibri" pitchFamily="34" charset="-120"/>
              </a:rPr>
              <a:t>US economic leadership then anchored the postwar recovery — leadership assumed.</a:t>
            </a:r>
            <a:endParaRPr lang="en-US" sz="1400" dirty="0"/>
          </a:p>
        </p:txBody>
      </p:sp>
      <p:sp>
        <p:nvSpPr>
          <p:cNvPr id="10" name="Text 8"/>
          <p:cNvSpPr/>
          <p:nvPr/>
        </p:nvSpPr>
        <p:spPr>
          <a:xfrm>
            <a:off x="548640" y="4617720"/>
            <a:ext cx="11094415" cy="548640"/>
          </a:xfrm>
          <a:prstGeom prst="rect">
            <a:avLst/>
          </a:prstGeom>
          <a:noFill/>
          <a:ln/>
        </p:spPr>
        <p:txBody>
          <a:bodyPr wrap="square" lIns="0" tIns="0" rIns="0" bIns="0" rtlCol="0" anchor="ctr"/>
          <a:lstStyle/>
          <a:p>
            <a:pPr marL="0" indent="0" algn="l">
              <a:buNone/>
            </a:pPr>
            <a:r>
              <a:rPr lang="en-US" sz="1400" i="1" dirty="0">
                <a:solidFill>
                  <a:srgbClr val="4E5E61"/>
                </a:solidFill>
                <a:latin typeface="Calibri" pitchFamily="34" charset="0"/>
                <a:ea typeface="Calibri" pitchFamily="34" charset="-122"/>
                <a:cs typeface="Calibri" pitchFamily="34" charset="-120"/>
              </a:rPr>
              <a:t>Economic leadership can stabilize the system — or destabilize it. Either way, calculation and incentive (mistaken for benevolence) does the work.</a:t>
            </a:r>
            <a:endParaRPr lang="en-US" sz="1400" dirty="0"/>
          </a:p>
        </p:txBody>
      </p:sp>
      <p:sp>
        <p:nvSpPr>
          <p:cNvPr id="11" name="Text 9"/>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Asia's New Geoeconomics  |  Danny Quah</a:t>
            </a:r>
            <a:endParaRPr lang="en-US" sz="1050" dirty="0"/>
          </a:p>
        </p:txBody>
      </p:sp>
      <p:sp>
        <p:nvSpPr>
          <p:cNvPr id="12" name="Text 10"/>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4E5E61"/>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685800"/>
          </a:xfrm>
          <a:prstGeom prst="rect">
            <a:avLst/>
          </a:prstGeom>
          <a:noFill/>
          <a:ln/>
        </p:spPr>
        <p:txBody>
          <a:bodyPr wrap="square" lIns="0" tIns="0" rIns="0" bIns="0" rtlCol="0" anchor="ctr"/>
          <a:lstStyle/>
          <a:p>
            <a:pPr marL="0" indent="0" algn="l">
              <a:buNone/>
            </a:pPr>
            <a:r>
              <a:rPr lang="en-US" sz="3200" b="1" dirty="0">
                <a:solidFill>
                  <a:srgbClr val="23373B"/>
                </a:solidFill>
                <a:latin typeface="Cambria" pitchFamily="34" charset="0"/>
                <a:ea typeface="Cambria" pitchFamily="34" charset="-122"/>
                <a:cs typeface="Cambria" pitchFamily="34" charset="-120"/>
              </a:rPr>
              <a:t>Shocks</a:t>
            </a:r>
            <a:endParaRPr lang="en-US" sz="3200" dirty="0"/>
          </a:p>
        </p:txBody>
      </p:sp>
      <p:sp>
        <p:nvSpPr>
          <p:cNvPr id="3" name="Text 1"/>
          <p:cNvSpPr/>
          <p:nvPr/>
        </p:nvSpPr>
        <p:spPr>
          <a:xfrm>
            <a:off x="548640" y="1097280"/>
            <a:ext cx="10515600" cy="411480"/>
          </a:xfrm>
          <a:prstGeom prst="rect">
            <a:avLst/>
          </a:prstGeom>
          <a:noFill/>
          <a:ln/>
        </p:spPr>
        <p:txBody>
          <a:bodyPr wrap="square" lIns="0" tIns="0" rIns="0" bIns="0" rtlCol="0" anchor="ctr"/>
          <a:lstStyle/>
          <a:p>
            <a:pPr marL="0" indent="0" algn="l">
              <a:buNone/>
            </a:pPr>
            <a:r>
              <a:rPr lang="en-US" sz="1500" i="1" dirty="0">
                <a:solidFill>
                  <a:srgbClr val="4E5E61"/>
                </a:solidFill>
                <a:latin typeface="Calibri" pitchFamily="34" charset="0"/>
                <a:ea typeface="Calibri" pitchFamily="34" charset="-122"/>
                <a:cs typeface="Calibri" pitchFamily="34" charset="-120"/>
              </a:rPr>
              <a:t>The order that promised gains for all delivered shocks instead.</a:t>
            </a:r>
            <a:endParaRPr lang="en-US" sz="1500" dirty="0"/>
          </a:p>
        </p:txBody>
      </p:sp>
      <p:sp>
        <p:nvSpPr>
          <p:cNvPr id="4" name="Shape 2"/>
          <p:cNvSpPr/>
          <p:nvPr/>
        </p:nvSpPr>
        <p:spPr>
          <a:xfrm>
            <a:off x="548640" y="1920240"/>
            <a:ext cx="5166360" cy="1920240"/>
          </a:xfrm>
          <a:prstGeom prst="roundRect">
            <a:avLst>
              <a:gd name="adj" fmla="val 2857"/>
            </a:avLst>
          </a:prstGeom>
          <a:solidFill>
            <a:srgbClr val="EDF0F0"/>
          </a:solidFill>
          <a:ln/>
        </p:spPr>
        <p:txBody>
          <a:bodyPr/>
          <a:lstStyle/>
          <a:p>
            <a:endParaRPr lang="en-US"/>
          </a:p>
        </p:txBody>
      </p:sp>
      <p:sp>
        <p:nvSpPr>
          <p:cNvPr id="5" name="Text 3"/>
          <p:cNvSpPr/>
          <p:nvPr/>
        </p:nvSpPr>
        <p:spPr>
          <a:xfrm>
            <a:off x="914400" y="2148840"/>
            <a:ext cx="4434840" cy="457200"/>
          </a:xfrm>
          <a:prstGeom prst="rect">
            <a:avLst/>
          </a:prstGeom>
          <a:noFill/>
          <a:ln/>
        </p:spPr>
        <p:txBody>
          <a:bodyPr wrap="square" lIns="0" tIns="0" rIns="0" bIns="0" rtlCol="0" anchor="ctr"/>
          <a:lstStyle/>
          <a:p>
            <a:pPr marL="0" indent="0" algn="l">
              <a:buNone/>
            </a:pPr>
            <a:r>
              <a:rPr lang="en-US" sz="1800" b="1" dirty="0">
                <a:solidFill>
                  <a:srgbClr val="23373B"/>
                </a:solidFill>
                <a:latin typeface="Cambria" pitchFamily="34" charset="0"/>
                <a:ea typeface="Cambria" pitchFamily="34" charset="-122"/>
                <a:cs typeface="Cambria" pitchFamily="34" charset="-120"/>
              </a:rPr>
              <a:t>The “China Shock”  (supply shock)</a:t>
            </a:r>
            <a:endParaRPr lang="en-US" sz="1800" dirty="0"/>
          </a:p>
        </p:txBody>
      </p:sp>
      <p:sp>
        <p:nvSpPr>
          <p:cNvPr id="6" name="Text 4"/>
          <p:cNvSpPr/>
          <p:nvPr/>
        </p:nvSpPr>
        <p:spPr>
          <a:xfrm>
            <a:off x="914400" y="2651760"/>
            <a:ext cx="4434840" cy="1097280"/>
          </a:xfrm>
          <a:prstGeom prst="rect">
            <a:avLst/>
          </a:prstGeom>
          <a:noFill/>
          <a:ln/>
        </p:spPr>
        <p:txBody>
          <a:bodyPr wrap="square" lIns="0" tIns="0" rIns="0" bIns="0" rtlCol="0" anchor="t"/>
          <a:lstStyle/>
          <a:p>
            <a:pPr marL="0" indent="0" algn="l">
              <a:lnSpc>
                <a:spcPct val="115000"/>
              </a:lnSpc>
              <a:buNone/>
            </a:pPr>
            <a:r>
              <a:rPr lang="en-US" sz="1300" i="1" dirty="0">
                <a:solidFill>
                  <a:srgbClr val="4E5E61"/>
                </a:solidFill>
                <a:latin typeface="Calibri" pitchFamily="34" charset="0"/>
                <a:ea typeface="Calibri" pitchFamily="34" charset="-122"/>
                <a:cs typeface="Calibri" pitchFamily="34" charset="-120"/>
              </a:rPr>
              <a:t>“Stealing our jobs, hollowing out our industry, turning into ghost towns what were once thriving middle-class communities.”</a:t>
            </a:r>
            <a:endParaRPr lang="en-US" sz="1300" dirty="0"/>
          </a:p>
        </p:txBody>
      </p:sp>
      <p:sp>
        <p:nvSpPr>
          <p:cNvPr id="7" name="Shape 5"/>
          <p:cNvSpPr/>
          <p:nvPr/>
        </p:nvSpPr>
        <p:spPr>
          <a:xfrm>
            <a:off x="6080760" y="1920240"/>
            <a:ext cx="5166360" cy="1920240"/>
          </a:xfrm>
          <a:prstGeom prst="roundRect">
            <a:avLst>
              <a:gd name="adj" fmla="val 2857"/>
            </a:avLst>
          </a:prstGeom>
          <a:solidFill>
            <a:srgbClr val="EDF0F0"/>
          </a:solidFill>
          <a:ln/>
        </p:spPr>
        <p:txBody>
          <a:bodyPr/>
          <a:lstStyle/>
          <a:p>
            <a:endParaRPr lang="en-US"/>
          </a:p>
        </p:txBody>
      </p:sp>
      <p:sp>
        <p:nvSpPr>
          <p:cNvPr id="8" name="Text 6"/>
          <p:cNvSpPr/>
          <p:nvPr/>
        </p:nvSpPr>
        <p:spPr>
          <a:xfrm>
            <a:off x="6446520" y="2148840"/>
            <a:ext cx="4434840" cy="457200"/>
          </a:xfrm>
          <a:prstGeom prst="rect">
            <a:avLst/>
          </a:prstGeom>
          <a:noFill/>
          <a:ln/>
        </p:spPr>
        <p:txBody>
          <a:bodyPr wrap="square" lIns="0" tIns="0" rIns="0" bIns="0" rtlCol="0" anchor="ctr"/>
          <a:lstStyle/>
          <a:p>
            <a:pPr marL="0" indent="0" algn="l">
              <a:buNone/>
            </a:pPr>
            <a:r>
              <a:rPr lang="en-US" sz="1800" b="1" dirty="0">
                <a:solidFill>
                  <a:srgbClr val="23373B"/>
                </a:solidFill>
                <a:latin typeface="Cambria" pitchFamily="34" charset="0"/>
                <a:ea typeface="Cambria" pitchFamily="34" charset="-122"/>
                <a:cs typeface="Cambria" pitchFamily="34" charset="-120"/>
              </a:rPr>
              <a:t>The “US Shock” (demand shock)</a:t>
            </a:r>
            <a:endParaRPr lang="en-US" sz="1800" dirty="0"/>
          </a:p>
        </p:txBody>
      </p:sp>
      <p:sp>
        <p:nvSpPr>
          <p:cNvPr id="9" name="Text 7"/>
          <p:cNvSpPr/>
          <p:nvPr/>
        </p:nvSpPr>
        <p:spPr>
          <a:xfrm>
            <a:off x="6446520" y="2651760"/>
            <a:ext cx="4434840" cy="1188720"/>
          </a:xfrm>
          <a:prstGeom prst="rect">
            <a:avLst/>
          </a:prstGeom>
          <a:noFill/>
          <a:ln/>
        </p:spPr>
        <p:txBody>
          <a:bodyPr wrap="square" lIns="0" tIns="0" rIns="0" bIns="0" rtlCol="0" anchor="t"/>
          <a:lstStyle/>
          <a:p>
            <a:pPr>
              <a:lnSpc>
                <a:spcPct val="115000"/>
              </a:lnSpc>
            </a:pPr>
            <a:r>
              <a:rPr lang="en-US" sz="1300" i="1" dirty="0">
                <a:solidFill>
                  <a:srgbClr val="4E5E61"/>
                </a:solidFill>
                <a:latin typeface="Calibri" pitchFamily="34" charset="0"/>
                <a:ea typeface="Calibri" pitchFamily="34" charset="-122"/>
                <a:cs typeface="Calibri" pitchFamily="34" charset="-120"/>
              </a:rPr>
              <a:t>Power-asymmetric unilateralism — the hegemon turns the rules it built against the system it built, “from global insurer to extractor of profit. Instead of the insurer securing its clients against external threats, (…) the threat against which insurance is sold comes as much from the insurer as from the global environment.”</a:t>
            </a:r>
            <a:endParaRPr lang="en-US" sz="1300" dirty="0"/>
          </a:p>
        </p:txBody>
      </p:sp>
      <p:sp>
        <p:nvSpPr>
          <p:cNvPr id="10" name="Shape 8"/>
          <p:cNvSpPr/>
          <p:nvPr/>
        </p:nvSpPr>
        <p:spPr>
          <a:xfrm>
            <a:off x="548640" y="4160520"/>
            <a:ext cx="11094415" cy="1600200"/>
          </a:xfrm>
          <a:prstGeom prst="roundRect">
            <a:avLst>
              <a:gd name="adj" fmla="val 3429"/>
            </a:avLst>
          </a:prstGeom>
          <a:solidFill>
            <a:srgbClr val="2F4246"/>
          </a:solidFill>
          <a:ln/>
        </p:spPr>
        <p:txBody>
          <a:bodyPr/>
          <a:lstStyle/>
          <a:p>
            <a:endParaRPr lang="en-US"/>
          </a:p>
        </p:txBody>
      </p:sp>
      <p:sp>
        <p:nvSpPr>
          <p:cNvPr id="11" name="Text 9"/>
          <p:cNvSpPr/>
          <p:nvPr/>
        </p:nvSpPr>
        <p:spPr>
          <a:xfrm>
            <a:off x="1005840" y="4389120"/>
            <a:ext cx="3657600" cy="320040"/>
          </a:xfrm>
          <a:prstGeom prst="rect">
            <a:avLst/>
          </a:prstGeom>
          <a:noFill/>
          <a:ln/>
        </p:spPr>
        <p:txBody>
          <a:bodyPr wrap="square" lIns="0" tIns="0" rIns="0" bIns="0" rtlCol="0" anchor="ctr"/>
          <a:lstStyle/>
          <a:p>
            <a:pPr marL="0" indent="0" algn="l">
              <a:buNone/>
            </a:pPr>
            <a:r>
              <a:rPr lang="en-US" sz="1200" b="1" kern="0" spc="200" dirty="0">
                <a:solidFill>
                  <a:srgbClr val="EB811B"/>
                </a:solidFill>
                <a:latin typeface="Calibri" pitchFamily="34" charset="0"/>
                <a:ea typeface="Calibri" pitchFamily="34" charset="-122"/>
                <a:cs typeface="Calibri" pitchFamily="34" charset="-120"/>
              </a:rPr>
              <a:t>THE TURN</a:t>
            </a:r>
            <a:endParaRPr lang="en-US" sz="1200" dirty="0"/>
          </a:p>
        </p:txBody>
      </p:sp>
      <p:sp>
        <p:nvSpPr>
          <p:cNvPr id="12" name="Text 10"/>
          <p:cNvSpPr/>
          <p:nvPr/>
        </p:nvSpPr>
        <p:spPr>
          <a:xfrm>
            <a:off x="1005840" y="4709160"/>
            <a:ext cx="10180015" cy="914400"/>
          </a:xfrm>
          <a:prstGeom prst="rect">
            <a:avLst/>
          </a:prstGeom>
          <a:noFill/>
          <a:ln/>
        </p:spPr>
        <p:txBody>
          <a:bodyPr wrap="square" lIns="0" tIns="0" rIns="0" bIns="0" rtlCol="0" anchor="t"/>
          <a:lstStyle/>
          <a:p>
            <a:pPr marL="0" indent="0" algn="l">
              <a:lnSpc>
                <a:spcPct val="115000"/>
              </a:lnSpc>
              <a:buNone/>
            </a:pPr>
            <a:r>
              <a:rPr lang="en-US" sz="2000" b="1" dirty="0">
                <a:solidFill>
                  <a:srgbClr val="FFFFFF"/>
                </a:solidFill>
                <a:latin typeface="Cambria" pitchFamily="34" charset="0"/>
                <a:ea typeface="Cambria" pitchFamily="34" charset="-122"/>
                <a:cs typeface="Cambria" pitchFamily="34" charset="-120"/>
              </a:rPr>
              <a:t>Multilateralism is an expensive public good — once you’re no longer dominant. Multipolarity makes the bill too high to pay alone.</a:t>
            </a:r>
            <a:endParaRPr lang="en-US" sz="2000" dirty="0"/>
          </a:p>
        </p:txBody>
      </p:sp>
      <p:sp>
        <p:nvSpPr>
          <p:cNvPr id="13" name="Text 11"/>
          <p:cNvSpPr/>
          <p:nvPr/>
        </p:nvSpPr>
        <p:spPr>
          <a:xfrm>
            <a:off x="548640" y="6400800"/>
            <a:ext cx="6400800" cy="320040"/>
          </a:xfrm>
          <a:prstGeom prst="rect">
            <a:avLst/>
          </a:prstGeom>
          <a:noFill/>
          <a:ln/>
        </p:spPr>
        <p:txBody>
          <a:bodyPr wrap="square" lIns="0" tIns="0" rIns="0" bIns="0" rtlCol="0" anchor="ctr"/>
          <a:lstStyle/>
          <a:p>
            <a:pPr marL="0" indent="0" algn="l">
              <a:buNone/>
            </a:pPr>
            <a:r>
              <a:rPr lang="en-US" sz="1050" dirty="0">
                <a:solidFill>
                  <a:srgbClr val="4E5E61"/>
                </a:solidFill>
                <a:latin typeface="Calibri" pitchFamily="34" charset="0"/>
                <a:ea typeface="Calibri" pitchFamily="34" charset="-122"/>
                <a:cs typeface="Calibri" pitchFamily="34" charset="-120"/>
              </a:rPr>
              <a:t>Asia's New Geoeconomics  |  Danny Quah</a:t>
            </a:r>
            <a:endParaRPr lang="en-US" sz="1050" dirty="0"/>
          </a:p>
        </p:txBody>
      </p:sp>
      <p:sp>
        <p:nvSpPr>
          <p:cNvPr id="14" name="Text 12"/>
          <p:cNvSpPr/>
          <p:nvPr/>
        </p:nvSpPr>
        <p:spPr>
          <a:xfrm>
            <a:off x="11094415" y="6400800"/>
            <a:ext cx="548640" cy="320040"/>
          </a:xfrm>
          <a:prstGeom prst="rect">
            <a:avLst/>
          </a:prstGeom>
          <a:noFill/>
          <a:ln/>
        </p:spPr>
        <p:txBody>
          <a:bodyPr wrap="square" lIns="0" tIns="0" rIns="0" bIns="0" rtlCol="0" anchor="ctr"/>
          <a:lstStyle/>
          <a:p>
            <a:pPr marL="0" indent="0" algn="r">
              <a:buNone/>
            </a:pPr>
            <a:r>
              <a:rPr lang="en-US" sz="1050" dirty="0">
                <a:solidFill>
                  <a:srgbClr val="4E5E61"/>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23373B"/>
        </a:solidFill>
        <a:effectLst/>
      </p:bgPr>
    </p:bg>
    <p:spTree>
      <p:nvGrpSpPr>
        <p:cNvPr id="1" name=""/>
        <p:cNvGrpSpPr/>
        <p:nvPr/>
      </p:nvGrpSpPr>
      <p:grpSpPr>
        <a:xfrm>
          <a:off x="0" y="0"/>
          <a:ext cx="0" cy="0"/>
          <a:chOff x="0" y="0"/>
          <a:chExt cx="0" cy="0"/>
        </a:xfrm>
      </p:grpSpPr>
      <p:sp>
        <p:nvSpPr>
          <p:cNvPr id="2" name="Text 0"/>
          <p:cNvSpPr/>
          <p:nvPr/>
        </p:nvSpPr>
        <p:spPr>
          <a:xfrm>
            <a:off x="548640" y="777240"/>
            <a:ext cx="10515600" cy="1188720"/>
          </a:xfrm>
          <a:prstGeom prst="rect">
            <a:avLst/>
          </a:prstGeom>
          <a:noFill/>
          <a:ln/>
        </p:spPr>
        <p:txBody>
          <a:bodyPr wrap="square" lIns="0" tIns="0" rIns="0" bIns="0" rtlCol="0" anchor="t"/>
          <a:lstStyle/>
          <a:p>
            <a:pPr marL="0" indent="0" algn="l">
              <a:buNone/>
            </a:pPr>
            <a:r>
              <a:rPr lang="en-US" sz="3400" b="1" dirty="0">
                <a:solidFill>
                  <a:srgbClr val="FFFFFF"/>
                </a:solidFill>
                <a:latin typeface="Cambria" pitchFamily="34" charset="0"/>
                <a:ea typeface="Cambria" pitchFamily="34" charset="-122"/>
                <a:cs typeface="Cambria" pitchFamily="34" charset="-120"/>
              </a:rPr>
              <a:t>Geopolitics Is Important Again.</a:t>
            </a:r>
            <a:endParaRPr lang="en-US" sz="3400" dirty="0"/>
          </a:p>
        </p:txBody>
      </p:sp>
      <p:sp>
        <p:nvSpPr>
          <p:cNvPr id="3" name="Shape 1"/>
          <p:cNvSpPr/>
          <p:nvPr/>
        </p:nvSpPr>
        <p:spPr>
          <a:xfrm>
            <a:off x="548640" y="1874520"/>
            <a:ext cx="1508760" cy="0"/>
          </a:xfrm>
          <a:prstGeom prst="line">
            <a:avLst/>
          </a:prstGeom>
          <a:noFill/>
          <a:ln w="38100">
            <a:solidFill>
              <a:srgbClr val="EB811B"/>
            </a:solidFill>
            <a:prstDash val="solid"/>
          </a:ln>
        </p:spPr>
        <p:txBody>
          <a:bodyPr/>
          <a:lstStyle/>
          <a:p>
            <a:endParaRPr lang="en-US"/>
          </a:p>
        </p:txBody>
      </p:sp>
      <p:sp>
        <p:nvSpPr>
          <p:cNvPr id="4" name="Text 2"/>
          <p:cNvSpPr/>
          <p:nvPr/>
        </p:nvSpPr>
        <p:spPr>
          <a:xfrm>
            <a:off x="548640" y="2194560"/>
            <a:ext cx="10332720" cy="914400"/>
          </a:xfrm>
          <a:prstGeom prst="rect">
            <a:avLst/>
          </a:prstGeom>
          <a:noFill/>
          <a:ln/>
        </p:spPr>
        <p:txBody>
          <a:bodyPr wrap="square" lIns="0" tIns="0" rIns="0" bIns="0" rtlCol="0" anchor="t"/>
          <a:lstStyle/>
          <a:p>
            <a:pPr marL="0" indent="0" algn="l">
              <a:lnSpc>
                <a:spcPct val="125000"/>
              </a:lnSpc>
              <a:buNone/>
            </a:pPr>
            <a:r>
              <a:rPr lang="en-US" sz="1650" b="1" dirty="0">
                <a:solidFill>
                  <a:srgbClr val="EB811B"/>
                </a:solidFill>
                <a:latin typeface="Calibri" pitchFamily="34" charset="0"/>
                <a:ea typeface="Calibri" pitchFamily="34" charset="-122"/>
                <a:cs typeface="Calibri" pitchFamily="34" charset="-120"/>
              </a:rPr>
              <a:t>Now:  </a:t>
            </a:r>
            <a:r>
              <a:rPr lang="en-US" sz="1650" dirty="0">
                <a:solidFill>
                  <a:srgbClr val="B9BFC1"/>
                </a:solidFill>
                <a:latin typeface="Calibri" pitchFamily="34" charset="0"/>
                <a:ea typeface="Calibri" pitchFamily="34" charset="-122"/>
                <a:cs typeface="Calibri" pitchFamily="34" charset="-120"/>
              </a:rPr>
              <a:t>Mercantilism, cross-border cooperation failures, and power-based disagreement between nation states.</a:t>
            </a:r>
            <a:endParaRPr lang="en-US" sz="1650" dirty="0"/>
          </a:p>
        </p:txBody>
      </p:sp>
      <p:sp>
        <p:nvSpPr>
          <p:cNvPr id="5" name="Text 3"/>
          <p:cNvSpPr/>
          <p:nvPr/>
        </p:nvSpPr>
        <p:spPr>
          <a:xfrm>
            <a:off x="548640" y="3154680"/>
            <a:ext cx="10332720" cy="914400"/>
          </a:xfrm>
          <a:prstGeom prst="rect">
            <a:avLst/>
          </a:prstGeom>
          <a:noFill/>
          <a:ln/>
        </p:spPr>
        <p:txBody>
          <a:bodyPr wrap="square" lIns="0" tIns="0" rIns="0" bIns="0" rtlCol="0" anchor="t"/>
          <a:lstStyle/>
          <a:p>
            <a:pPr marL="0" indent="0" algn="l">
              <a:lnSpc>
                <a:spcPct val="125000"/>
              </a:lnSpc>
              <a:buNone/>
            </a:pPr>
            <a:r>
              <a:rPr lang="en-US" sz="1650" b="1" dirty="0">
                <a:solidFill>
                  <a:srgbClr val="EB811B"/>
                </a:solidFill>
                <a:latin typeface="Calibri" pitchFamily="34" charset="0"/>
                <a:ea typeface="Calibri" pitchFamily="34" charset="-122"/>
                <a:cs typeface="Calibri" pitchFamily="34" charset="-120"/>
              </a:rPr>
              <a:t>The earlier aspiration:  </a:t>
            </a:r>
            <a:r>
              <a:rPr lang="en-US" sz="1650" dirty="0">
                <a:solidFill>
                  <a:srgbClr val="B9BFC1"/>
                </a:solidFill>
                <a:latin typeface="Calibri" pitchFamily="34" charset="0"/>
                <a:ea typeface="Calibri" pitchFamily="34" charset="-122"/>
                <a:cs typeface="Calibri" pitchFamily="34" charset="-120"/>
              </a:rPr>
              <a:t>A rules-based multilateral order, and globalisation, built under American leadership.</a:t>
            </a:r>
            <a:endParaRPr lang="en-US" sz="1650" dirty="0"/>
          </a:p>
        </p:txBody>
      </p:sp>
      <p:sp>
        <p:nvSpPr>
          <p:cNvPr id="6" name="Text 4"/>
          <p:cNvSpPr/>
          <p:nvPr/>
        </p:nvSpPr>
        <p:spPr>
          <a:xfrm>
            <a:off x="548640" y="4114800"/>
            <a:ext cx="10332720" cy="914400"/>
          </a:xfrm>
          <a:prstGeom prst="rect">
            <a:avLst/>
          </a:prstGeom>
          <a:noFill/>
          <a:ln/>
        </p:spPr>
        <p:txBody>
          <a:bodyPr wrap="square" lIns="0" tIns="0" rIns="0" bIns="0" rtlCol="0" anchor="t"/>
          <a:lstStyle/>
          <a:p>
            <a:pPr marL="0" indent="0" algn="l">
              <a:lnSpc>
                <a:spcPct val="125000"/>
              </a:lnSpc>
              <a:buNone/>
            </a:pPr>
            <a:r>
              <a:rPr lang="en-US" sz="1650" b="1" dirty="0">
                <a:solidFill>
                  <a:srgbClr val="EB811B"/>
                </a:solidFill>
                <a:latin typeface="Calibri" pitchFamily="34" charset="0"/>
                <a:ea typeface="Calibri" pitchFamily="34" charset="-122"/>
                <a:cs typeface="Calibri" pitchFamily="34" charset="-120"/>
              </a:rPr>
              <a:t>The open question:  </a:t>
            </a:r>
            <a:r>
              <a:rPr lang="en-US" sz="1650" dirty="0">
                <a:solidFill>
                  <a:srgbClr val="B9BFC1"/>
                </a:solidFill>
                <a:latin typeface="Calibri" pitchFamily="34" charset="0"/>
                <a:ea typeface="Calibri" pitchFamily="34" charset="-122"/>
                <a:cs typeface="Calibri" pitchFamily="34" charset="-120"/>
              </a:rPr>
              <a:t>Where do small states fit — and how do they act — in what comes next?</a:t>
            </a:r>
            <a:endParaRPr lang="en-US" sz="1650" dirty="0"/>
          </a:p>
        </p:txBody>
      </p:sp>
      <p:sp>
        <p:nvSpPr>
          <p:cNvPr id="7" name="Text 5"/>
          <p:cNvSpPr/>
          <p:nvPr/>
        </p:nvSpPr>
        <p:spPr>
          <a:xfrm>
            <a:off x="548640" y="6309360"/>
            <a:ext cx="9144000" cy="365760"/>
          </a:xfrm>
          <a:prstGeom prst="rect">
            <a:avLst/>
          </a:prstGeom>
          <a:noFill/>
          <a:ln/>
        </p:spPr>
        <p:txBody>
          <a:bodyPr wrap="square" lIns="0" tIns="0" rIns="0" bIns="0" rtlCol="0" anchor="ctr"/>
          <a:lstStyle/>
          <a:p>
            <a:pPr marL="0" indent="0" algn="l">
              <a:buNone/>
            </a:pPr>
            <a:r>
              <a:rPr lang="en-US" sz="1150" dirty="0">
                <a:solidFill>
                  <a:srgbClr val="B9BFC1"/>
                </a:solidFill>
                <a:latin typeface="Calibri" pitchFamily="34" charset="0"/>
                <a:ea typeface="Calibri" pitchFamily="34" charset="-122"/>
                <a:cs typeface="Calibri" pitchFamily="34" charset="-120"/>
              </a:rPr>
              <a:t>Danny Quah  |  Li Ka Shing Professor in Economics, Lee Kuan Yew School of Public Policy, NUS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990</Words>
  <Application>Microsoft Macintosh PowerPoint</Application>
  <PresentationFormat>Widescreen</PresentationFormat>
  <Paragraphs>128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Danny Quah</cp:lastModifiedBy>
  <cp:revision>11</cp:revision>
  <dcterms:created xsi:type="dcterms:W3CDTF">2026-08-16T22:41:16Z</dcterms:created>
  <dcterms:modified xsi:type="dcterms:W3CDTF">2026-08-17T03:42:32Z</dcterms:modified>
</cp:coreProperties>
</file>