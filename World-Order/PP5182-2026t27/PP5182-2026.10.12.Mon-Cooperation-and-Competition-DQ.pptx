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cooperation and leadership are not mutually exclusive. Ask which cooperation needs leadership to begin or persist.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questions frame the lecture; do not prejudge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what the two animal examples establish. Starlings: long-term reciprocal helping. Octopus-fish: complementary hunting and policing; not identical to human political cooperation.
[Sources]
Columbia University, SciTechDaily, 25 May 2025; BBC Newsround, 24 Sep 2024.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Discussion: how do incentives and repeated contact differ? Is discipline necessarily sovereign enforcement?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Hobbes: state of war is not perpetual fighting; it is absence of credible assurance. His position is more nuanced than asserting cooperation is logically impossible.
[Sources]
Hobbes, Leviathan (1651), ch. 13.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Locke the law of nature binds before government; government remedies inconveniences in decentralized enforcement.
[Sources]
Locke, Second Treatise of Government (1690), ch.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conflate international order with a Lockean world government. The bargain constitutionalises an asymmetry, but does not abolish it.
[Sources]
Ikenberry, After Victory (2001); A World Safe for Democracy (2020).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Payoffs as requested: CC (2,2), CD (0,3), DC (3,0), DD (1,1). Ask students to find each best response.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one shot, defect strictly dominates. Mutual defection is unique equilibrium, but Pareto inferior to mutual cooperation.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discount factor 0 ≤ δ &lt; 1. For finite known endpoint backward induction unravels this standard game.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Explicit grim-trigger strategy: cooperate initially; after any observed defection, defect forever. The punishment path DD gives each player 1 per period and is itself an equilibrium.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left-to-right. Grim trigger already defined: cooperation gives 2 every period; defection gives 3 immediately then 1 forever. Geometric series S=1+δ+δ²+... and δS=δ+δ²+..., hence (1−δ)S=1. Cooperation if 2/(1−δ) ≥ 3+δ/(1−δ), i.e. δ≥1/2. The condition assumes 0≤δ&lt;1 and infinite or uncertain horizon.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 equilibrium selection and assurance. This is where institutions, expectations, and leadership can matter even though leadership is not logically required for cooperative equilibrium.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proposed reverse causal direction complements rather than refutes Ikenberry. Trade can build order but interdependence may be weaponised.
[Sources]
Danny Quah, Trade Builds Order,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Mellsop surveys over 60 experts. CPTPP proceeded after US withdrew from original TPP; nevertheless new initiatives may require plural regional leadership. The layered illustration shows different cooperation instruments, not a necessary hierarchy.
[Sources]
Jane Mellsop, Asia Society Policy Institute, Jan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Multilateral enough is a functional definition, not merely membership count. MPIA preserves a WTO appeal function for participating members.
[Sources]
Danny Quah, A Cooperative Advantage, IMF Finance &amp; Development,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as a brief diagnostic rather than a new theory. Different games pose different challenges.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Return to opening. Cooperation and leadership are not exclusive. The question is which ordering functions can survive withdrawal or obstruction by hegemonic leadership.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2338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6501384"/>
            <a:ext cx="6126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CC9C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PP5182: Cooperation and Competition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420856" y="6483096"/>
            <a:ext cx="393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CC9C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/ 18</a:t>
            </a:r>
            <a:endParaRPr lang="en-US" sz="900" dirty="0"/>
          </a:p>
        </p:txBody>
      </p:sp>
      <p:sp>
        <p:nvSpPr>
          <p:cNvPr id="4" name="Text 2"/>
          <p:cNvSpPr/>
          <p:nvPr>
            <p:ph idx="102" hasCustomPrompt="1"/>
          </p:nvPr>
        </p:nvSpPr>
        <p:spPr>
          <a:xfrm>
            <a:off x="11109960" y="6473952"/>
            <a:ext cx="274320" cy="20116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900" dirty="0">
                <a:solidFill>
                  <a:srgbClr val="BCC9C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defRPr>
            </a:lvl1pPr>
          </a:lstStyle>
          <a:p>
            <a:pPr indent="0" marL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CC9CB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CC9CB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38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53312"/>
            <a:ext cx="10789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6F8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PP5182: Cooperation and Competition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58368" y="246888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55B8C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Can cooperation help produce order?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3337560"/>
            <a:ext cx="6766560" cy="0"/>
          </a:xfrm>
          <a:prstGeom prst="line">
            <a:avLst/>
          </a:prstGeom>
          <a:noFill/>
          <a:ln w="25400">
            <a:solidFill>
              <a:srgbClr val="D6B0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3822192"/>
            <a:ext cx="9144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CC9C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Danny Quah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BCC9C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Lee Kuan Yew School of Public Policy, NUS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BCC9C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12 October 2026</a:t>
            </a:r>
            <a:endParaRPr lang="en-US" sz="1700" dirty="0"/>
          </a:p>
        </p:txBody>
      </p:sp>
      <p:sp>
        <p:nvSpPr>
          <p:cNvPr id="7" name="Text 2"/>
          <p:cNvSpPr/>
          <p:nvPr>
            <p:ph idx="102" hasCustomPrompt="1"/>
          </p:nvPr>
        </p:nvSpPr>
        <p:spPr>
          <a:xfrm>
            <a:off x="11109960" y="647395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CC9CB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338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246888"/>
            <a:ext cx="11247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50" dirty="0">
                <a:solidFill>
                  <a:srgbClr val="F6F8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question</a:t>
            </a:r>
            <a:endParaRPr lang="en-US" sz="2550" dirty="0"/>
          </a:p>
        </p:txBody>
      </p:sp>
      <p:sp>
        <p:nvSpPr>
          <p:cNvPr id="3" name="Shape 1"/>
          <p:cNvSpPr/>
          <p:nvPr/>
        </p:nvSpPr>
        <p:spPr>
          <a:xfrm>
            <a:off x="420624" y="850392"/>
            <a:ext cx="11301984" cy="0"/>
          </a:xfrm>
          <a:prstGeom prst="line">
            <a:avLst/>
          </a:prstGeom>
          <a:noFill/>
          <a:ln w="13970">
            <a:solidFill>
              <a:srgbClr val="D6B0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969264"/>
            <a:ext cx="1120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CC9C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Cooperation is not the opposite of leadership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10789920" cy="859536"/>
          </a:xfrm>
          <a:prstGeom prst="roundRect">
            <a:avLst>
              <a:gd name="adj" fmla="val 9574"/>
            </a:avLst>
          </a:prstGeom>
          <a:solidFill>
            <a:srgbClr val="1C2D30"/>
          </a:solidFill>
          <a:ln w="8255">
            <a:solidFill>
              <a:srgbClr val="6377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" y="1764792"/>
            <a:ext cx="102412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F6F8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Which cooperation requires leadership to begin?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10789920" cy="859536"/>
          </a:xfrm>
          <a:prstGeom prst="roundRect">
            <a:avLst>
              <a:gd name="adj" fmla="val 9574"/>
            </a:avLst>
          </a:prstGeom>
          <a:solidFill>
            <a:srgbClr val="1C2D30"/>
          </a:solidFill>
          <a:ln w="8255">
            <a:solidFill>
              <a:srgbClr val="6377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976" y="2907792"/>
            <a:ext cx="102412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F6F8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Which requires leadership to continue?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640080" y="3886200"/>
            <a:ext cx="10789920" cy="859536"/>
          </a:xfrm>
          <a:prstGeom prst="roundRect">
            <a:avLst>
              <a:gd name="adj" fmla="val 9574"/>
            </a:avLst>
          </a:prstGeom>
          <a:solidFill>
            <a:srgbClr val="1C2D30"/>
          </a:solidFill>
          <a:ln w="8255">
            <a:solidFill>
              <a:srgbClr val="6377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4050792"/>
            <a:ext cx="102412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55B8C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Which can sustain itself through incentives?</a:t>
            </a:r>
            <a:endParaRPr lang="en-US" sz="2300" dirty="0"/>
          </a:p>
        </p:txBody>
      </p:sp>
      <p:sp>
        <p:nvSpPr>
          <p:cNvPr id="12" name="Text 2"/>
          <p:cNvSpPr/>
          <p:nvPr>
            <p:ph idx="102" hasCustomPrompt="1"/>
          </p:nvPr>
        </p:nvSpPr>
        <p:spPr>
          <a:xfrm>
            <a:off x="11109960" y="647395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CC9CB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338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246888"/>
            <a:ext cx="11247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50" dirty="0">
                <a:solidFill>
                  <a:srgbClr val="F6F8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Cooperation without a common sovereign</a:t>
            </a:r>
            <a:endParaRPr lang="en-US" sz="2550" dirty="0"/>
          </a:p>
        </p:txBody>
      </p:sp>
      <p:sp>
        <p:nvSpPr>
          <p:cNvPr id="3" name="Shape 1"/>
          <p:cNvSpPr/>
          <p:nvPr/>
        </p:nvSpPr>
        <p:spPr>
          <a:xfrm>
            <a:off x="420624" y="850392"/>
            <a:ext cx="11301984" cy="0"/>
          </a:xfrm>
          <a:prstGeom prst="line">
            <a:avLst/>
          </a:prstGeom>
          <a:noFill/>
          <a:ln w="13970">
            <a:solidFill>
              <a:srgbClr val="D6B0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969264"/>
            <a:ext cx="1120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CC9C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Two mechanisms, two species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85216" y="1536192"/>
            <a:ext cx="5404104" cy="4462272"/>
          </a:xfrm>
          <a:prstGeom prst="roundRect">
            <a:avLst>
              <a:gd name="adj" fmla="val 1844"/>
            </a:avLst>
          </a:prstGeom>
          <a:solidFill>
            <a:srgbClr val="1C2D30"/>
          </a:solidFill>
          <a:ln w="8255">
            <a:solidFill>
              <a:srgbClr val="6377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173736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6F8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Starlings: long-term bonds</a:t>
            </a:r>
            <a:endParaRPr lang="en-US" sz="1900" dirty="0"/>
          </a:p>
        </p:txBody>
      </p:sp>
      <p:pic>
        <p:nvPicPr>
          <p:cNvPr id="7" name="Image 0" descr="/mnt/data/cooperation_revision/2025.05.25-Columbia-University-Starlings-Long-Term-Friendships-SciTechDai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9579" y="2304288"/>
            <a:ext cx="1877091" cy="23134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86384" y="4873752"/>
            <a:ext cx="4983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CC9C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Repeated contact, reciprocal helping, and social relationships.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181344" y="1536192"/>
            <a:ext cx="5404104" cy="4462272"/>
          </a:xfrm>
          <a:prstGeom prst="roundRect">
            <a:avLst>
              <a:gd name="adj" fmla="val 1844"/>
            </a:avLst>
          </a:prstGeom>
          <a:solidFill>
            <a:srgbClr val="1C2D30"/>
          </a:solidFill>
          <a:ln w="8255">
            <a:solidFill>
              <a:srgbClr val="63777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64224" y="173736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6F8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Octopus + fish: joint hunting</a:t>
            </a:r>
            <a:endParaRPr lang="en-US" sz="1900" dirty="0"/>
          </a:p>
        </p:txBody>
      </p:sp>
      <p:pic>
        <p:nvPicPr>
          <p:cNvPr id="11" name="Image 1" descr="/mnt/data/cooperation_revision/2024.09-BBC-Octopuses-fish-tea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1673" y="2304288"/>
            <a:ext cx="1705159" cy="23134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382512" y="4873752"/>
            <a:ext cx="4983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CC9C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Complementary skills, immediate gains, and decentralised discipline.</a:t>
            </a:r>
            <a:endParaRPr lang="en-US" sz="1600" dirty="0"/>
          </a:p>
        </p:txBody>
      </p:sp>
      <p:sp>
        <p:nvSpPr>
          <p:cNvPr id="14" name="Text 2"/>
          <p:cNvSpPr/>
          <p:nvPr>
            <p:ph idx="102" hasCustomPrompt="1"/>
          </p:nvPr>
        </p:nvSpPr>
        <p:spPr>
          <a:xfrm>
            <a:off x="11109960" y="647395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CC9CB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338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246888"/>
            <a:ext cx="11247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50" dirty="0">
                <a:solidFill>
                  <a:srgbClr val="F6F8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Discussion break</a:t>
            </a:r>
            <a:endParaRPr lang="en-US" sz="2550" dirty="0"/>
          </a:p>
        </p:txBody>
      </p:sp>
      <p:sp>
        <p:nvSpPr>
          <p:cNvPr id="3" name="Shape 1"/>
          <p:cNvSpPr/>
          <p:nvPr/>
        </p:nvSpPr>
        <p:spPr>
          <a:xfrm>
            <a:off x="420624" y="850392"/>
            <a:ext cx="11301984" cy="0"/>
          </a:xfrm>
          <a:prstGeom prst="line">
            <a:avLst/>
          </a:prstGeom>
          <a:noFill/>
          <a:ln w="13970">
            <a:solidFill>
              <a:srgbClr val="D6B0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969264"/>
            <a:ext cx="1120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CC9C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What do the animal examples establish?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737360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5B8C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Both cooperate without a common sovereign.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04088" y="2761488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F6F8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Starlings: repeated relationships and reciprocity.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04088" y="3584448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F6F8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Octopus and fish: complementary interests in a task.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694944" y="49834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6B04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Same outcome; different mechanisms.</a:t>
            </a:r>
            <a:endParaRPr lang="en-US" sz="2400" dirty="0"/>
          </a:p>
        </p:txBody>
      </p:sp>
      <p:sp>
        <p:nvSpPr>
          <p:cNvPr id="10" name="Text 2"/>
          <p:cNvSpPr/>
          <p:nvPr>
            <p:ph idx="102" hasCustomPrompt="1"/>
          </p:nvPr>
        </p:nvSpPr>
        <p:spPr>
          <a:xfrm>
            <a:off x="11109960" y="647395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CC9CB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338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246888"/>
            <a:ext cx="11247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50" dirty="0">
                <a:solidFill>
                  <a:srgbClr val="F6F8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Hobbes: why peace is precarious</a:t>
            </a:r>
            <a:endParaRPr lang="en-US" sz="2550" dirty="0"/>
          </a:p>
        </p:txBody>
      </p:sp>
      <p:sp>
        <p:nvSpPr>
          <p:cNvPr id="3" name="Shape 1"/>
          <p:cNvSpPr/>
          <p:nvPr/>
        </p:nvSpPr>
        <p:spPr>
          <a:xfrm>
            <a:off x="420624" y="850392"/>
            <a:ext cx="11301984" cy="0"/>
          </a:xfrm>
          <a:prstGeom prst="line">
            <a:avLst/>
          </a:prstGeom>
          <a:noFill/>
          <a:ln w="13970">
            <a:solidFill>
              <a:srgbClr val="D6B0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969264"/>
            <a:ext cx="1120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CC9C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Leviathan (1651), Chapter 13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67512" y="155448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6F8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Without a common power, each fears that others will defect.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04088" y="2834640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6F8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People recognise mutual advantage.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04088" y="3657600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6F8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But cannot be sure others will honour commitments.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04088" y="4480560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6F8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A sovereign supplies credible assurance.</a:t>
            </a:r>
            <a:endParaRPr lang="en-US" sz="2100" dirty="0"/>
          </a:p>
        </p:txBody>
      </p:sp>
      <p:sp>
        <p:nvSpPr>
          <p:cNvPr id="10" name="Text 2"/>
          <p:cNvSpPr/>
          <p:nvPr>
            <p:ph idx="102" hasCustomPrompt="1"/>
          </p:nvPr>
        </p:nvSpPr>
        <p:spPr>
          <a:xfrm>
            <a:off x="11109960" y="647395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CC9CB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338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246888"/>
            <a:ext cx="11247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50" dirty="0">
                <a:solidFill>
                  <a:srgbClr val="F6F8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Locke: authority under constraints</a:t>
            </a:r>
            <a:endParaRPr lang="en-US" sz="2550" dirty="0"/>
          </a:p>
        </p:txBody>
      </p:sp>
      <p:sp>
        <p:nvSpPr>
          <p:cNvPr id="3" name="Shape 1"/>
          <p:cNvSpPr/>
          <p:nvPr/>
        </p:nvSpPr>
        <p:spPr>
          <a:xfrm>
            <a:off x="420624" y="850392"/>
            <a:ext cx="11301984" cy="0"/>
          </a:xfrm>
          <a:prstGeom prst="line">
            <a:avLst/>
          </a:prstGeom>
          <a:noFill/>
          <a:ln w="13970">
            <a:solidFill>
              <a:srgbClr val="D6B0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969264"/>
            <a:ext cx="1120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CC9C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Second Treatise of Government (1690), Chapter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58368" y="155448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55B8C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Obligations precede government.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704088" y="2615184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6F8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Natural rights constrain legitimate authority.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04088" y="3520440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6F8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Government improves adjudication and enforcement.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04088" y="4425696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6F8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Consent and the right to resist limit political power.</a:t>
            </a:r>
            <a:endParaRPr lang="en-US" sz="2200" dirty="0"/>
          </a:p>
        </p:txBody>
      </p:sp>
      <p:sp>
        <p:nvSpPr>
          <p:cNvPr id="10" name="Text 2"/>
          <p:cNvSpPr/>
          <p:nvPr>
            <p:ph idx="102" hasCustomPrompt="1"/>
          </p:nvPr>
        </p:nvSpPr>
        <p:spPr>
          <a:xfrm>
            <a:off x="11109960" y="647395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CC9CB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338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246888"/>
            <a:ext cx="11247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50" dirty="0">
                <a:solidFill>
                  <a:srgbClr val="F6F8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Ikenberry: power and rules together</a:t>
            </a:r>
            <a:endParaRPr lang="en-US" sz="2550" dirty="0"/>
          </a:p>
        </p:txBody>
      </p:sp>
      <p:sp>
        <p:nvSpPr>
          <p:cNvPr id="3" name="Shape 1"/>
          <p:cNvSpPr/>
          <p:nvPr/>
        </p:nvSpPr>
        <p:spPr>
          <a:xfrm>
            <a:off x="420624" y="850392"/>
            <a:ext cx="11301984" cy="0"/>
          </a:xfrm>
          <a:prstGeom prst="line">
            <a:avLst/>
          </a:prstGeom>
          <a:noFill/>
          <a:ln w="13970">
            <a:solidFill>
              <a:srgbClr val="D6B0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969264"/>
            <a:ext cx="1120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CC9C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constitutional bargain of liberal international order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6F8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Other states accept American leadership partly because American power is embedded in institutions that restrain discretion.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704088" y="3246120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6F8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Restraint makes asymmetrical power more acceptable.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04088" y="3959352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6F8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Institutions deliver access, voice, and predictable returns.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04088" y="4672584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6F8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Power helps assure commitments—but is itself constrained.</a:t>
            </a:r>
            <a:endParaRPr lang="en-US" sz="2000" dirty="0"/>
          </a:p>
        </p:txBody>
      </p:sp>
      <p:sp>
        <p:nvSpPr>
          <p:cNvPr id="10" name="Text 2"/>
          <p:cNvSpPr/>
          <p:nvPr>
            <p:ph idx="102" hasCustomPrompt="1"/>
          </p:nvPr>
        </p:nvSpPr>
        <p:spPr>
          <a:xfrm>
            <a:off x="11109960" y="647395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CC9CB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338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246888"/>
            <a:ext cx="11247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50" dirty="0">
                <a:solidFill>
                  <a:srgbClr val="F6F8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game-theoretic puzzle</a:t>
            </a:r>
            <a:endParaRPr lang="en-US" sz="2550" dirty="0"/>
          </a:p>
        </p:txBody>
      </p:sp>
      <p:sp>
        <p:nvSpPr>
          <p:cNvPr id="3" name="Shape 1"/>
          <p:cNvSpPr/>
          <p:nvPr/>
        </p:nvSpPr>
        <p:spPr>
          <a:xfrm>
            <a:off x="420624" y="850392"/>
            <a:ext cx="11301984" cy="0"/>
          </a:xfrm>
          <a:prstGeom prst="line">
            <a:avLst/>
          </a:prstGeom>
          <a:noFill/>
          <a:ln w="13970">
            <a:solidFill>
              <a:srgbClr val="D6B0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969264"/>
            <a:ext cx="1120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CC9C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Why rational choices can produce an epic fail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58368" y="1353312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BCC9C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Two countries choose Cooperate (C) or Defect (D).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754880" y="2057400"/>
            <a:ext cx="2029968" cy="612648"/>
          </a:xfrm>
          <a:prstGeom prst="roundRect">
            <a:avLst>
              <a:gd name="adj" fmla="val 13433"/>
            </a:avLst>
          </a:prstGeom>
          <a:solidFill>
            <a:srgbClr val="1C2D30"/>
          </a:solidFill>
          <a:ln w="8255">
            <a:solidFill>
              <a:srgbClr val="6377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92040" y="2167128"/>
            <a:ext cx="18562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6F8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Column: C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39712" y="2057400"/>
            <a:ext cx="2029968" cy="612648"/>
          </a:xfrm>
          <a:prstGeom prst="roundRect">
            <a:avLst>
              <a:gd name="adj" fmla="val 13433"/>
            </a:avLst>
          </a:prstGeom>
          <a:solidFill>
            <a:srgbClr val="1C2D30"/>
          </a:solidFill>
          <a:ln w="8255">
            <a:solidFill>
              <a:srgbClr val="6377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76872" y="2167128"/>
            <a:ext cx="18562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6F8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Column: D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926080" y="288036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6F8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Row: C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4754880" y="2788920"/>
            <a:ext cx="2029968" cy="850392"/>
          </a:xfrm>
          <a:prstGeom prst="roundRect">
            <a:avLst>
              <a:gd name="adj" fmla="val 9677"/>
            </a:avLst>
          </a:prstGeom>
          <a:solidFill>
            <a:srgbClr val="284A4B"/>
          </a:solidFill>
          <a:ln w="8255">
            <a:solidFill>
              <a:srgbClr val="6377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93792" y="29718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6F8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(2, 2)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839712" y="2788920"/>
            <a:ext cx="2029968" cy="850392"/>
          </a:xfrm>
          <a:prstGeom prst="roundRect">
            <a:avLst>
              <a:gd name="adj" fmla="val 9677"/>
            </a:avLst>
          </a:prstGeom>
          <a:solidFill>
            <a:srgbClr val="1C2D30"/>
          </a:solidFill>
          <a:ln w="8255">
            <a:solidFill>
              <a:srgbClr val="6377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78624" y="29718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6F8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(0, 3)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926080" y="390448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6F8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Row: D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4754880" y="3813048"/>
            <a:ext cx="2029968" cy="850392"/>
          </a:xfrm>
          <a:prstGeom prst="roundRect">
            <a:avLst>
              <a:gd name="adj" fmla="val 9677"/>
            </a:avLst>
          </a:prstGeom>
          <a:solidFill>
            <a:srgbClr val="1C2D30"/>
          </a:solidFill>
          <a:ln w="8255">
            <a:solidFill>
              <a:srgbClr val="6377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93792" y="399592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6F8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(3, 0)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839712" y="3813048"/>
            <a:ext cx="2029968" cy="850392"/>
          </a:xfrm>
          <a:prstGeom prst="roundRect">
            <a:avLst>
              <a:gd name="adj" fmla="val 9677"/>
            </a:avLst>
          </a:prstGeom>
          <a:solidFill>
            <a:srgbClr val="284A4B"/>
          </a:solidFill>
          <a:ln w="8255">
            <a:solidFill>
              <a:srgbClr val="6377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78624" y="399592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6F8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(1, 1)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063240" y="5184648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CC9C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First payoff: Row. Second payoff: Column.</a:t>
            </a:r>
            <a:endParaRPr lang="en-US" sz="1600" dirty="0"/>
          </a:p>
        </p:txBody>
      </p:sp>
      <p:sp>
        <p:nvSpPr>
          <p:cNvPr id="22" name="Text 2"/>
          <p:cNvSpPr/>
          <p:nvPr>
            <p:ph idx="102" hasCustomPrompt="1"/>
          </p:nvPr>
        </p:nvSpPr>
        <p:spPr>
          <a:xfrm>
            <a:off x="11109960" y="647395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CC9CB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338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246888"/>
            <a:ext cx="11247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50" dirty="0">
                <a:solidFill>
                  <a:srgbClr val="F6F8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Individually rational; collectively inferior</a:t>
            </a:r>
            <a:endParaRPr lang="en-US" sz="2550" dirty="0"/>
          </a:p>
        </p:txBody>
      </p:sp>
      <p:sp>
        <p:nvSpPr>
          <p:cNvPr id="3" name="Shape 1"/>
          <p:cNvSpPr/>
          <p:nvPr/>
        </p:nvSpPr>
        <p:spPr>
          <a:xfrm>
            <a:off x="420624" y="850392"/>
            <a:ext cx="11301984" cy="0"/>
          </a:xfrm>
          <a:prstGeom prst="line">
            <a:avLst/>
          </a:prstGeom>
          <a:noFill/>
          <a:ln w="13970">
            <a:solidFill>
              <a:srgbClr val="D6B0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969264"/>
            <a:ext cx="1120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CC9C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One-shot Prisoner’s Dilemma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58191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6F8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Defect is strictly dominant for each country.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704088" y="2852928"/>
            <a:ext cx="5047488" cy="1463040"/>
          </a:xfrm>
          <a:prstGeom prst="roundRect">
            <a:avLst>
              <a:gd name="adj" fmla="val 5625"/>
            </a:avLst>
          </a:prstGeom>
          <a:solidFill>
            <a:srgbClr val="1C2D30"/>
          </a:solidFill>
          <a:ln w="8255">
            <a:solidFill>
              <a:srgbClr val="6377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16752" y="2852928"/>
            <a:ext cx="5047488" cy="1463040"/>
          </a:xfrm>
          <a:prstGeom prst="roundRect">
            <a:avLst>
              <a:gd name="adj" fmla="val 5625"/>
            </a:avLst>
          </a:prstGeom>
          <a:solidFill>
            <a:srgbClr val="1C2D30"/>
          </a:solidFill>
          <a:ln w="8255">
            <a:solidFill>
              <a:srgbClr val="6377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264" y="309067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5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Mutual defection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69264" y="36758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6F8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(1, 1)  •  Nash equilibrium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309360" y="309067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4A18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Mutual cooperation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309360" y="36758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6F8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(2, 2)  •  Better for both</a:t>
            </a:r>
            <a:endParaRPr lang="en-US" sz="1800" dirty="0"/>
          </a:p>
        </p:txBody>
      </p:sp>
      <p:sp>
        <p:nvSpPr>
          <p:cNvPr id="13" name="Text 2"/>
          <p:cNvSpPr/>
          <p:nvPr>
            <p:ph idx="102" hasCustomPrompt="1"/>
          </p:nvPr>
        </p:nvSpPr>
        <p:spPr>
          <a:xfrm>
            <a:off x="11109960" y="647395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CC9CB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338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246888"/>
            <a:ext cx="11247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50" dirty="0">
                <a:solidFill>
                  <a:srgbClr val="F6F8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Repeated interaction changes the incentives</a:t>
            </a:r>
            <a:endParaRPr lang="en-US" sz="2550" dirty="0"/>
          </a:p>
        </p:txBody>
      </p:sp>
      <p:sp>
        <p:nvSpPr>
          <p:cNvPr id="3" name="Shape 1"/>
          <p:cNvSpPr/>
          <p:nvPr/>
        </p:nvSpPr>
        <p:spPr>
          <a:xfrm>
            <a:off x="420624" y="850392"/>
            <a:ext cx="11301984" cy="0"/>
          </a:xfrm>
          <a:prstGeom prst="line">
            <a:avLst/>
          </a:prstGeom>
          <a:noFill/>
          <a:ln w="13970">
            <a:solidFill>
              <a:srgbClr val="D6B0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969264"/>
            <a:ext cx="1120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CC9C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Not a new preference for benevolence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94944" y="1691640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55B8C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δ = value today of one unit received next period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704088" y="2862072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6F8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Future trade, reputation, and access now matter.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04088" y="3749040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6F8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Defection today can destroy tomorrow’s benefits.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13232" y="495604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6B04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What strategy makes this threat credible?</a:t>
            </a:r>
            <a:endParaRPr lang="en-US" sz="2400" dirty="0"/>
          </a:p>
        </p:txBody>
      </p:sp>
      <p:sp>
        <p:nvSpPr>
          <p:cNvPr id="10" name="Text 2"/>
          <p:cNvSpPr/>
          <p:nvPr>
            <p:ph idx="102" hasCustomPrompt="1"/>
          </p:nvPr>
        </p:nvSpPr>
        <p:spPr>
          <a:xfrm>
            <a:off x="11109960" y="647395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CC9CB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338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246888"/>
            <a:ext cx="11247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50" dirty="0">
                <a:solidFill>
                  <a:srgbClr val="F6F8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Grim trigger: the strategy</a:t>
            </a:r>
            <a:endParaRPr lang="en-US" sz="2550" dirty="0"/>
          </a:p>
        </p:txBody>
      </p:sp>
      <p:sp>
        <p:nvSpPr>
          <p:cNvPr id="3" name="Shape 1"/>
          <p:cNvSpPr/>
          <p:nvPr/>
        </p:nvSpPr>
        <p:spPr>
          <a:xfrm>
            <a:off x="420624" y="850392"/>
            <a:ext cx="11301984" cy="0"/>
          </a:xfrm>
          <a:prstGeom prst="line">
            <a:avLst/>
          </a:prstGeom>
          <a:noFill/>
          <a:ln w="13970">
            <a:solidFill>
              <a:srgbClr val="D6B0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969264"/>
            <a:ext cx="1120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CC9C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simple rule that can sustain cooperation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682496"/>
            <a:ext cx="5257800" cy="1170432"/>
          </a:xfrm>
          <a:prstGeom prst="roundRect">
            <a:avLst>
              <a:gd name="adj" fmla="val 7031"/>
            </a:avLst>
          </a:prstGeom>
          <a:solidFill>
            <a:srgbClr val="1C2D30"/>
          </a:solidFill>
          <a:ln w="8255">
            <a:solidFill>
              <a:srgbClr val="63777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54496" y="1682496"/>
            <a:ext cx="5257800" cy="1170432"/>
          </a:xfrm>
          <a:prstGeom prst="roundRect">
            <a:avLst>
              <a:gd name="adj" fmla="val 7031"/>
            </a:avLst>
          </a:prstGeom>
          <a:solidFill>
            <a:srgbClr val="1C2D30"/>
          </a:solidFill>
          <a:ln w="8255">
            <a:solidFill>
              <a:srgbClr val="6377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01168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6F8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  Start by cooperating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510528" y="2011680"/>
            <a:ext cx="4690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6F8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  Continue if nobody defects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41832" y="3429000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D6B04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If either player defects even once: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2377440" y="4315968"/>
            <a:ext cx="7360920" cy="1060704"/>
          </a:xfrm>
          <a:prstGeom prst="roundRect">
            <a:avLst>
              <a:gd name="adj" fmla="val 7759"/>
            </a:avLst>
          </a:prstGeom>
          <a:solidFill>
            <a:srgbClr val="422C2C"/>
          </a:solidFill>
          <a:ln w="8255">
            <a:solidFill>
              <a:srgbClr val="C45C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88920" y="4617720"/>
            <a:ext cx="65836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6F8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Defect forever thereafter</a:t>
            </a:r>
            <a:endParaRPr lang="en-US" sz="2600" dirty="0"/>
          </a:p>
        </p:txBody>
      </p:sp>
      <p:sp>
        <p:nvSpPr>
          <p:cNvPr id="13" name="Text 2"/>
          <p:cNvSpPr/>
          <p:nvPr>
            <p:ph idx="102" hasCustomPrompt="1"/>
          </p:nvPr>
        </p:nvSpPr>
        <p:spPr>
          <a:xfrm>
            <a:off x="11109960" y="647395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CC9CB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338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246888"/>
            <a:ext cx="11247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50" dirty="0">
                <a:solidFill>
                  <a:srgbClr val="F6F8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repeated game: all the arithmetic on one slide</a:t>
            </a:r>
            <a:endParaRPr lang="en-US" sz="2550" dirty="0"/>
          </a:p>
        </p:txBody>
      </p:sp>
      <p:sp>
        <p:nvSpPr>
          <p:cNvPr id="3" name="Shape 1"/>
          <p:cNvSpPr/>
          <p:nvPr/>
        </p:nvSpPr>
        <p:spPr>
          <a:xfrm>
            <a:off x="420624" y="850392"/>
            <a:ext cx="11301984" cy="0"/>
          </a:xfrm>
          <a:prstGeom prst="line">
            <a:avLst/>
          </a:prstGeom>
          <a:noFill/>
          <a:ln w="13970">
            <a:solidFill>
              <a:srgbClr val="D6B0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969264"/>
            <a:ext cx="1120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CC9C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Grim trigger • geometric series • incentive constraint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30352" y="1517904"/>
            <a:ext cx="3383280" cy="4553712"/>
          </a:xfrm>
          <a:prstGeom prst="roundRect">
            <a:avLst>
              <a:gd name="adj" fmla="val 2432"/>
            </a:avLst>
          </a:prstGeom>
          <a:solidFill>
            <a:srgbClr val="1C2D30"/>
          </a:solidFill>
          <a:ln w="8255">
            <a:solidFill>
              <a:srgbClr val="63777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16552" y="1517904"/>
            <a:ext cx="3383280" cy="4553712"/>
          </a:xfrm>
          <a:prstGeom prst="roundRect">
            <a:avLst>
              <a:gd name="adj" fmla="val 2432"/>
            </a:avLst>
          </a:prstGeom>
          <a:solidFill>
            <a:srgbClr val="1C2D30"/>
          </a:solidFill>
          <a:ln w="8255">
            <a:solidFill>
              <a:srgbClr val="6377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93608" y="1517904"/>
            <a:ext cx="3383280" cy="4553712"/>
          </a:xfrm>
          <a:prstGeom prst="roundRect">
            <a:avLst>
              <a:gd name="adj" fmla="val 2432"/>
            </a:avLst>
          </a:prstGeom>
          <a:solidFill>
            <a:srgbClr val="1C2D30"/>
          </a:solidFill>
          <a:ln w="8255">
            <a:solidFill>
              <a:srgbClr val="6377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37360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5B8C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Cooperate forever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72000" y="1737360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5B8C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Defect once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449056" y="1737360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5B8C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Compare payoffs</a:t>
            </a:r>
            <a:endParaRPr lang="en-US" sz="1700" dirty="0"/>
          </a:p>
        </p:txBody>
      </p:sp>
      <p:pic>
        <p:nvPicPr>
          <p:cNvPr id="11" name="Image 0" descr="/mnt/data/cooperation_revision/math/co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0132" y="2377440"/>
            <a:ext cx="2823720" cy="448056"/>
          </a:xfrm>
          <a:prstGeom prst="rect">
            <a:avLst/>
          </a:prstGeom>
        </p:spPr>
      </p:pic>
      <p:pic>
        <p:nvPicPr>
          <p:cNvPr id="12" name="Image 1" descr="/mnt/data/cooperation_revision/math/seri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471" y="2926080"/>
            <a:ext cx="2419042" cy="438912"/>
          </a:xfrm>
          <a:prstGeom prst="rect">
            <a:avLst/>
          </a:prstGeom>
        </p:spPr>
      </p:pic>
      <p:pic>
        <p:nvPicPr>
          <p:cNvPr id="13" name="Image 2" descr="/mnt/data/cooperation_revision/math/dseri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3294" y="3364992"/>
            <a:ext cx="2097396" cy="438912"/>
          </a:xfrm>
          <a:prstGeom prst="rect">
            <a:avLst/>
          </a:prstGeom>
        </p:spPr>
      </p:pic>
      <p:pic>
        <p:nvPicPr>
          <p:cNvPr id="14" name="Image 3" descr="/mnt/data/cooperation_revision/math/subtrac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3850884"/>
            <a:ext cx="3127248" cy="582696"/>
          </a:xfrm>
          <a:prstGeom prst="rect">
            <a:avLst/>
          </a:prstGeom>
        </p:spPr>
      </p:pic>
      <p:pic>
        <p:nvPicPr>
          <p:cNvPr id="15" name="Image 4" descr="/mnt/data/cooperation_revision/math/coopvalu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8828" y="4828032"/>
            <a:ext cx="1268040" cy="576072"/>
          </a:xfrm>
          <a:prstGeom prst="rect">
            <a:avLst/>
          </a:prstGeom>
        </p:spPr>
      </p:pic>
      <p:pic>
        <p:nvPicPr>
          <p:cNvPr id="16" name="Image 5" descr="/mnt/data/cooperation_revision/math/defec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5673" y="2423160"/>
            <a:ext cx="2785039" cy="493776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4581144" y="3136392"/>
            <a:ext cx="3026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CC9C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 today; then 1 each period</a:t>
            </a:r>
            <a:endParaRPr lang="en-US" sz="1700" dirty="0"/>
          </a:p>
        </p:txBody>
      </p:sp>
      <p:pic>
        <p:nvPicPr>
          <p:cNvPr id="18" name="Image 6" descr="/mnt/data/cooperation_revision/math/defectvalu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31028" y="4169664"/>
            <a:ext cx="1954327" cy="640080"/>
          </a:xfrm>
          <a:prstGeom prst="rect">
            <a:avLst/>
          </a:prstGeom>
        </p:spPr>
      </p:pic>
      <p:pic>
        <p:nvPicPr>
          <p:cNvPr id="19" name="Image 7" descr="/mnt/data/cooperation_revision/math/compar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58074" y="2459736"/>
            <a:ext cx="2245204" cy="694944"/>
          </a:xfrm>
          <a:prstGeom prst="rect">
            <a:avLst/>
          </a:prstGeom>
        </p:spPr>
      </p:pic>
      <p:pic>
        <p:nvPicPr>
          <p:cNvPr id="20" name="Image 8" descr="/mnt/data/cooperation_revision/math/simplif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05926" y="3493008"/>
            <a:ext cx="1931213" cy="603504"/>
          </a:xfrm>
          <a:prstGeom prst="rect">
            <a:avLst/>
          </a:prstGeom>
        </p:spPr>
      </p:pic>
      <p:pic>
        <p:nvPicPr>
          <p:cNvPr id="21" name="Image 9" descr="/mnt/data/cooperation_revision/math/answer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87172" y="4517136"/>
            <a:ext cx="959576" cy="749808"/>
          </a:xfrm>
          <a:prstGeom prst="rect">
            <a:avLst/>
          </a:prstGeom>
        </p:spPr>
      </p:pic>
      <p:sp>
        <p:nvSpPr>
          <p:cNvPr id="22" name="Text 10"/>
          <p:cNvSpPr/>
          <p:nvPr/>
        </p:nvSpPr>
        <p:spPr>
          <a:xfrm>
            <a:off x="8458200" y="5376672"/>
            <a:ext cx="30175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CC9C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At equality: indifferent. Above: cooperate.</a:t>
            </a:r>
            <a:endParaRPr lang="en-US" sz="1300" dirty="0"/>
          </a:p>
        </p:txBody>
      </p:sp>
      <p:sp>
        <p:nvSpPr>
          <p:cNvPr id="24" name="Text 2"/>
          <p:cNvSpPr/>
          <p:nvPr>
            <p:ph idx="102" hasCustomPrompt="1"/>
          </p:nvPr>
        </p:nvSpPr>
        <p:spPr>
          <a:xfrm>
            <a:off x="11109960" y="647395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CC9CB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338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246888"/>
            <a:ext cx="11247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50" dirty="0">
                <a:solidFill>
                  <a:srgbClr val="F6F8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Discussion break</a:t>
            </a:r>
            <a:endParaRPr lang="en-US" sz="2550" dirty="0"/>
          </a:p>
        </p:txBody>
      </p:sp>
      <p:sp>
        <p:nvSpPr>
          <p:cNvPr id="3" name="Shape 1"/>
          <p:cNvSpPr/>
          <p:nvPr/>
        </p:nvSpPr>
        <p:spPr>
          <a:xfrm>
            <a:off x="420624" y="850392"/>
            <a:ext cx="11301984" cy="0"/>
          </a:xfrm>
          <a:prstGeom prst="line">
            <a:avLst/>
          </a:prstGeom>
          <a:noFill/>
          <a:ln w="13970">
            <a:solidFill>
              <a:srgbClr val="D6B0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969264"/>
            <a:ext cx="1120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CC9C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What have we proved—and what have we not?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04088" y="1591056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6F8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Cooperation can be an equilibrium without a sovereign.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04088" y="2569464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6F8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It is not the only equilibrium: always defect also works.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04088" y="3547872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6F8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Finite, known end dates unravel the usual one-shot dilemma.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13232" y="4690872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55B8C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Possible ≠ inevitable.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713232" y="550468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6B04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Who or what selects the cooperative equilibrium?</a:t>
            </a:r>
            <a:endParaRPr lang="en-US" sz="1900" dirty="0"/>
          </a:p>
        </p:txBody>
      </p:sp>
      <p:sp>
        <p:nvSpPr>
          <p:cNvPr id="11" name="Text 2"/>
          <p:cNvSpPr/>
          <p:nvPr>
            <p:ph idx="102" hasCustomPrompt="1"/>
          </p:nvPr>
        </p:nvSpPr>
        <p:spPr>
          <a:xfrm>
            <a:off x="11109960" y="647395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CC9CB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338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246888"/>
            <a:ext cx="11247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50" dirty="0">
                <a:solidFill>
                  <a:srgbClr val="F6F8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Trade can help produce order</a:t>
            </a:r>
            <a:endParaRPr lang="en-US" sz="2550" dirty="0"/>
          </a:p>
        </p:txBody>
      </p:sp>
      <p:sp>
        <p:nvSpPr>
          <p:cNvPr id="3" name="Shape 1"/>
          <p:cNvSpPr/>
          <p:nvPr/>
        </p:nvSpPr>
        <p:spPr>
          <a:xfrm>
            <a:off x="420624" y="850392"/>
            <a:ext cx="11301984" cy="0"/>
          </a:xfrm>
          <a:prstGeom prst="line">
            <a:avLst/>
          </a:prstGeom>
          <a:noFill/>
          <a:ln w="13970">
            <a:solidFill>
              <a:srgbClr val="D6B0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969264"/>
            <a:ext cx="1120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CC9C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Reverse the familiar direction of causality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76656" y="1682496"/>
            <a:ext cx="10698480" cy="1161288"/>
          </a:xfrm>
          <a:prstGeom prst="roundRect">
            <a:avLst>
              <a:gd name="adj" fmla="val 7087"/>
            </a:avLst>
          </a:prstGeom>
          <a:solidFill>
            <a:srgbClr val="1C2D30"/>
          </a:solidFill>
          <a:ln w="8255">
            <a:solidFill>
              <a:srgbClr val="6377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6696" y="1965960"/>
            <a:ext cx="100584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6F8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Leadership  →  rules  →  predictable trade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676656" y="3172968"/>
            <a:ext cx="10698480" cy="1161288"/>
          </a:xfrm>
          <a:prstGeom prst="roundRect">
            <a:avLst>
              <a:gd name="adj" fmla="val 7087"/>
            </a:avLst>
          </a:prstGeom>
          <a:solidFill>
            <a:srgbClr val="1C2D30"/>
          </a:solidFill>
          <a:ln w="8255">
            <a:solidFill>
              <a:srgbClr val="6377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96696" y="3456432"/>
            <a:ext cx="100584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5B8C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Trade  →  repeated gains  →  incentives for rules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13232" y="4974336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BCC9C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Trade need not eliminate distrust; it can make cooperation ordinary despite distrust.</a:t>
            </a:r>
            <a:endParaRPr lang="en-US" sz="1900" dirty="0"/>
          </a:p>
        </p:txBody>
      </p:sp>
      <p:sp>
        <p:nvSpPr>
          <p:cNvPr id="11" name="Text 2"/>
          <p:cNvSpPr/>
          <p:nvPr>
            <p:ph idx="102" hasCustomPrompt="1"/>
          </p:nvPr>
        </p:nvSpPr>
        <p:spPr>
          <a:xfrm>
            <a:off x="11109960" y="647395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CC9CB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338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246888"/>
            <a:ext cx="11247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50" dirty="0">
                <a:solidFill>
                  <a:srgbClr val="F6F8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Regional cooperation after hegemonic withdrawal</a:t>
            </a:r>
            <a:endParaRPr lang="en-US" sz="2550" dirty="0"/>
          </a:p>
        </p:txBody>
      </p:sp>
      <p:sp>
        <p:nvSpPr>
          <p:cNvPr id="3" name="Shape 1"/>
          <p:cNvSpPr/>
          <p:nvPr/>
        </p:nvSpPr>
        <p:spPr>
          <a:xfrm>
            <a:off x="420624" y="850392"/>
            <a:ext cx="11301984" cy="0"/>
          </a:xfrm>
          <a:prstGeom prst="line">
            <a:avLst/>
          </a:prstGeom>
          <a:noFill/>
          <a:ln w="13970">
            <a:solidFill>
              <a:srgbClr val="D6B0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969264"/>
            <a:ext cx="1120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CC9C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Asia continues to build and update rules</a:t>
            </a:r>
            <a:endParaRPr lang="en-US" sz="1300" dirty="0"/>
          </a:p>
        </p:txBody>
      </p:sp>
      <p:pic>
        <p:nvPicPr>
          <p:cNvPr id="5" name="Image 0" descr="/mnt/data/cooperation_revision/2026.02-Jane.Mellsop-cooperation-trade-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2836" y="1499616"/>
            <a:ext cx="3917967" cy="45171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9048" y="1673352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6F8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CPTPP after US withdrawal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6099048" y="2606040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6F8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RCEP and regional supply chains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099048" y="3575304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6F8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Digital trade and sectoral initiatives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099048" y="4690872"/>
            <a:ext cx="5285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6B04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But Mellsop still calls for plural regional leadership.</a:t>
            </a:r>
            <a:endParaRPr lang="en-US" sz="1800" dirty="0"/>
          </a:p>
        </p:txBody>
      </p:sp>
      <p:sp>
        <p:nvSpPr>
          <p:cNvPr id="11" name="Text 2"/>
          <p:cNvSpPr/>
          <p:nvPr>
            <p:ph idx="102" hasCustomPrompt="1"/>
          </p:nvPr>
        </p:nvSpPr>
        <p:spPr>
          <a:xfrm>
            <a:off x="11109960" y="647395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CC9CB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338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246888"/>
            <a:ext cx="11247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50" dirty="0">
                <a:solidFill>
                  <a:srgbClr val="F6F8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Multilateral enough</a:t>
            </a:r>
            <a:endParaRPr lang="en-US" sz="2550" dirty="0"/>
          </a:p>
        </p:txBody>
      </p:sp>
      <p:sp>
        <p:nvSpPr>
          <p:cNvPr id="3" name="Shape 1"/>
          <p:cNvSpPr/>
          <p:nvPr/>
        </p:nvSpPr>
        <p:spPr>
          <a:xfrm>
            <a:off x="420624" y="850392"/>
            <a:ext cx="11301984" cy="0"/>
          </a:xfrm>
          <a:prstGeom prst="line">
            <a:avLst/>
          </a:prstGeom>
          <a:noFill/>
          <a:ln w="13970">
            <a:solidFill>
              <a:srgbClr val="D6B0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969264"/>
            <a:ext cx="1120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CC9C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Preserve the functions, not necessarily the hierarchy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04088" y="1728216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F6F8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A level playing field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704088" y="2743200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F6F8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Peaceful dispute resolution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704088" y="3749040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F6F8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Cooperation on shared challenges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685800" y="4992624"/>
            <a:ext cx="10789920" cy="758952"/>
          </a:xfrm>
          <a:prstGeom prst="roundRect">
            <a:avLst>
              <a:gd name="adj" fmla="val 10843"/>
            </a:avLst>
          </a:prstGeom>
          <a:solidFill>
            <a:srgbClr val="1C2D30"/>
          </a:solidFill>
          <a:ln w="8255">
            <a:solidFill>
              <a:srgbClr val="6377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5166360"/>
            <a:ext cx="10241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5B8C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Example: MPIA offers an appeal-arbitration route for participating WTO members.</a:t>
            </a:r>
            <a:endParaRPr lang="en-US" sz="1700" dirty="0"/>
          </a:p>
        </p:txBody>
      </p:sp>
      <p:sp>
        <p:nvSpPr>
          <p:cNvPr id="11" name="Text 2"/>
          <p:cNvSpPr/>
          <p:nvPr>
            <p:ph idx="102" hasCustomPrompt="1"/>
          </p:nvPr>
        </p:nvSpPr>
        <p:spPr>
          <a:xfrm>
            <a:off x="11109960" y="647395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CC9CB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338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246888"/>
            <a:ext cx="11247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50" dirty="0">
                <a:solidFill>
                  <a:srgbClr val="F6F8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Three different cooperation problems</a:t>
            </a:r>
            <a:endParaRPr lang="en-US" sz="2550" dirty="0"/>
          </a:p>
        </p:txBody>
      </p:sp>
      <p:sp>
        <p:nvSpPr>
          <p:cNvPr id="3" name="Shape 1"/>
          <p:cNvSpPr/>
          <p:nvPr/>
        </p:nvSpPr>
        <p:spPr>
          <a:xfrm>
            <a:off x="420624" y="850392"/>
            <a:ext cx="11301984" cy="0"/>
          </a:xfrm>
          <a:prstGeom prst="line">
            <a:avLst/>
          </a:prstGeom>
          <a:noFill/>
          <a:ln w="13970">
            <a:solidFill>
              <a:srgbClr val="D6B0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969264"/>
            <a:ext cx="1120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CC9C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compact diagnostic, not another full theory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3520440" cy="3429000"/>
          </a:xfrm>
          <a:prstGeom prst="roundRect">
            <a:avLst>
              <a:gd name="adj" fmla="val 2400"/>
            </a:avLst>
          </a:prstGeom>
          <a:solidFill>
            <a:srgbClr val="1C2D30"/>
          </a:solidFill>
          <a:ln w="8255">
            <a:solidFill>
              <a:srgbClr val="6377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3816" y="19659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5B8C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Coordination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315468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6F8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Standards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6F8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Interoperability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480560" y="1737360"/>
            <a:ext cx="3520440" cy="3429000"/>
          </a:xfrm>
          <a:prstGeom prst="roundRect">
            <a:avLst>
              <a:gd name="adj" fmla="val 2400"/>
            </a:avLst>
          </a:prstGeom>
          <a:solidFill>
            <a:srgbClr val="1C2D30"/>
          </a:solidFill>
          <a:ln w="8255">
            <a:solidFill>
              <a:srgbClr val="6377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54296" y="19659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5B8C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Assurance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663440" y="2971800"/>
            <a:ext cx="315468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6F8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Repetition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6F8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Reciprocity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321040" y="1737360"/>
            <a:ext cx="3520440" cy="3429000"/>
          </a:xfrm>
          <a:prstGeom prst="roundRect">
            <a:avLst>
              <a:gd name="adj" fmla="val 2400"/>
            </a:avLst>
          </a:prstGeom>
          <a:solidFill>
            <a:srgbClr val="1C2D30"/>
          </a:solidFill>
          <a:ln w="8255">
            <a:solidFill>
              <a:srgbClr val="6377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94776" y="19659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5B8C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Collective provision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503920" y="2971800"/>
            <a:ext cx="315468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6F8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Clubs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6F8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Cost-sharing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04088" y="548640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6B04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Different problems need different mechanisms—not always a Leviathan.</a:t>
            </a:r>
            <a:endParaRPr lang="en-US" sz="1800" dirty="0"/>
          </a:p>
        </p:txBody>
      </p:sp>
      <p:sp>
        <p:nvSpPr>
          <p:cNvPr id="16" name="Text 2"/>
          <p:cNvSpPr/>
          <p:nvPr>
            <p:ph idx="102" hasCustomPrompt="1"/>
          </p:nvPr>
        </p:nvSpPr>
        <p:spPr>
          <a:xfrm>
            <a:off x="11109960" y="647395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CC9CB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338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246888"/>
            <a:ext cx="11247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50" dirty="0">
                <a:solidFill>
                  <a:srgbClr val="F6F8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Cooperation and leadership: what survives?</a:t>
            </a:r>
            <a:endParaRPr lang="en-US" sz="2550" dirty="0"/>
          </a:p>
        </p:txBody>
      </p:sp>
      <p:sp>
        <p:nvSpPr>
          <p:cNvPr id="3" name="Shape 1"/>
          <p:cNvSpPr/>
          <p:nvPr/>
        </p:nvSpPr>
        <p:spPr>
          <a:xfrm>
            <a:off x="420624" y="850392"/>
            <a:ext cx="11301984" cy="0"/>
          </a:xfrm>
          <a:prstGeom prst="line">
            <a:avLst/>
          </a:prstGeom>
          <a:noFill/>
          <a:ln w="13970">
            <a:solidFill>
              <a:srgbClr val="D6B0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969264"/>
            <a:ext cx="1120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CC9C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final distinction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105156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6F8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Leadership to initiate cooperation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105156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6F8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Leadership to sustain cooperation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37490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5B8C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Cooperation that becomes self-sustaining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694944" y="5074920"/>
            <a:ext cx="10698480" cy="758952"/>
          </a:xfrm>
          <a:prstGeom prst="roundRect">
            <a:avLst>
              <a:gd name="adj" fmla="val 10843"/>
            </a:avLst>
          </a:prstGeom>
          <a:solidFill>
            <a:srgbClr val="1C2D30"/>
          </a:solidFill>
          <a:ln w="8255">
            <a:solidFill>
              <a:srgbClr val="6377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5276088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6F8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G-minus asks which functions of order can survive without hegemonic leadership.</a:t>
            </a:r>
            <a:endParaRPr lang="en-US" sz="1700" dirty="0"/>
          </a:p>
        </p:txBody>
      </p:sp>
      <p:sp>
        <p:nvSpPr>
          <p:cNvPr id="11" name="Text 2"/>
          <p:cNvSpPr/>
          <p:nvPr>
            <p:ph idx="102" hasCustomPrompt="1"/>
          </p:nvPr>
        </p:nvSpPr>
        <p:spPr>
          <a:xfrm>
            <a:off x="11109960" y="647395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CC9CB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PP5182: Cooperation and Competition</dc:title>
  <dc:subject>PP5182 Economic Diplomacy</dc:subject>
  <dc:creator>Danny Quah</dc:creator>
  <cp:lastModifiedBy>Danny Quah</cp:lastModifiedBy>
  <cp:revision>1</cp:revision>
  <dcterms:created xsi:type="dcterms:W3CDTF">2026-10-12T03:15:14Z</dcterms:created>
  <dcterms:modified xsi:type="dcterms:W3CDTF">2026-10-12T03:15:14Z</dcterms:modified>
</cp:coreProperties>
</file>