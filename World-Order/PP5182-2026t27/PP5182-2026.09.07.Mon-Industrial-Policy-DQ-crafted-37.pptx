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puzzle. Connect to Globalisation to Strategic Interdependence and Economic Security: intervention once required an exception to the free-trade presumption. Today strategic dependence itself provides a rationale. The argument is a change in emphasis and domain, not a claim that Western industrial policy began in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Reused from slide 20 of PP5182 Globalisation to Strategic Interdependence, DQ-drafted-C. Quotations and attribution retained as supplied: Theodore White (1985), with Malcolm Baldrige reported there. These statements illustrate contemporary American anxiety about Japanese competition. Treat them as historical rhetoric rather than independently verified production 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IMF, Finance &amp; Development, “Korea’s Export Success, 1960–69” (1971), https://www.elibrary.imf.org/view/journals/022/0008/001/article-A003-en.xml . The contemporary account reports a 106-fold increase in manufactured exports during 1960–69 and a 77 percent share of total exports in 1969. This is growth in export value from a small base, not a real productivity growth rate. It illustrates structural transformation before the 1980s technology boom. It does not identify how much industrial policy caused the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source: supplied Industrial Policy and Trade notes. Correct reference: Paul Krugman, “The Myth of Asia’s Miracle,” Foreign Affairs, November/December 1994. His growth-accounting argument distinguishes factor accumulation from efficiency gains; it is not a theorem that all industrial policy fails. Supplementary historical context: Plaza Accord (1985), automobile voluntary export restraints, the 1986 semiconductor agreement and Section 301 actions. Avoid describing the semiconductor agreement as an enforceable guarantee of a 20 percent foreign share: the language and status of that expectation were contested.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SEMATECH background: formed in 1987, began operations in Austin, Texas in 1988. Fourteen US semiconductor manufacturers partnered with the federal government. Congress initially appropriated $100 million annually, matched by industry, through the Department of Defense/DARPA. Economic competitiveness and concern about military dependence on foreign semiconductor supply overlapped from the outset. Rival member priorities complicated joint work. The consortium increasingly concentrated on common manufacturing equipment and materials suppliers rather than competing product designs, including lithography-related capabilities. Do not equate this with exclusive US control of lithography. Federal matching support ended in 1996 as the organisation moved toward industry funding. US market recovery had multiple causes, so the funding transition is not causal proof that SEMATECH alone rescued the industry. Sources: GAO, Federal Research: SEMATECH’s Efforts to Strengthen the U.S. Semiconductor Industry, RCED-90-236 (1990), https://www.gao.gov/assets/rced-90-236.pdf ; GAO, Lessons Learned From SEMATECH, RCED-92-283 (1992), https://www.gao.gov/products/rced-92-283 ; GAO-19-409 (2019), https://www.gao.gov/assets/gao-19-409.pdf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Definition and instruments adapted from supplied lecture notes. Selectivity distinguishes industrial policy from general macroeconomic management. Infrastructure and education become industrial-policy instruments when directed at particular activities or capabilities. Export controls and investment screening overlap with industrial policy when they reshape production, but economic statecraft is a broader category.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Dynamic comparative advantage does not abolish opportunity cost. The question is whether an intervention changes future capabilities enough to justify its present cost. Private investors also anticipate future profits; a long horizon alone is insufficient to establish a market failure. The case for policy needs a wedge between social and private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mechanisms, not a presumption that every sector warrants protection. Distinguish learning internal to a firm, which it may finance itself, from spillovers that reduce private incentives. Coordination problems can sometimes be addressed with common infrastructure or standards. The least costly instrument targets the diagnosed wedge.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Quote reproduced exactly as attributed to Chatib Basri in the supplied lecture notes. No independent claim about the first origin of this aphorism. Emphasise asymmetric political incentives: beneficiaries organise, costs disperse, and sunk investments create demands for renewed protection. Export performance, independent evaluation and credible sunset provisions can discipline support, but enforcement matters.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Supplied IMF chart 1. Source within image: Evenett et al. (2025). The series is the cumulative stock of measures, plotted through 2024, versus a pre-pandemic trend. The chart records policy activity, not fiscal cost or effectiveness. Related IMF discussion: https://www.imf.org/en/blogs/articles/2025/11/25/industrial-policy-can-lift-productivity-but-comes-with-risks-and-trade-offs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Supplied IMF chart 2, source Evenett et al. (2025). This is the distribution of stated motives among trade-distortive measures with identified motives, not all industrial policy and not shares of government spending. Motivation categories do not establish actual effectiveness or sincerity. Source context: IMF October 2025 WEO Chapter 3, https://www.elibrary.imf.org/display/book/9798229023948/CH003.xml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Supplied New Industrial Policy Observatory chart, August 2026, attributed by the user to Simon Evenett. Preserve the complete six-panel image and legend. Percentages concern interventions with at least one stated motive tag, not expenditure or policy success. In the chart’s 2025–26 period, China’s strategic-competitiveness share is 57%, the EU climate share is 35%, and the US national-security/geopolitical share is 62%. Different objective mixes complicate the idea of a single global industrial-policy model. The 2025–26 grouping includes the period covered by this August 2026 snapshot.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2022 design, not a report on current disbursement or individual company awards. NIST describes $50 billion for Commerce CHIPS programmes, of which $39 billion is for manufacturing incentives and $11 billion for R&amp;D. The broader CHIPS appropriation includes other programmes. Source: https://www.nist.gov/chips and https://www.nist.gov/chips/implementation-strategy . Comparison with SEMATECH is an analogy: the new programme supports fabrication capacity directly and has a wider supply-chain and strategic remit. CHIPS guardrails and separate export controls link support to security policy, but export controls are not the same instrument as the grants.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case study of the 2022 architecture, not guidance on tax-credit eligibility in September 2026. Climate support and domestic industrial promotion can reinforce one another, but local sourcing can also raise costs and divert trade. Sources: US DOE, Inflation Reduction Act of 2022, https://www.energy.gov/edf/inflation-reduction-act-2022 ; DOE explanation of domestic content bonus and 45X production credit, https://www.energy.gov/policy/articles/president-bidens-investing-america-agenda-boosting-american-manufacturing-and-clean . The original clean-vehicle architecture included North American final assembly and critical-mineral/battery sourcing conditions. Subsequent legislation and guidance change programme availability; do not present the original package as unchanged current law.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Stylised comparison, not mutually exclusive periods or regions. East Asian developmental states had security motives. Western states practised industrial policy long before the current revival, as SEMATECH demonstrates. Emerging economies still pursue competitiveness, while advanced economies still pursue productivity and climate goals. The shift is in prominence, scale and political justification.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Supplied IMF chart 3: Baquie et al. (2025). Outcome is the boost to value added in inefficient sectors relative to efficient ones, not an unconditional GDP multiplier. A large policy change means a move from the 25th to the 75th percentile. Shaded areas are 90% confidence intervals. Governance reform has larger estimated effects here. Use it to discipline the choice of instrument, not to infer that all targeted innovation or resilience policies fail. Source context: IMF October 2025 WEO Chapter 3, https://www.elibrary.imf.org/display/book/9798229023948/CH003.xml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spectrum adapted from the supplied lecture notes. The same instrument can have multiple effects, so classification depends on design and context. Export controls are broader economic statecraft and overlap with industrial policy. Positive domestic effects alone do not establish global welfare gains. Consider retaliation, fiscal competition, downstream users and access for smaller states. Security restrictions can serve legitimate risk reduction; the relevant test is necessity, proportionality and available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Five-question decision rule synthesising the lecture. 1: require a mechanism and evidence, not a fashionable sector label. 2: compare against economy-wide reform and direct correction of the externality. 3: include opportunity cost, consumer and downstream costs, uncertainty and a measurable security benefit where relevant. 4: publish criteria, use independent evaluation, performance conditions, sunset dates and credible withdrawal. 5: consider cross-border benefits as well as harm and identify feasible coordination. Basri reminder: “Governments are bad at picking winners, but losers are good at picking governments.” An unanswered question calls for redesign or better evidence, not automatic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synthesis. Return to the opening puzzle: industrial policy’s migration reflects changed objectives and anxieties as well as learning from East Asia. The case remains conditional. Security does not remove the need to compare instruments or govern political capture. Shortened Basri quotation repeats the line supplied in the lecture notes. For smaller economies, fiscal constraints and dependence on open external markets make instrument selection and cooperation especially consequential.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23373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3373B"/>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9D47EBA-5F36-4314-9FFA-415D25EDFBE7}"/>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B9BFC1"/>
                </a:solidFill>
                <a:latin typeface="Calibri"/>
                <a:ea typeface="Calibri"/>
                <a:cs typeface="Calibri"/>
              </a:rPr>
              <a:t>PP5182 Industrial Policy</a:t>
            </a:r>
          </a:p>
        </p:txBody>
      </p:sp>
      <p:sp>
        <p:nvSpPr>
          <p:cNvPr id="25" name="Slide Number Placeholder 0">
            <a:extLst>
              <a:ext uri="{FF2B5EF4-FFF2-40B4-BE49-F238E27FC236}">
                <a16:creationId xmlns:a16="http://schemas.microsoft.com/office/drawing/2014/main" id="{1891C053-36AC-449A-A11B-8899FF3EB695}"/>
              </a:ext>
            </a:extLst>
          </p:cNvPr>
          <p:cNvSpPr>
            <a:spLocks noGrp="1"/>
          </p:cNvSpPr>
          <p:nvPr>
            <p:ph type="sldNum" idx="4294967295"/>
          </p:nvPr>
        </p:nvSpPr>
        <p:spPr>
          <a:xfrm>
            <a:off x="11094415" y="6400800"/>
            <a:ext cx="548640" cy="320040"/>
          </a:xfrm>
          <a:prstGeom prst="rect">
            <a:avLst/>
          </a:prstGeom>
        </p:spPr>
        <p:txBody>
          <a:bodyPr/>
          <a:lstStyle>
            <a:lvl1pPr>
              <a:buNone/>
              <a:defRPr sz="1050">
                <a:solidFill>
                  <a:srgbClr val="B9BFC1"/>
                </a:solidFill>
                <a:latin typeface="Calibri"/>
                <a:ea typeface="Calibri"/>
                <a:cs typeface="Calibri"/>
              </a:defRPr>
            </a:lvl1pPr>
          </a:lstStyle>
          <a:p>
            <a:pPr algn="r">
              <a:buNone/>
            </a:pPr>
            <a:fld id="{F7021451-1387-4CA6-816F-3879F97B5CBC}" type="slidenum">
              <a:rPr b="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AFAFA"/>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25"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1094415" y="6400800"/>
            <a:ext cx="548640" cy="320040"/>
          </a:xfrm>
          <a:prstGeom prst="rect">
            <a:avLst/>
          </a:prstGeom>
        </p:spPr>
        <p:txBody>
          <a:bodyPr/>
          <a:lstStyle>
            <a:lvl1pPr>
              <a:buNone/>
              <a:defRPr sz="1050">
                <a:solidFill>
                  <a:srgbClr val="4E5E61"/>
                </a:solidFill>
                <a:latin typeface="Calibri"/>
                <a:ea typeface="Calibri"/>
                <a:cs typeface="Calibri"/>
              </a:defRPr>
            </a:lvl1pPr>
          </a:lstStyle>
          <a:p>
            <a:pPr algn="r">
              <a:buNone/>
            </a:pPr>
            <a:fld id="{F7021451-1387-4CA6-816F-3879F97B5CBC}" type="slidenum">
              <a:rPr b="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HITE_MASTER">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541627-4E8E-44EC-985B-A73A1E825E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25" name="Slide Number Placeholder 0">
            <a:extLst>
              <a:ext uri="{FF2B5EF4-FFF2-40B4-BE49-F238E27FC236}">
                <a16:creationId xmlns:a16="http://schemas.microsoft.com/office/drawing/2014/main" id="{A027F4E3-383B-429D-91E8-8095C7E47AB1}"/>
              </a:ext>
            </a:extLst>
          </p:cNvPr>
          <p:cNvSpPr>
            <a:spLocks noGrp="1"/>
          </p:cNvSpPr>
          <p:nvPr>
            <p:ph type="sldNum" idx="4294967295"/>
          </p:nvPr>
        </p:nvSpPr>
        <p:spPr>
          <a:xfrm>
            <a:off x="11094415" y="6400800"/>
            <a:ext cx="548640" cy="320040"/>
          </a:xfrm>
          <a:prstGeom prst="rect">
            <a:avLst/>
          </a:prstGeom>
        </p:spPr>
        <p:txBody>
          <a:bodyPr/>
          <a:lstStyle>
            <a:lvl1pPr>
              <a:buNone/>
              <a:defRPr sz="1050">
                <a:solidFill>
                  <a:srgbClr val="4E5E61"/>
                </a:solidFill>
                <a:latin typeface="Calibri"/>
                <a:ea typeface="Calibri"/>
                <a:cs typeface="Calibri"/>
              </a:defRPr>
            </a:lvl1pPr>
          </a:lstStyle>
          <a:p>
            <a:pPr algn="r">
              <a:buNone/>
            </a:pPr>
            <a:fld id="{F7021451-1387-4CA6-816F-3879F97B5CBC}" type="slidenum">
              <a:rPr b="0"/>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B38D947-8E19-49DC-B599-A1A4D5F7D3A1}"/>
              </a:ext>
            </a:extLst>
          </p:cNvPr>
          <p:cNvSpPr>
            <a:spLocks noGrp="1"/>
          </p:cNvSpPr>
          <p:nvPr>
            <p:ph type="sldNum" idx="4294967295"/>
          </p:nvPr>
        </p:nvSpPr>
        <p:spPr>
          <a:xfrm>
            <a:off x="11094415" y="6400800"/>
            <a:ext cx="548640" cy="320040"/>
          </a:xfrm>
          <a:prstGeom prst="rect">
            <a:avLst/>
          </a:prstGeom>
        </p:spPr>
        <p:txBody>
          <a:bodyPr/>
          <a:lstStyle>
            <a:lvl1pPr>
              <a:buNone/>
              <a:defRPr sz="1050">
                <a:solidFill>
                  <a:srgbClr val="B9BFC1"/>
                </a:solidFill>
                <a:latin typeface="Calibri"/>
                <a:ea typeface="Calibri"/>
                <a:cs typeface="Calibri"/>
              </a:defRPr>
            </a:lvl1pPr>
          </a:lstStyle>
          <a:p>
            <a:pPr algn="r">
              <a:buNone/>
            </a:pPr>
            <a:fld id="{F7021451-1387-4CA6-816F-3879F97B5CBC}" type="slidenum">
              <a:rPr b="0"/>
              <a:t>‹#›</a:t>
            </a:fld>
            <a:endParaRPr/>
          </a:p>
        </p:txBody>
      </p:sp>
      <p:sp>
        <p:nvSpPr>
          <p:cNvPr id="2" name="Text 0">
            <a:extLst>
              <a:ext uri="{FF2B5EF4-FFF2-40B4-BE49-F238E27FC236}">
                <a16:creationId xmlns:a16="http://schemas.microsoft.com/office/drawing/2014/main" id="{45541627-4E8E-44EC-985B-A73A1E825E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P5182 Industrial Policy">
            <a:extLst>
              <a:ext uri="{FF2B5EF4-FFF2-40B4-BE49-F238E27FC236}">
                <a16:creationId xmlns:a16="http://schemas.microsoft.com/office/drawing/2014/main" id="{738BFAD9-961A-43E9-B234-74EC26FFF5DD}"/>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FFFFFF"/>
                </a:solidFill>
                <a:latin typeface="Calibri"/>
                <a:ea typeface="Calibri"/>
                <a:cs typeface="Calibri"/>
              </a:defRPr>
            </a:pPr>
            <a:r>
              <a:rPr sz="3200" b="1" i="0">
                <a:solidFill>
                  <a:srgbClr val="FFFFFF"/>
                </a:solidFill>
                <a:latin typeface="Calibri"/>
                <a:ea typeface="Calibri"/>
                <a:cs typeface="Calibri"/>
              </a:rPr>
              <a:t>PP5182 Industrial Policy</a:t>
            </a:r>
          </a:p>
        </p:txBody>
      </p:sp>
      <p:sp>
        <p:nvSpPr>
          <p:cNvPr id="2" name="From economic heresy to geopolitica">
            <a:extLst>
              <a:ext uri="{FF2B5EF4-FFF2-40B4-BE49-F238E27FC236}">
                <a16:creationId xmlns:a16="http://schemas.microsoft.com/office/drawing/2014/main" id="{62C93C79-CB72-49EC-9ED6-34D542A9CF7F}"/>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B9BFC1"/>
                </a:solidFill>
                <a:latin typeface="Calibri"/>
                <a:ea typeface="Calibri"/>
                <a:cs typeface="Calibri"/>
              </a:defRPr>
            </a:pPr>
            <a:r>
              <a:rPr sz="1450" b="0" i="1">
                <a:solidFill>
                  <a:srgbClr val="B9BFC1"/>
                </a:solidFill>
                <a:latin typeface="Calibri"/>
                <a:ea typeface="Calibri"/>
                <a:cs typeface="Calibri"/>
              </a:rPr>
              <a:t>From economic heresy to geopolitical orthodoxy</a:t>
            </a:r>
          </a:p>
        </p:txBody>
      </p:sp>
      <p:sp>
        <p:nvSpPr>
          <p:cNvPr id="3" name="Why are the countries that once cri">
            <a:extLst>
              <a:ext uri="{FF2B5EF4-FFF2-40B4-BE49-F238E27FC236}">
                <a16:creationId xmlns:a16="http://schemas.microsoft.com/office/drawing/2014/main" id="{46C7FD15-B3D9-4BD7-A374-C8E165D0AB8F}"/>
              </a:ext>
            </a:extLst>
          </p:cNvPr>
          <p:cNvSpPr>
            <a:spLocks noGrp="1"/>
          </p:cNvSpPr>
          <p:nvPr/>
        </p:nvSpPr>
        <p:spPr>
          <a:xfrm>
            <a:off x="552450" y="2266950"/>
            <a:ext cx="10668000" cy="1809750"/>
          </a:xfrm>
          <a:prstGeom prst="rect">
            <a:avLst/>
          </a:prstGeom>
          <a:noFill/>
          <a:ln w="0">
            <a:noFill/>
          </a:ln>
        </p:spPr>
        <p:txBody>
          <a:bodyPr>
            <a:noAutofit/>
          </a:bodyPr>
          <a:lstStyle/>
          <a:p>
            <a:pPr>
              <a:defRPr sz="3375" b="1" i="0">
                <a:solidFill>
                  <a:srgbClr val="FFFFFF"/>
                </a:solidFill>
                <a:latin typeface="Calibri"/>
                <a:ea typeface="Calibri"/>
                <a:cs typeface="Calibri"/>
              </a:defRPr>
            </a:pPr>
            <a:r>
              <a:rPr sz="3375" b="1" i="0">
                <a:solidFill>
                  <a:srgbClr val="FFFFFF"/>
                </a:solidFill>
                <a:latin typeface="Calibri"/>
                <a:ea typeface="Calibri"/>
                <a:cs typeface="Calibri"/>
              </a:rPr>
              <a:t>Why are the countries that once criticised</a:t>
            </a:r>
          </a:p>
          <a:p>
            <a:pPr>
              <a:defRPr sz="3375" b="1" i="0">
                <a:solidFill>
                  <a:srgbClr val="FFFFFF"/>
                </a:solidFill>
                <a:latin typeface="Calibri"/>
                <a:ea typeface="Calibri"/>
                <a:cs typeface="Calibri"/>
              </a:defRPr>
            </a:pPr>
            <a:r>
              <a:rPr sz="3375" b="1" i="0">
                <a:solidFill>
                  <a:srgbClr val="FFFFFF"/>
                </a:solidFill>
                <a:latin typeface="Calibri"/>
                <a:ea typeface="Calibri"/>
                <a:cs typeface="Calibri"/>
              </a:rPr>
              <a:t>East Asian industrial policy now practising it?</a:t>
            </a:r>
          </a:p>
        </p:txBody>
      </p:sp>
      <p:sp>
        <p:nvSpPr>
          <p:cNvPr id="4" name="The instruments are familiar. The j">
            <a:extLst>
              <a:ext uri="{FF2B5EF4-FFF2-40B4-BE49-F238E27FC236}">
                <a16:creationId xmlns:a16="http://schemas.microsoft.com/office/drawing/2014/main" id="{87711FE9-697F-45CF-B69B-407AC84DFFFA}"/>
              </a:ext>
            </a:extLst>
          </p:cNvPr>
          <p:cNvSpPr>
            <a:spLocks noGrp="1"/>
          </p:cNvSpPr>
          <p:nvPr/>
        </p:nvSpPr>
        <p:spPr>
          <a:xfrm>
            <a:off x="552450" y="4524375"/>
            <a:ext cx="10382250" cy="666750"/>
          </a:xfrm>
          <a:prstGeom prst="rect">
            <a:avLst/>
          </a:prstGeom>
          <a:noFill/>
          <a:ln w="0">
            <a:noFill/>
          </a:ln>
        </p:spPr>
        <p:txBody>
          <a:bodyPr>
            <a:noAutofit/>
          </a:bodyPr>
          <a:lstStyle/>
          <a:p>
            <a:pPr>
              <a:defRPr sz="2100" b="0" i="0">
                <a:solidFill>
                  <a:srgbClr val="B9BFC1"/>
                </a:solidFill>
                <a:latin typeface="Calibri"/>
                <a:ea typeface="Calibri"/>
                <a:cs typeface="Calibri"/>
              </a:defRPr>
            </a:pPr>
            <a:r>
              <a:rPr sz="2100" b="0" i="0">
                <a:solidFill>
                  <a:srgbClr val="B9BFC1"/>
                </a:solidFill>
                <a:latin typeface="Calibri"/>
                <a:ea typeface="Calibri"/>
                <a:cs typeface="Calibri"/>
              </a:rPr>
              <a:t>The instruments are familiar. The justification has changed.</a:t>
            </a:r>
          </a:p>
        </p:txBody>
      </p:sp>
      <p:sp>
        <p:nvSpPr>
          <p:cNvPr id="5" name="Danny Quah&#10;Lee Kuan Yew School of P">
            <a:extLst>
              <a:ext uri="{FF2B5EF4-FFF2-40B4-BE49-F238E27FC236}">
                <a16:creationId xmlns:a16="http://schemas.microsoft.com/office/drawing/2014/main" id="{65B2414C-018F-45F3-8204-89233AAB8343}"/>
              </a:ext>
            </a:extLst>
          </p:cNvPr>
          <p:cNvSpPr>
            <a:spLocks noGrp="1"/>
          </p:cNvSpPr>
          <p:nvPr/>
        </p:nvSpPr>
        <p:spPr>
          <a:xfrm>
            <a:off x="552450" y="5476875"/>
            <a:ext cx="10477500" cy="552450"/>
          </a:xfrm>
          <a:prstGeom prst="rect">
            <a:avLst/>
          </a:prstGeom>
          <a:noFill/>
          <a:ln w="0">
            <a:noFill/>
          </a:ln>
        </p:spPr>
        <p:txBody>
          <a:bodyPr>
            <a:noAutofit/>
          </a:bodyPr>
          <a:lstStyle/>
          <a:p>
            <a:pPr>
              <a:defRPr sz="1350" b="0" i="0">
                <a:solidFill>
                  <a:srgbClr val="B9BFC1"/>
                </a:solidFill>
                <a:latin typeface="Calibri"/>
                <a:ea typeface="Calibri"/>
                <a:cs typeface="Calibri"/>
              </a:defRPr>
            </a:pPr>
            <a:r>
              <a:rPr sz="1350" b="0" i="0">
                <a:solidFill>
                  <a:srgbClr val="B9BFC1"/>
                </a:solidFill>
                <a:latin typeface="Calibri"/>
                <a:ea typeface="Calibri"/>
                <a:cs typeface="Calibri"/>
              </a:rPr>
              <a:t>Danny Quah</a:t>
            </a:r>
          </a:p>
          <a:p>
            <a:pPr>
              <a:defRPr sz="1350" b="0" i="0">
                <a:solidFill>
                  <a:srgbClr val="B9BFC1"/>
                </a:solidFill>
                <a:latin typeface="Calibri"/>
                <a:ea typeface="Calibri"/>
                <a:cs typeface="Calibri"/>
              </a:defRPr>
            </a:pPr>
            <a:r>
              <a:rPr sz="1350" b="0" i="0">
                <a:solidFill>
                  <a:srgbClr val="B9BFC1"/>
                </a:solidFill>
                <a:latin typeface="Calibri"/>
                <a:ea typeface="Calibri"/>
                <a:cs typeface="Calibri"/>
              </a:rPr>
              <a:t>Lee Kuan Yew School of Public Policy, NUS • 7 September 2026</a:t>
            </a:r>
          </a:p>
        </p:txBody>
      </p:sp>
      <p:sp>
        <p:nvSpPr>
          <p:cNvPr id="900" name="Text 0">
            <a:extLst>
              <a:ext uri="{FF2B5EF4-FFF2-40B4-BE49-F238E27FC236}">
                <a16:creationId xmlns:a16="http://schemas.microsoft.com/office/drawing/2014/main" id="{F9D47EBA-5F36-4314-9FFA-415D25EDFBE7}"/>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B9BFC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1891C053-36AC-449A-A11B-8899FF3EB695}"/>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B9BFC1"/>
                </a:solidFill>
                <a:latin typeface="Calibri"/>
                <a:ea typeface="Calibri"/>
                <a:cs typeface="Calibri"/>
              </a:defRPr>
            </a:lvl1pPr>
          </a:lstStyle>
          <a:p>
            <a:fld id="{CBCAC527-976F-420D-8CBC-D355D43A7689}" type="slidenum">
              <a:rPr b="0"/>
              <a:t>1</a:t>
            </a:fld>
            <a:r>
              <a:rPr b="0"/>
              <a:t> / 19</a:t>
            </a:r>
          </a:p>
        </p:txBody>
      </p:sp>
    </p:spTree>
    <p:extLst>
      <p:ext uri="{BB962C8B-B14F-4D97-AF65-F5344CB8AC3E}">
        <p14:creationId xmlns:p14="http://schemas.microsoft.com/office/powerpoint/2010/main" val="154394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3A73F7C-4921-434B-832E-B126C0896295}"/>
              </a:ext>
            </a:extLst>
          </p:cNvPr>
          <p:cNvSpPr>
            <a:spLocks noGrp="1"/>
          </p:cNvSpPr>
          <p:nvPr/>
        </p:nvSpPr>
        <p:spPr>
          <a:xfrm>
            <a:off x="548640" y="411480"/>
            <a:ext cx="11094415" cy="685800"/>
          </a:xfrm>
          <a:prstGeom prst="rect">
            <a:avLst/>
          </a:prstGeom>
          <a:noFill/>
        </p:spPr>
        <p:txBody>
          <a:bodyPr wrap="square" lIns="0" tIns="0" rIns="0" bIns="0" anchor="ctr"/>
          <a:lstStyle/>
          <a:p>
            <a:pPr marL="0" indent="0" algn="l">
              <a:buNone/>
            </a:pPr>
            <a:r>
              <a:rPr sz="3200" b="1">
                <a:solidFill>
                  <a:srgbClr val="23373B"/>
                </a:solidFill>
                <a:latin typeface="Cambria"/>
                <a:ea typeface="Cambria"/>
                <a:cs typeface="Cambria"/>
              </a:rPr>
              <a:t>“Japan as Number One”</a:t>
            </a:r>
            <a:endParaRPr sz="3200"/>
          </a:p>
        </p:txBody>
      </p:sp>
      <p:sp>
        <p:nvSpPr>
          <p:cNvPr id="3" name="Text 1">
            <a:extLst>
              <a:ext uri="{FF2B5EF4-FFF2-40B4-BE49-F238E27FC236}">
                <a16:creationId xmlns:a16="http://schemas.microsoft.com/office/drawing/2014/main" id="{2737152C-D614-408A-8C59-BA534E238EC6}"/>
              </a:ext>
            </a:extLst>
          </p:cNvPr>
          <p:cNvSpPr>
            <a:spLocks noGrp="1"/>
          </p:cNvSpPr>
          <p:nvPr/>
        </p:nvSpPr>
        <p:spPr>
          <a:xfrm>
            <a:off x="548640" y="1078992"/>
            <a:ext cx="11094415" cy="365760"/>
          </a:xfrm>
          <a:prstGeom prst="rect">
            <a:avLst/>
          </a:prstGeom>
          <a:noFill/>
        </p:spPr>
        <p:txBody>
          <a:bodyPr wrap="square" lIns="0" tIns="0" rIns="0" bIns="0" anchor="ctr"/>
          <a:lstStyle/>
          <a:p>
            <a:pPr marL="0" indent="0" algn="l">
              <a:buNone/>
            </a:pPr>
            <a:r>
              <a:rPr sz="1450" i="1">
                <a:solidFill>
                  <a:srgbClr val="4E5E61"/>
                </a:solidFill>
                <a:latin typeface="Calibri"/>
                <a:ea typeface="Calibri"/>
                <a:cs typeface="Calibri"/>
              </a:rPr>
              <a:t>Theodore White, 1985 — the story runs earlier than China.</a:t>
            </a:r>
            <a:endParaRPr sz="1450"/>
          </a:p>
        </p:txBody>
      </p:sp>
      <p:sp>
        <p:nvSpPr>
          <p:cNvPr id="4" name="Shape 2">
            <a:extLst>
              <a:ext uri="{FF2B5EF4-FFF2-40B4-BE49-F238E27FC236}">
                <a16:creationId xmlns:a16="http://schemas.microsoft.com/office/drawing/2014/main" id="{4BD1E42E-18FD-4F1A-B4E7-80652E918CD4}"/>
              </a:ext>
            </a:extLst>
          </p:cNvPr>
          <p:cNvSpPr>
            <a:spLocks noGrp="1"/>
          </p:cNvSpPr>
          <p:nvPr/>
        </p:nvSpPr>
        <p:spPr>
          <a:xfrm>
            <a:off x="548640" y="1691640"/>
            <a:ext cx="5166360" cy="3840480"/>
          </a:xfrm>
          <a:prstGeom prst="roundRect">
            <a:avLst>
              <a:gd name="adj" fmla="val 1429"/>
            </a:avLst>
          </a:prstGeom>
          <a:solidFill>
            <a:srgbClr val="EDF0F0"/>
          </a:solidFill>
        </p:spPr>
        <p:txBody>
          <a:bodyPr/>
          <a:lstStyle/>
          <a:p>
            <a:endParaRPr/>
          </a:p>
        </p:txBody>
      </p:sp>
      <p:sp>
        <p:nvSpPr>
          <p:cNvPr id="5" name="Shape 3">
            <a:extLst>
              <a:ext uri="{FF2B5EF4-FFF2-40B4-BE49-F238E27FC236}">
                <a16:creationId xmlns:a16="http://schemas.microsoft.com/office/drawing/2014/main" id="{0402A475-6A97-4835-B8BD-0F713F84A220}"/>
              </a:ext>
            </a:extLst>
          </p:cNvPr>
          <p:cNvSpPr>
            <a:spLocks noGrp="1"/>
          </p:cNvSpPr>
          <p:nvPr/>
        </p:nvSpPr>
        <p:spPr>
          <a:xfrm>
            <a:off x="914400" y="2011680"/>
            <a:ext cx="640080" cy="0"/>
          </a:xfrm>
          <a:prstGeom prst="line">
            <a:avLst/>
          </a:prstGeom>
          <a:noFill/>
          <a:ln w="38100">
            <a:solidFill>
              <a:srgbClr val="EB811B"/>
            </a:solidFill>
            <a:prstDash val="solid"/>
          </a:ln>
        </p:spPr>
        <p:txBody>
          <a:bodyPr/>
          <a:lstStyle/>
          <a:p>
            <a:endParaRPr/>
          </a:p>
        </p:txBody>
      </p:sp>
      <p:sp>
        <p:nvSpPr>
          <p:cNvPr id="6" name="Text 4">
            <a:extLst>
              <a:ext uri="{FF2B5EF4-FFF2-40B4-BE49-F238E27FC236}">
                <a16:creationId xmlns:a16="http://schemas.microsoft.com/office/drawing/2014/main" id="{63377931-F05F-4502-BB41-0914169882B8}"/>
              </a:ext>
            </a:extLst>
          </p:cNvPr>
          <p:cNvSpPr>
            <a:spLocks noGrp="1"/>
          </p:cNvSpPr>
          <p:nvPr/>
        </p:nvSpPr>
        <p:spPr>
          <a:xfrm>
            <a:off x="914400" y="2194560"/>
            <a:ext cx="4434840" cy="320040"/>
          </a:xfrm>
          <a:prstGeom prst="rect">
            <a:avLst/>
          </a:prstGeom>
          <a:noFill/>
        </p:spPr>
        <p:txBody>
          <a:bodyPr wrap="square" lIns="0" tIns="0" rIns="0" bIns="0" anchor="ctr"/>
          <a:lstStyle/>
          <a:p>
            <a:pPr marL="0" indent="0" algn="l">
              <a:buNone/>
            </a:pPr>
            <a:r>
              <a:rPr sz="1250" b="1">
                <a:solidFill>
                  <a:srgbClr val="23373B"/>
                </a:solidFill>
                <a:latin typeface="Calibri"/>
                <a:ea typeface="Calibri"/>
                <a:cs typeface="Calibri"/>
              </a:rPr>
              <a:t>Theodore White, 1985</a:t>
            </a:r>
            <a:endParaRPr sz="1250"/>
          </a:p>
        </p:txBody>
      </p:sp>
      <p:sp>
        <p:nvSpPr>
          <p:cNvPr id="7" name="Text 5">
            <a:extLst>
              <a:ext uri="{FF2B5EF4-FFF2-40B4-BE49-F238E27FC236}">
                <a16:creationId xmlns:a16="http://schemas.microsoft.com/office/drawing/2014/main" id="{A540FFC6-1EB2-408F-A535-5C40BFE33878}"/>
              </a:ext>
            </a:extLst>
          </p:cNvPr>
          <p:cNvSpPr>
            <a:spLocks noGrp="1"/>
          </p:cNvSpPr>
          <p:nvPr/>
        </p:nvSpPr>
        <p:spPr>
          <a:xfrm>
            <a:off x="914400" y="2606040"/>
            <a:ext cx="4434840" cy="2743200"/>
          </a:xfrm>
          <a:prstGeom prst="rect">
            <a:avLst/>
          </a:prstGeom>
          <a:noFill/>
        </p:spPr>
        <p:txBody>
          <a:bodyPr wrap="square" lIns="0" tIns="0" rIns="0" bIns="0" anchor="t"/>
          <a:lstStyle/>
          <a:p>
            <a:pPr marL="0" indent="0" algn="l">
              <a:lnSpc>
                <a:spcPct val="130000"/>
              </a:lnSpc>
              <a:buNone/>
            </a:pPr>
            <a:r>
              <a:rPr sz="1700" i="1">
                <a:solidFill>
                  <a:srgbClr val="23373B"/>
                </a:solidFill>
                <a:latin typeface="Cambria"/>
                <a:ea typeface="Cambria"/>
                <a:cs typeface="Cambria"/>
              </a:rPr>
              <a:t>“Today not a single consumer radio is made in America, although Americans invented the modern radio; not a single black-and-white television set is made here, although America invented television.”</a:t>
            </a:r>
            <a:endParaRPr sz="1700"/>
          </a:p>
        </p:txBody>
      </p:sp>
      <p:sp>
        <p:nvSpPr>
          <p:cNvPr id="8" name="Shape 6">
            <a:extLst>
              <a:ext uri="{FF2B5EF4-FFF2-40B4-BE49-F238E27FC236}">
                <a16:creationId xmlns:a16="http://schemas.microsoft.com/office/drawing/2014/main" id="{4C5D15D9-5970-430D-B8A6-921087C08D30}"/>
              </a:ext>
            </a:extLst>
          </p:cNvPr>
          <p:cNvSpPr>
            <a:spLocks noGrp="1"/>
          </p:cNvSpPr>
          <p:nvPr/>
        </p:nvSpPr>
        <p:spPr>
          <a:xfrm>
            <a:off x="6080760" y="1691640"/>
            <a:ext cx="5166360" cy="3840480"/>
          </a:xfrm>
          <a:prstGeom prst="roundRect">
            <a:avLst>
              <a:gd name="adj" fmla="val 1429"/>
            </a:avLst>
          </a:prstGeom>
          <a:solidFill>
            <a:srgbClr val="EDF0F0"/>
          </a:solidFill>
        </p:spPr>
        <p:txBody>
          <a:bodyPr/>
          <a:lstStyle/>
          <a:p>
            <a:endParaRPr/>
          </a:p>
        </p:txBody>
      </p:sp>
      <p:sp>
        <p:nvSpPr>
          <p:cNvPr id="9" name="Shape 7">
            <a:extLst>
              <a:ext uri="{FF2B5EF4-FFF2-40B4-BE49-F238E27FC236}">
                <a16:creationId xmlns:a16="http://schemas.microsoft.com/office/drawing/2014/main" id="{7D0617BB-32EF-4B1E-9DD2-63D492B8F106}"/>
              </a:ext>
            </a:extLst>
          </p:cNvPr>
          <p:cNvSpPr>
            <a:spLocks noGrp="1"/>
          </p:cNvSpPr>
          <p:nvPr/>
        </p:nvSpPr>
        <p:spPr>
          <a:xfrm>
            <a:off x="6446520" y="2011680"/>
            <a:ext cx="640080" cy="0"/>
          </a:xfrm>
          <a:prstGeom prst="line">
            <a:avLst/>
          </a:prstGeom>
          <a:noFill/>
          <a:ln w="38100">
            <a:solidFill>
              <a:srgbClr val="EB811B"/>
            </a:solidFill>
            <a:prstDash val="solid"/>
          </a:ln>
        </p:spPr>
        <p:txBody>
          <a:bodyPr/>
          <a:lstStyle/>
          <a:p>
            <a:endParaRPr/>
          </a:p>
        </p:txBody>
      </p:sp>
      <p:sp>
        <p:nvSpPr>
          <p:cNvPr id="10" name="Text 8">
            <a:extLst>
              <a:ext uri="{FF2B5EF4-FFF2-40B4-BE49-F238E27FC236}">
                <a16:creationId xmlns:a16="http://schemas.microsoft.com/office/drawing/2014/main" id="{37FD15CA-FEDA-47F3-B606-B3C903D00AA6}"/>
              </a:ext>
            </a:extLst>
          </p:cNvPr>
          <p:cNvSpPr>
            <a:spLocks noGrp="1"/>
          </p:cNvSpPr>
          <p:nvPr/>
        </p:nvSpPr>
        <p:spPr>
          <a:xfrm>
            <a:off x="6446520" y="2194560"/>
            <a:ext cx="4434840" cy="320040"/>
          </a:xfrm>
          <a:prstGeom prst="rect">
            <a:avLst/>
          </a:prstGeom>
          <a:noFill/>
        </p:spPr>
        <p:txBody>
          <a:bodyPr wrap="square" lIns="0" tIns="0" rIns="0" bIns="0" anchor="ctr"/>
          <a:lstStyle/>
          <a:p>
            <a:pPr marL="0" indent="0" algn="l">
              <a:buNone/>
            </a:pPr>
            <a:r>
              <a:rPr sz="1250" b="1">
                <a:solidFill>
                  <a:srgbClr val="23373B"/>
                </a:solidFill>
                <a:latin typeface="Calibri"/>
                <a:ea typeface="Calibri"/>
                <a:cs typeface="Calibri"/>
              </a:rPr>
              <a:t>Malcolm Baldrige, US Secretary of Commerce, 1981–1987</a:t>
            </a:r>
            <a:endParaRPr sz="1250"/>
          </a:p>
        </p:txBody>
      </p:sp>
      <p:sp>
        <p:nvSpPr>
          <p:cNvPr id="11" name="Text 9">
            <a:extLst>
              <a:ext uri="{FF2B5EF4-FFF2-40B4-BE49-F238E27FC236}">
                <a16:creationId xmlns:a16="http://schemas.microsoft.com/office/drawing/2014/main" id="{58732943-2C09-4BB8-92EC-DB69928B1E4F}"/>
              </a:ext>
            </a:extLst>
          </p:cNvPr>
          <p:cNvSpPr>
            <a:spLocks noGrp="1"/>
          </p:cNvSpPr>
          <p:nvPr/>
        </p:nvSpPr>
        <p:spPr>
          <a:xfrm>
            <a:off x="6446520" y="2606040"/>
            <a:ext cx="4434840" cy="2743200"/>
          </a:xfrm>
          <a:prstGeom prst="rect">
            <a:avLst/>
          </a:prstGeom>
          <a:noFill/>
        </p:spPr>
        <p:txBody>
          <a:bodyPr wrap="square" lIns="0" tIns="0" rIns="0" bIns="0" anchor="t"/>
          <a:lstStyle/>
          <a:p>
            <a:pPr marL="0" indent="0" algn="l">
              <a:lnSpc>
                <a:spcPct val="125000"/>
              </a:lnSpc>
              <a:buNone/>
            </a:pPr>
            <a:r>
              <a:rPr sz="1500" i="1">
                <a:solidFill>
                  <a:srgbClr val="23373B"/>
                </a:solidFill>
                <a:latin typeface="Cambria"/>
                <a:ea typeface="Cambria"/>
                <a:cs typeface="Cambria"/>
              </a:rPr>
              <a:t>“We sent them blood-fractionating technology on humanitarian grounds. Today the company we gave the technology to competes with Americans around the world. We sent them technicians from the Underwriters Laboratory to certify that Japanese products were up to American standards, fit for export. Today U.S. companies fight to get their exports certified for entry into Japan.”</a:t>
            </a:r>
            <a:endParaRPr sz="1500"/>
          </a:p>
        </p:txBody>
      </p:sp>
      <p:sp>
        <p:nvSpPr>
          <p:cNvPr id="12" name="Text 10">
            <a:extLst>
              <a:ext uri="{FF2B5EF4-FFF2-40B4-BE49-F238E27FC236}">
                <a16:creationId xmlns:a16="http://schemas.microsoft.com/office/drawing/2014/main" id="{290526DC-5DB4-4628-9B53-0E2A64D7CDAB}"/>
              </a:ext>
            </a:extLst>
          </p:cNvPr>
          <p:cNvSpPr>
            <a:spLocks noGrp="1"/>
          </p:cNvSpPr>
          <p:nvPr/>
        </p:nvSpPr>
        <p:spPr>
          <a:xfrm>
            <a:off x="6446520" y="5166360"/>
            <a:ext cx="4434840" cy="274320"/>
          </a:xfrm>
          <a:prstGeom prst="rect">
            <a:avLst/>
          </a:prstGeom>
          <a:noFill/>
        </p:spPr>
        <p:txBody>
          <a:bodyPr wrap="square" lIns="0" tIns="0" rIns="0" bIns="0" anchor="ctr"/>
          <a:lstStyle/>
          <a:p>
            <a:pPr marL="0" indent="0" algn="l">
              <a:buNone/>
            </a:pPr>
            <a:r>
              <a:rPr sz="1050">
                <a:solidFill>
                  <a:srgbClr val="4E5E61"/>
                </a:solidFill>
                <a:latin typeface="Calibri"/>
                <a:ea typeface="Calibri"/>
                <a:cs typeface="Calibri"/>
              </a:rPr>
              <a:t>(Reported in Theodore White, 1985)</a:t>
            </a:r>
            <a:endParaRPr sz="1050"/>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F3C19177-E89E-452B-B223-27BD33913041}" type="slidenum">
              <a:rPr b="0"/>
              <a:t>2</a:t>
            </a:fld>
            <a:r>
              <a:rPr b="0"/>
              <a:t> / 19</a:t>
            </a:r>
          </a:p>
        </p:txBody>
      </p:sp>
    </p:spTree>
    <p:extLst>
      <p:ext uri="{BB962C8B-B14F-4D97-AF65-F5344CB8AC3E}">
        <p14:creationId xmlns:p14="http://schemas.microsoft.com/office/powerpoint/2010/main" val="752096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ast Asia changed what it could sel">
            <a:extLst>
              <a:ext uri="{FF2B5EF4-FFF2-40B4-BE49-F238E27FC236}">
                <a16:creationId xmlns:a16="http://schemas.microsoft.com/office/drawing/2014/main" id="{65FB2675-69D7-41DE-9D21-2BE92DDF0B9D}"/>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East Asia changed what it could sell</a:t>
            </a:r>
          </a:p>
        </p:txBody>
      </p:sp>
      <p:sp>
        <p:nvSpPr>
          <p:cNvPr id="2" name="South Korea’s early export transfor">
            <a:extLst>
              <a:ext uri="{FF2B5EF4-FFF2-40B4-BE49-F238E27FC236}">
                <a16:creationId xmlns:a16="http://schemas.microsoft.com/office/drawing/2014/main" id="{2D07869C-C980-4940-8AF9-F534FF423848}"/>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South Korea’s early export transformation, 1960–1969</a:t>
            </a:r>
          </a:p>
        </p:txBody>
      </p:sp>
      <p:sp>
        <p:nvSpPr>
          <p:cNvPr id="3" name="106-fold">
            <a:extLst>
              <a:ext uri="{FF2B5EF4-FFF2-40B4-BE49-F238E27FC236}">
                <a16:creationId xmlns:a16="http://schemas.microsoft.com/office/drawing/2014/main" id="{2D74AD42-40B4-415A-8DE6-6AC6B1A2639D}"/>
              </a:ext>
            </a:extLst>
          </p:cNvPr>
          <p:cNvSpPr>
            <a:spLocks noGrp="1"/>
          </p:cNvSpPr>
          <p:nvPr/>
        </p:nvSpPr>
        <p:spPr>
          <a:xfrm>
            <a:off x="552450" y="1981200"/>
            <a:ext cx="6191250" cy="1333500"/>
          </a:xfrm>
          <a:prstGeom prst="rect">
            <a:avLst/>
          </a:prstGeom>
          <a:noFill/>
          <a:ln w="0">
            <a:noFill/>
          </a:ln>
        </p:spPr>
        <p:txBody>
          <a:bodyPr>
            <a:noAutofit/>
          </a:bodyPr>
          <a:lstStyle/>
          <a:p>
            <a:pPr>
              <a:defRPr sz="7800" b="1" i="0">
                <a:solidFill>
                  <a:srgbClr val="EB811B"/>
                </a:solidFill>
                <a:latin typeface="Calibri"/>
                <a:ea typeface="Calibri"/>
                <a:cs typeface="Calibri"/>
              </a:defRPr>
            </a:pPr>
            <a:r>
              <a:rPr sz="7800" b="1" i="0">
                <a:solidFill>
                  <a:srgbClr val="EB811B"/>
                </a:solidFill>
                <a:latin typeface="Calibri"/>
                <a:ea typeface="Calibri"/>
                <a:cs typeface="Calibri"/>
              </a:rPr>
              <a:t>106-fold</a:t>
            </a:r>
          </a:p>
        </p:txBody>
      </p:sp>
      <p:sp>
        <p:nvSpPr>
          <p:cNvPr id="4" name="increase in manufactured exports&#10;in">
            <a:extLst>
              <a:ext uri="{FF2B5EF4-FFF2-40B4-BE49-F238E27FC236}">
                <a16:creationId xmlns:a16="http://schemas.microsoft.com/office/drawing/2014/main" id="{D7CDC337-BB56-483B-ADD8-63637F582248}"/>
              </a:ext>
            </a:extLst>
          </p:cNvPr>
          <p:cNvSpPr>
            <a:spLocks noGrp="1"/>
          </p:cNvSpPr>
          <p:nvPr/>
        </p:nvSpPr>
        <p:spPr>
          <a:xfrm>
            <a:off x="619125" y="3524250"/>
            <a:ext cx="10096500" cy="1066800"/>
          </a:xfrm>
          <a:prstGeom prst="rect">
            <a:avLst/>
          </a:prstGeom>
          <a:noFill/>
          <a:ln w="0">
            <a:noFill/>
          </a:ln>
        </p:spPr>
        <p:txBody>
          <a:bodyPr>
            <a:noAutofit/>
          </a:bodyPr>
          <a:lstStyle/>
          <a:p>
            <a:pPr>
              <a:defRPr sz="3000" b="1" i="0">
                <a:solidFill>
                  <a:srgbClr val="23373B"/>
                </a:solidFill>
                <a:latin typeface="Calibri"/>
                <a:ea typeface="Calibri"/>
                <a:cs typeface="Calibri"/>
              </a:defRPr>
            </a:pPr>
            <a:r>
              <a:rPr sz="3000" b="1" i="0">
                <a:solidFill>
                  <a:srgbClr val="23373B"/>
                </a:solidFill>
                <a:latin typeface="Calibri"/>
                <a:ea typeface="Calibri"/>
                <a:cs typeface="Calibri"/>
              </a:rPr>
              <a:t>increase in manufactured exports</a:t>
            </a:r>
          </a:p>
          <a:p>
            <a:pPr>
              <a:defRPr sz="3000" b="1" i="0">
                <a:solidFill>
                  <a:srgbClr val="23373B"/>
                </a:solidFill>
                <a:latin typeface="Calibri"/>
                <a:ea typeface="Calibri"/>
                <a:cs typeface="Calibri"/>
              </a:defRPr>
            </a:pPr>
            <a:r>
              <a:rPr sz="3000" b="1" i="0">
                <a:solidFill>
                  <a:srgbClr val="23373B"/>
                </a:solidFill>
                <a:latin typeface="Calibri"/>
                <a:ea typeface="Calibri"/>
                <a:cs typeface="Calibri"/>
              </a:rPr>
              <a:t>in just nine years</a:t>
            </a:r>
          </a:p>
        </p:txBody>
      </p:sp>
      <p:sp>
        <p:nvSpPr>
          <p:cNvPr id="5" name="By 1969, manufactures accounted for">
            <a:extLst>
              <a:ext uri="{FF2B5EF4-FFF2-40B4-BE49-F238E27FC236}">
                <a16:creationId xmlns:a16="http://schemas.microsoft.com/office/drawing/2014/main" id="{3AB168C9-49AD-4406-B0F3-46EFBED09DDB}"/>
              </a:ext>
            </a:extLst>
          </p:cNvPr>
          <p:cNvSpPr>
            <a:spLocks noGrp="1"/>
          </p:cNvSpPr>
          <p:nvPr/>
        </p:nvSpPr>
        <p:spPr>
          <a:xfrm>
            <a:off x="619125" y="4953000"/>
            <a:ext cx="10191750" cy="666750"/>
          </a:xfrm>
          <a:prstGeom prst="rect">
            <a:avLst/>
          </a:prstGeom>
          <a:noFill/>
          <a:ln w="0">
            <a:noFill/>
          </a:ln>
        </p:spPr>
        <p:txBody>
          <a:bodyPr>
            <a:noAutofit/>
          </a:bodyPr>
          <a:lstStyle/>
          <a:p>
            <a:pPr>
              <a:defRPr sz="2100" b="0" i="0">
                <a:solidFill>
                  <a:srgbClr val="4E5E61"/>
                </a:solidFill>
                <a:latin typeface="Calibri"/>
                <a:ea typeface="Calibri"/>
                <a:cs typeface="Calibri"/>
              </a:defRPr>
            </a:pPr>
            <a:r>
              <a:rPr sz="2100" b="0" i="0">
                <a:solidFill>
                  <a:srgbClr val="4E5E61"/>
                </a:solidFill>
                <a:latin typeface="Calibri"/>
                <a:ea typeface="Calibri"/>
                <a:cs typeface="Calibri"/>
              </a:rPr>
              <a:t>By 1969, manufactures accounted for 77% of Korea’s exports.</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3315988C-7A93-40B8-B741-6843F76665AE}" type="slidenum">
              <a:rPr b="0"/>
              <a:t>3</a:t>
            </a:fld>
            <a:r>
              <a:rPr b="0"/>
              <a:t> / 19</a:t>
            </a:r>
          </a:p>
        </p:txBody>
      </p:sp>
    </p:spTree>
    <p:extLst>
      <p:ext uri="{BB962C8B-B14F-4D97-AF65-F5344CB8AC3E}">
        <p14:creationId xmlns:p14="http://schemas.microsoft.com/office/powerpoint/2010/main" val="102754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ree Western reactions">
            <a:extLst>
              <a:ext uri="{FF2B5EF4-FFF2-40B4-BE49-F238E27FC236}">
                <a16:creationId xmlns:a16="http://schemas.microsoft.com/office/drawing/2014/main" id="{22A259E7-858C-4544-8E22-960EE9671914}"/>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Three Western reactions</a:t>
            </a:r>
          </a:p>
        </p:txBody>
      </p:sp>
      <p:sp>
        <p:nvSpPr>
          <p:cNvPr id="2" name="Unfair. Futile. Imitate.">
            <a:extLst>
              <a:ext uri="{FF2B5EF4-FFF2-40B4-BE49-F238E27FC236}">
                <a16:creationId xmlns:a16="http://schemas.microsoft.com/office/drawing/2014/main" id="{F3A1D3DD-4A9F-41F9-8F20-3829982CE506}"/>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Unfair. Futile. Imitate.</a:t>
            </a:r>
          </a:p>
        </p:txBody>
      </p:sp>
      <p:sp>
        <p:nvSpPr>
          <p:cNvPr id="3" name="UNFAIR">
            <a:extLst>
              <a:ext uri="{FF2B5EF4-FFF2-40B4-BE49-F238E27FC236}">
                <a16:creationId xmlns:a16="http://schemas.microsoft.com/office/drawing/2014/main" id="{9B21CB89-5B0F-4926-A0CB-1CCC5ADA206E}"/>
              </a:ext>
            </a:extLst>
          </p:cNvPr>
          <p:cNvSpPr>
            <a:spLocks noGrp="1"/>
          </p:cNvSpPr>
          <p:nvPr/>
        </p:nvSpPr>
        <p:spPr>
          <a:xfrm>
            <a:off x="552450" y="1981200"/>
            <a:ext cx="2476500" cy="1133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UNFAIR</a:t>
            </a:r>
          </a:p>
        </p:txBody>
      </p:sp>
      <p:sp>
        <p:nvSpPr>
          <p:cNvPr id="4" name="“Japan Inc.”: subsidies, keiretsu a">
            <a:extLst>
              <a:ext uri="{FF2B5EF4-FFF2-40B4-BE49-F238E27FC236}">
                <a16:creationId xmlns:a16="http://schemas.microsoft.com/office/drawing/2014/main" id="{45F5A340-040B-4A82-B980-42EC366B42B9}"/>
              </a:ext>
            </a:extLst>
          </p:cNvPr>
          <p:cNvSpPr>
            <a:spLocks noGrp="1"/>
          </p:cNvSpPr>
          <p:nvPr/>
        </p:nvSpPr>
        <p:spPr>
          <a:xfrm>
            <a:off x="3381375" y="1981200"/>
            <a:ext cx="8220075" cy="11334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dirty="0">
                <a:solidFill>
                  <a:srgbClr val="23373B"/>
                </a:solidFill>
                <a:latin typeface="Calibri"/>
                <a:ea typeface="Calibri"/>
                <a:cs typeface="Calibri"/>
              </a:rPr>
              <a:t>“Japan Inc.”: subsidies, keiretsu</a:t>
            </a:r>
            <a:r>
              <a:rPr lang="en-US" sz="1950" b="0" i="0" dirty="0">
                <a:solidFill>
                  <a:srgbClr val="23373B"/>
                </a:solidFill>
                <a:latin typeface="Calibri"/>
                <a:ea typeface="Calibri"/>
                <a:cs typeface="Calibri"/>
              </a:rPr>
              <a:t>,</a:t>
            </a:r>
            <a:r>
              <a:rPr sz="1950" b="0" i="0" dirty="0">
                <a:solidFill>
                  <a:srgbClr val="23373B"/>
                </a:solidFill>
                <a:latin typeface="Calibri"/>
                <a:ea typeface="Calibri"/>
                <a:cs typeface="Calibri"/>
              </a:rPr>
              <a:t> and chaebols.</a:t>
            </a:r>
          </a:p>
          <a:p>
            <a:pPr>
              <a:defRPr sz="1950" b="0" i="0">
                <a:solidFill>
                  <a:srgbClr val="23373B"/>
                </a:solidFill>
                <a:latin typeface="Calibri"/>
                <a:ea typeface="Calibri"/>
                <a:cs typeface="Calibri"/>
              </a:defRPr>
            </a:pPr>
            <a:r>
              <a:rPr sz="1950" b="0" i="0" dirty="0">
                <a:solidFill>
                  <a:srgbClr val="23373B"/>
                </a:solidFill>
                <a:latin typeface="Calibri"/>
                <a:ea typeface="Calibri"/>
                <a:cs typeface="Calibri"/>
              </a:rPr>
              <a:t>Semiconductor dumping and barriers to market access.</a:t>
            </a:r>
          </a:p>
        </p:txBody>
      </p:sp>
      <p:sp>
        <p:nvSpPr>
          <p:cNvPr id="5" name="FUTILE">
            <a:extLst>
              <a:ext uri="{FF2B5EF4-FFF2-40B4-BE49-F238E27FC236}">
                <a16:creationId xmlns:a16="http://schemas.microsoft.com/office/drawing/2014/main" id="{1F442E27-76E2-4222-8661-74BFB2AA3837}"/>
              </a:ext>
            </a:extLst>
          </p:cNvPr>
          <p:cNvSpPr>
            <a:spLocks noGrp="1"/>
          </p:cNvSpPr>
          <p:nvPr/>
        </p:nvSpPr>
        <p:spPr>
          <a:xfrm>
            <a:off x="552450" y="3228975"/>
            <a:ext cx="2476500" cy="1133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FUTILE</a:t>
            </a:r>
          </a:p>
        </p:txBody>
      </p:sp>
      <p:sp>
        <p:nvSpPr>
          <p:cNvPr id="6" name="Krugman (1994): rapid input accumul">
            <a:extLst>
              <a:ext uri="{FF2B5EF4-FFF2-40B4-BE49-F238E27FC236}">
                <a16:creationId xmlns:a16="http://schemas.microsoft.com/office/drawing/2014/main" id="{073BF2FC-F7BB-48DC-9297-0D2C2B4EE180}"/>
              </a:ext>
            </a:extLst>
          </p:cNvPr>
          <p:cNvSpPr>
            <a:spLocks noGrp="1"/>
          </p:cNvSpPr>
          <p:nvPr/>
        </p:nvSpPr>
        <p:spPr>
          <a:xfrm>
            <a:off x="3381375" y="3228975"/>
            <a:ext cx="8220075" cy="11334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Krugman (1994): rapid input accumulation alone</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cannot sustain exceptional growth indefinitely.</a:t>
            </a:r>
          </a:p>
        </p:txBody>
      </p:sp>
      <p:sp>
        <p:nvSpPr>
          <p:cNvPr id="7" name="IMITATE">
            <a:extLst>
              <a:ext uri="{FF2B5EF4-FFF2-40B4-BE49-F238E27FC236}">
                <a16:creationId xmlns:a16="http://schemas.microsoft.com/office/drawing/2014/main" id="{90FF5561-22B2-4235-B4A6-BF4DF7B60997}"/>
              </a:ext>
            </a:extLst>
          </p:cNvPr>
          <p:cNvSpPr>
            <a:spLocks noGrp="1"/>
          </p:cNvSpPr>
          <p:nvPr/>
        </p:nvSpPr>
        <p:spPr>
          <a:xfrm>
            <a:off x="552450" y="4476750"/>
            <a:ext cx="2476500" cy="1133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IMITATE</a:t>
            </a:r>
          </a:p>
        </p:txBody>
      </p:sp>
      <p:sp>
        <p:nvSpPr>
          <p:cNvPr id="8" name="SEMATECH (1987): government and ind">
            <a:extLst>
              <a:ext uri="{FF2B5EF4-FFF2-40B4-BE49-F238E27FC236}">
                <a16:creationId xmlns:a16="http://schemas.microsoft.com/office/drawing/2014/main" id="{C3DF7079-FAD3-40A9-B445-7F1CA8BD1604}"/>
              </a:ext>
            </a:extLst>
          </p:cNvPr>
          <p:cNvSpPr>
            <a:spLocks noGrp="1"/>
          </p:cNvSpPr>
          <p:nvPr/>
        </p:nvSpPr>
        <p:spPr>
          <a:xfrm>
            <a:off x="3381375" y="4476750"/>
            <a:ext cx="8220075" cy="11334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SEMATECH (1987): government and industry</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organise a collective response to Japanese competition.</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3285674A-F733-493D-8BCA-F55956670F5C}" type="slidenum">
              <a:rPr b="0"/>
              <a:t>4</a:t>
            </a:fld>
            <a:r>
              <a:rPr b="0"/>
              <a:t> / 19</a:t>
            </a:r>
          </a:p>
        </p:txBody>
      </p:sp>
    </p:spTree>
    <p:extLst>
      <p:ext uri="{BB962C8B-B14F-4D97-AF65-F5344CB8AC3E}">
        <p14:creationId xmlns:p14="http://schemas.microsoft.com/office/powerpoint/2010/main" val="102754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EMATECH: America was already imita">
            <a:extLst>
              <a:ext uri="{FF2B5EF4-FFF2-40B4-BE49-F238E27FC236}">
                <a16:creationId xmlns:a16="http://schemas.microsoft.com/office/drawing/2014/main" id="{D26333B4-634B-406A-ADC6-9BBD55873D8D}"/>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SEMATECH: America was already imitating</a:t>
            </a:r>
          </a:p>
        </p:txBody>
      </p:sp>
      <p:sp>
        <p:nvSpPr>
          <p:cNvPr id="2" name="1987 • Semiconductor Manufacturing ">
            <a:extLst>
              <a:ext uri="{FF2B5EF4-FFF2-40B4-BE49-F238E27FC236}">
                <a16:creationId xmlns:a16="http://schemas.microsoft.com/office/drawing/2014/main" id="{F6460433-4062-44AE-BB09-32A7CA830560}"/>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1987 • Semiconductor Manufacturing Technology consortium</a:t>
            </a:r>
          </a:p>
        </p:txBody>
      </p:sp>
      <p:sp>
        <p:nvSpPr>
          <p:cNvPr id="3" name="THE PROBLEM">
            <a:extLst>
              <a:ext uri="{FF2B5EF4-FFF2-40B4-BE49-F238E27FC236}">
                <a16:creationId xmlns:a16="http://schemas.microsoft.com/office/drawing/2014/main" id="{0292DC7A-2BA4-4ED2-82E3-1A6EBE999A4F}"/>
              </a:ext>
            </a:extLst>
          </p:cNvPr>
          <p:cNvSpPr>
            <a:spLocks noGrp="1"/>
          </p:cNvSpPr>
          <p:nvPr/>
        </p:nvSpPr>
        <p:spPr>
          <a:xfrm>
            <a:off x="552450" y="1981200"/>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PROBLEM</a:t>
            </a:r>
          </a:p>
        </p:txBody>
      </p:sp>
      <p:sp>
        <p:nvSpPr>
          <p:cNvPr id="4" name="Japanese competition exposed weakne">
            <a:extLst>
              <a:ext uri="{FF2B5EF4-FFF2-40B4-BE49-F238E27FC236}">
                <a16:creationId xmlns:a16="http://schemas.microsoft.com/office/drawing/2014/main" id="{D2E2F89A-72A6-4371-B881-C69F410EB38E}"/>
              </a:ext>
            </a:extLst>
          </p:cNvPr>
          <p:cNvSpPr>
            <a:spLocks noGrp="1"/>
          </p:cNvSpPr>
          <p:nvPr/>
        </p:nvSpPr>
        <p:spPr>
          <a:xfrm>
            <a:off x="3381375" y="1981200"/>
            <a:ext cx="8220075" cy="1095375"/>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Japanese competition exposed weaknesses</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in US semiconductor manufacturing.</a:t>
            </a:r>
          </a:p>
        </p:txBody>
      </p:sp>
      <p:sp>
        <p:nvSpPr>
          <p:cNvPr id="5" name="THE RESPONSE">
            <a:extLst>
              <a:ext uri="{FF2B5EF4-FFF2-40B4-BE49-F238E27FC236}">
                <a16:creationId xmlns:a16="http://schemas.microsoft.com/office/drawing/2014/main" id="{B6C812D0-B1BD-4D4F-B5D8-A2DAA8822AB7}"/>
              </a:ext>
            </a:extLst>
          </p:cNvPr>
          <p:cNvSpPr>
            <a:spLocks noGrp="1"/>
          </p:cNvSpPr>
          <p:nvPr/>
        </p:nvSpPr>
        <p:spPr>
          <a:xfrm>
            <a:off x="552450" y="3190875"/>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RESPONSE</a:t>
            </a:r>
          </a:p>
        </p:txBody>
      </p:sp>
      <p:sp>
        <p:nvSpPr>
          <p:cNvPr id="6" name="Federal funding and rival firms poo">
            <a:extLst>
              <a:ext uri="{FF2B5EF4-FFF2-40B4-BE49-F238E27FC236}">
                <a16:creationId xmlns:a16="http://schemas.microsoft.com/office/drawing/2014/main" id="{701348EE-D27A-4E99-B05E-36743DBFFEDD}"/>
              </a:ext>
            </a:extLst>
          </p:cNvPr>
          <p:cNvSpPr>
            <a:spLocks noGrp="1"/>
          </p:cNvSpPr>
          <p:nvPr/>
        </p:nvSpPr>
        <p:spPr>
          <a:xfrm>
            <a:off x="3381375" y="3190875"/>
            <a:ext cx="8220075" cy="1095375"/>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Federal funding and rival firms pooled resources</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to improve shared manufacturing capabilities.</a:t>
            </a:r>
          </a:p>
        </p:txBody>
      </p:sp>
      <p:sp>
        <p:nvSpPr>
          <p:cNvPr id="7" name="THE LESSON">
            <a:extLst>
              <a:ext uri="{FF2B5EF4-FFF2-40B4-BE49-F238E27FC236}">
                <a16:creationId xmlns:a16="http://schemas.microsoft.com/office/drawing/2014/main" id="{94BD7326-5079-40CC-86B4-48091D28157C}"/>
              </a:ext>
            </a:extLst>
          </p:cNvPr>
          <p:cNvSpPr>
            <a:spLocks noGrp="1"/>
          </p:cNvSpPr>
          <p:nvPr/>
        </p:nvSpPr>
        <p:spPr>
          <a:xfrm>
            <a:off x="552450" y="4400550"/>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LESSON</a:t>
            </a:r>
          </a:p>
        </p:txBody>
      </p:sp>
      <p:sp>
        <p:nvSpPr>
          <p:cNvPr id="8" name="Build the supplier ecosystem.&#10;A sub">
            <a:extLst>
              <a:ext uri="{FF2B5EF4-FFF2-40B4-BE49-F238E27FC236}">
                <a16:creationId xmlns:a16="http://schemas.microsoft.com/office/drawing/2014/main" id="{C265A4E5-E880-4765-B62B-29A96276D3AA}"/>
              </a:ext>
            </a:extLst>
          </p:cNvPr>
          <p:cNvSpPr>
            <a:spLocks noGrp="1"/>
          </p:cNvSpPr>
          <p:nvPr/>
        </p:nvSpPr>
        <p:spPr>
          <a:xfrm>
            <a:off x="3381375" y="4400550"/>
            <a:ext cx="8220075" cy="1095375"/>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Build the supplier ecosystem.</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A subsidy to one champion cannot do that alone.</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A59A5AC0-6E9E-494B-9FFF-F1C7D5E45107}" type="slidenum">
              <a:rPr b="0"/>
              <a:t>5</a:t>
            </a:fld>
            <a:r>
              <a:rPr b="0"/>
              <a:t> / 19</a:t>
            </a:r>
          </a:p>
        </p:txBody>
      </p:sp>
    </p:spTree>
    <p:extLst>
      <p:ext uri="{BB962C8B-B14F-4D97-AF65-F5344CB8AC3E}">
        <p14:creationId xmlns:p14="http://schemas.microsoft.com/office/powerpoint/2010/main" val="102754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dustrial policy: definition and t">
            <a:extLst>
              <a:ext uri="{FF2B5EF4-FFF2-40B4-BE49-F238E27FC236}">
                <a16:creationId xmlns:a16="http://schemas.microsoft.com/office/drawing/2014/main" id="{94FCE1B8-2EB2-4E9D-8D59-CF4C21226AA5}"/>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Industrial policy: definition and tools</a:t>
            </a:r>
          </a:p>
        </p:txBody>
      </p:sp>
      <p:sp>
        <p:nvSpPr>
          <p:cNvPr id="2" name="Selective government intervention t">
            <a:extLst>
              <a:ext uri="{FF2B5EF4-FFF2-40B4-BE49-F238E27FC236}">
                <a16:creationId xmlns:a16="http://schemas.microsoft.com/office/drawing/2014/main" id="{CB153837-063A-4D0D-8F02-85337F3B5DD4}"/>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Selective government intervention to reshape the domestic economy</a:t>
            </a:r>
          </a:p>
        </p:txBody>
      </p:sp>
      <p:sp>
        <p:nvSpPr>
          <p:cNvPr id="3" name="Supporting or developing particular">
            <a:extLst>
              <a:ext uri="{FF2B5EF4-FFF2-40B4-BE49-F238E27FC236}">
                <a16:creationId xmlns:a16="http://schemas.microsoft.com/office/drawing/2014/main" id="{93A3CD59-1AEB-40CD-8698-779795EE9BEE}"/>
              </a:ext>
            </a:extLst>
          </p:cNvPr>
          <p:cNvSpPr>
            <a:spLocks noGrp="1"/>
          </p:cNvSpPr>
          <p:nvPr/>
        </p:nvSpPr>
        <p:spPr>
          <a:xfrm>
            <a:off x="552450" y="1914525"/>
            <a:ext cx="10953750" cy="952500"/>
          </a:xfrm>
          <a:prstGeom prst="rect">
            <a:avLst/>
          </a:prstGeom>
          <a:noFill/>
          <a:ln w="0">
            <a:noFill/>
          </a:ln>
        </p:spPr>
        <p:txBody>
          <a:bodyPr>
            <a:noAutofit/>
          </a:bodyPr>
          <a:lstStyle/>
          <a:p>
            <a:pPr>
              <a:defRPr sz="2625" b="1" i="0">
                <a:solidFill>
                  <a:srgbClr val="23373B"/>
                </a:solidFill>
                <a:latin typeface="Calibri"/>
                <a:ea typeface="Calibri"/>
                <a:cs typeface="Calibri"/>
              </a:defRPr>
            </a:pPr>
            <a:r>
              <a:rPr sz="2625" b="1" i="0">
                <a:solidFill>
                  <a:srgbClr val="23373B"/>
                </a:solidFill>
                <a:latin typeface="Calibri"/>
                <a:ea typeface="Calibri"/>
                <a:cs typeface="Calibri"/>
              </a:rPr>
              <a:t>Supporting or developing particular sectors, firms or industries</a:t>
            </a:r>
          </a:p>
        </p:txBody>
      </p:sp>
      <p:sp>
        <p:nvSpPr>
          <p:cNvPr id="4" name="FINANCE">
            <a:extLst>
              <a:ext uri="{FF2B5EF4-FFF2-40B4-BE49-F238E27FC236}">
                <a16:creationId xmlns:a16="http://schemas.microsoft.com/office/drawing/2014/main" id="{A89C8AA3-4DDC-4096-A529-5FAC054B5B94}"/>
              </a:ext>
            </a:extLst>
          </p:cNvPr>
          <p:cNvSpPr>
            <a:spLocks noGrp="1"/>
          </p:cNvSpPr>
          <p:nvPr/>
        </p:nvSpPr>
        <p:spPr>
          <a:xfrm>
            <a:off x="552450" y="3286125"/>
            <a:ext cx="2476500" cy="752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FINANCE</a:t>
            </a:r>
          </a:p>
        </p:txBody>
      </p:sp>
      <p:sp>
        <p:nvSpPr>
          <p:cNvPr id="5" name="Subsidies, tax incentives, public c">
            <a:extLst>
              <a:ext uri="{FF2B5EF4-FFF2-40B4-BE49-F238E27FC236}">
                <a16:creationId xmlns:a16="http://schemas.microsoft.com/office/drawing/2014/main" id="{42C09A45-954F-4DFA-BDAA-8C7431D2C4A3}"/>
              </a:ext>
            </a:extLst>
          </p:cNvPr>
          <p:cNvSpPr>
            <a:spLocks noGrp="1"/>
          </p:cNvSpPr>
          <p:nvPr/>
        </p:nvSpPr>
        <p:spPr>
          <a:xfrm>
            <a:off x="3381375" y="3286125"/>
            <a:ext cx="8220075" cy="752475"/>
          </a:xfrm>
          <a:prstGeom prst="rect">
            <a:avLst/>
          </a:prstGeom>
          <a:noFill/>
          <a:ln w="0">
            <a:noFill/>
          </a:ln>
        </p:spPr>
        <p:txBody>
          <a:bodyPr>
            <a:noAutofit/>
          </a:bodyPr>
          <a:lstStyle/>
          <a:p>
            <a:pPr>
              <a:defRPr sz="1875" b="0" i="0">
                <a:solidFill>
                  <a:srgbClr val="23373B"/>
                </a:solidFill>
                <a:latin typeface="Calibri"/>
                <a:ea typeface="Calibri"/>
                <a:cs typeface="Calibri"/>
              </a:defRPr>
            </a:pPr>
            <a:r>
              <a:rPr sz="1875" b="0" i="0">
                <a:solidFill>
                  <a:srgbClr val="23373B"/>
                </a:solidFill>
                <a:latin typeface="Calibri"/>
                <a:ea typeface="Calibri"/>
                <a:cs typeface="Calibri"/>
              </a:rPr>
              <a:t>Subsidies, tax incentives, public credit and procurement</a:t>
            </a:r>
          </a:p>
        </p:txBody>
      </p:sp>
      <p:sp>
        <p:nvSpPr>
          <p:cNvPr id="6" name="CAPABILITIES">
            <a:extLst>
              <a:ext uri="{FF2B5EF4-FFF2-40B4-BE49-F238E27FC236}">
                <a16:creationId xmlns:a16="http://schemas.microsoft.com/office/drawing/2014/main" id="{6C7521BE-1F74-4843-8EA0-F24A491CFAB8}"/>
              </a:ext>
            </a:extLst>
          </p:cNvPr>
          <p:cNvSpPr>
            <a:spLocks noGrp="1"/>
          </p:cNvSpPr>
          <p:nvPr/>
        </p:nvSpPr>
        <p:spPr>
          <a:xfrm>
            <a:off x="552450" y="4152900"/>
            <a:ext cx="2476500" cy="752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CAPABILITIES</a:t>
            </a:r>
          </a:p>
        </p:txBody>
      </p:sp>
      <p:sp>
        <p:nvSpPr>
          <p:cNvPr id="7" name="R&amp;D support, skills and sector-spec">
            <a:extLst>
              <a:ext uri="{FF2B5EF4-FFF2-40B4-BE49-F238E27FC236}">
                <a16:creationId xmlns:a16="http://schemas.microsoft.com/office/drawing/2014/main" id="{7406716B-8349-422B-BE0C-6BFF02A20548}"/>
              </a:ext>
            </a:extLst>
          </p:cNvPr>
          <p:cNvSpPr>
            <a:spLocks noGrp="1"/>
          </p:cNvSpPr>
          <p:nvPr/>
        </p:nvSpPr>
        <p:spPr>
          <a:xfrm>
            <a:off x="3381375" y="4152900"/>
            <a:ext cx="8220075" cy="752475"/>
          </a:xfrm>
          <a:prstGeom prst="rect">
            <a:avLst/>
          </a:prstGeom>
          <a:noFill/>
          <a:ln w="0">
            <a:noFill/>
          </a:ln>
        </p:spPr>
        <p:txBody>
          <a:bodyPr>
            <a:noAutofit/>
          </a:bodyPr>
          <a:lstStyle/>
          <a:p>
            <a:pPr>
              <a:defRPr sz="1875" b="0" i="0">
                <a:solidFill>
                  <a:srgbClr val="23373B"/>
                </a:solidFill>
                <a:latin typeface="Calibri"/>
                <a:ea typeface="Calibri"/>
                <a:cs typeface="Calibri"/>
              </a:defRPr>
            </a:pPr>
            <a:r>
              <a:rPr sz="1875" b="0" i="0">
                <a:solidFill>
                  <a:srgbClr val="23373B"/>
                </a:solidFill>
                <a:latin typeface="Calibri"/>
                <a:ea typeface="Calibri"/>
                <a:cs typeface="Calibri"/>
              </a:rPr>
              <a:t>R&amp;D support, skills and sector-specific infrastructure</a:t>
            </a:r>
          </a:p>
        </p:txBody>
      </p:sp>
      <p:sp>
        <p:nvSpPr>
          <p:cNvPr id="8" name="MARKET RULES">
            <a:extLst>
              <a:ext uri="{FF2B5EF4-FFF2-40B4-BE49-F238E27FC236}">
                <a16:creationId xmlns:a16="http://schemas.microsoft.com/office/drawing/2014/main" id="{7E461680-41ED-4078-8502-CB427C6CFDA9}"/>
              </a:ext>
            </a:extLst>
          </p:cNvPr>
          <p:cNvSpPr>
            <a:spLocks noGrp="1"/>
          </p:cNvSpPr>
          <p:nvPr/>
        </p:nvSpPr>
        <p:spPr>
          <a:xfrm>
            <a:off x="552450" y="5019675"/>
            <a:ext cx="2476500" cy="7524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MARKET RULES</a:t>
            </a:r>
          </a:p>
        </p:txBody>
      </p:sp>
      <p:sp>
        <p:nvSpPr>
          <p:cNvPr id="9" name="Tariffs, local-content requirements">
            <a:extLst>
              <a:ext uri="{FF2B5EF4-FFF2-40B4-BE49-F238E27FC236}">
                <a16:creationId xmlns:a16="http://schemas.microsoft.com/office/drawing/2014/main" id="{B8206F37-188A-4229-BC2C-8355C2C75327}"/>
              </a:ext>
            </a:extLst>
          </p:cNvPr>
          <p:cNvSpPr>
            <a:spLocks noGrp="1"/>
          </p:cNvSpPr>
          <p:nvPr/>
        </p:nvSpPr>
        <p:spPr>
          <a:xfrm>
            <a:off x="3381375" y="5019675"/>
            <a:ext cx="8220075" cy="752475"/>
          </a:xfrm>
          <a:prstGeom prst="rect">
            <a:avLst/>
          </a:prstGeom>
          <a:noFill/>
          <a:ln w="0">
            <a:noFill/>
          </a:ln>
        </p:spPr>
        <p:txBody>
          <a:bodyPr>
            <a:noAutofit/>
          </a:bodyPr>
          <a:lstStyle/>
          <a:p>
            <a:pPr>
              <a:defRPr sz="1875" b="0" i="0">
                <a:solidFill>
                  <a:srgbClr val="23373B"/>
                </a:solidFill>
                <a:latin typeface="Calibri"/>
                <a:ea typeface="Calibri"/>
                <a:cs typeface="Calibri"/>
              </a:defRPr>
            </a:pPr>
            <a:r>
              <a:rPr sz="1875" b="0" i="0">
                <a:solidFill>
                  <a:srgbClr val="23373B"/>
                </a:solidFill>
                <a:latin typeface="Calibri"/>
                <a:ea typeface="Calibri"/>
                <a:cs typeface="Calibri"/>
              </a:rPr>
              <a:t>Tariffs, local-content requirements and regulation</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3C844A3A-DA6A-4B0D-A9B8-46A70777BE50}" type="slidenum">
              <a:rPr b="0"/>
              <a:t>6</a:t>
            </a:fld>
            <a:r>
              <a:rPr b="0"/>
              <a:t> / 19</a:t>
            </a:r>
          </a:p>
        </p:txBody>
      </p:sp>
    </p:spTree>
    <p:extLst>
      <p:ext uri="{BB962C8B-B14F-4D97-AF65-F5344CB8AC3E}">
        <p14:creationId xmlns:p14="http://schemas.microsoft.com/office/powerpoint/2010/main" val="102754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mparative advantage: today versus">
            <a:extLst>
              <a:ext uri="{FF2B5EF4-FFF2-40B4-BE49-F238E27FC236}">
                <a16:creationId xmlns:a16="http://schemas.microsoft.com/office/drawing/2014/main" id="{DD2DCB27-BE63-45E8-96F7-A51EFFD165C1}"/>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Comparative advantage: today versus tomorrow</a:t>
            </a:r>
          </a:p>
        </p:txBody>
      </p:sp>
      <p:sp>
        <p:nvSpPr>
          <p:cNvPr id="2" name="Can policy change what an economy w">
            <a:extLst>
              <a:ext uri="{FF2B5EF4-FFF2-40B4-BE49-F238E27FC236}">
                <a16:creationId xmlns:a16="http://schemas.microsoft.com/office/drawing/2014/main" id="{668CAE36-A2A3-4E05-9CB3-664B0A8EE3D3}"/>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Can policy change what an economy will be good at?</a:t>
            </a:r>
          </a:p>
        </p:txBody>
      </p:sp>
      <p:sp>
        <p:nvSpPr>
          <p:cNvPr id="3" name="TODAY">
            <a:extLst>
              <a:ext uri="{FF2B5EF4-FFF2-40B4-BE49-F238E27FC236}">
                <a16:creationId xmlns:a16="http://schemas.microsoft.com/office/drawing/2014/main" id="{56ECDD50-C218-4D6B-9A97-DA0BB0D2A816}"/>
              </a:ext>
            </a:extLst>
          </p:cNvPr>
          <p:cNvSpPr>
            <a:spLocks noGrp="1"/>
          </p:cNvSpPr>
          <p:nvPr/>
        </p:nvSpPr>
        <p:spPr>
          <a:xfrm>
            <a:off x="552450" y="1981200"/>
            <a:ext cx="2476500" cy="11239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TODAY</a:t>
            </a:r>
          </a:p>
        </p:txBody>
      </p:sp>
      <p:sp>
        <p:nvSpPr>
          <p:cNvPr id="4" name="Current prices reward existing skil">
            <a:extLst>
              <a:ext uri="{FF2B5EF4-FFF2-40B4-BE49-F238E27FC236}">
                <a16:creationId xmlns:a16="http://schemas.microsoft.com/office/drawing/2014/main" id="{62C08C25-9E52-4777-A0B9-3429681B7C6D}"/>
              </a:ext>
            </a:extLst>
          </p:cNvPr>
          <p:cNvSpPr>
            <a:spLocks noGrp="1"/>
          </p:cNvSpPr>
          <p:nvPr/>
        </p:nvSpPr>
        <p:spPr>
          <a:xfrm>
            <a:off x="3381375" y="1981200"/>
            <a:ext cx="8220075" cy="11239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Current prices reward existing skills, technologies</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and production capabilities.</a:t>
            </a:r>
          </a:p>
        </p:txBody>
      </p:sp>
      <p:sp>
        <p:nvSpPr>
          <p:cNvPr id="5" name="TOMORROW">
            <a:extLst>
              <a:ext uri="{FF2B5EF4-FFF2-40B4-BE49-F238E27FC236}">
                <a16:creationId xmlns:a16="http://schemas.microsoft.com/office/drawing/2014/main" id="{F01414CE-E489-48E5-B1C3-1EE454B88726}"/>
              </a:ext>
            </a:extLst>
          </p:cNvPr>
          <p:cNvSpPr>
            <a:spLocks noGrp="1"/>
          </p:cNvSpPr>
          <p:nvPr/>
        </p:nvSpPr>
        <p:spPr>
          <a:xfrm>
            <a:off x="552450" y="3219450"/>
            <a:ext cx="2476500" cy="11239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TOMORROW</a:t>
            </a:r>
          </a:p>
        </p:txBody>
      </p:sp>
      <p:sp>
        <p:nvSpPr>
          <p:cNvPr id="6" name="Learning and investment can change ">
            <a:extLst>
              <a:ext uri="{FF2B5EF4-FFF2-40B4-BE49-F238E27FC236}">
                <a16:creationId xmlns:a16="http://schemas.microsoft.com/office/drawing/2014/main" id="{D1BA2FCA-FF9A-49D2-B2D4-A9CD98949B79}"/>
              </a:ext>
            </a:extLst>
          </p:cNvPr>
          <p:cNvSpPr>
            <a:spLocks noGrp="1"/>
          </p:cNvSpPr>
          <p:nvPr/>
        </p:nvSpPr>
        <p:spPr>
          <a:xfrm>
            <a:off x="3381375" y="3219450"/>
            <a:ext cx="8220075" cy="11239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Learning and investment can change relative costs</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and create activities that do not yet exist.</a:t>
            </a:r>
          </a:p>
        </p:txBody>
      </p:sp>
      <p:sp>
        <p:nvSpPr>
          <p:cNvPr id="7" name="THE POLICY BET">
            <a:extLst>
              <a:ext uri="{FF2B5EF4-FFF2-40B4-BE49-F238E27FC236}">
                <a16:creationId xmlns:a16="http://schemas.microsoft.com/office/drawing/2014/main" id="{25982962-D7B7-4D84-BECC-75A67B64C86E}"/>
              </a:ext>
            </a:extLst>
          </p:cNvPr>
          <p:cNvSpPr>
            <a:spLocks noGrp="1"/>
          </p:cNvSpPr>
          <p:nvPr/>
        </p:nvSpPr>
        <p:spPr>
          <a:xfrm>
            <a:off x="552450" y="4457700"/>
            <a:ext cx="2476500" cy="11239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POLICY BET</a:t>
            </a:r>
          </a:p>
        </p:txBody>
      </p:sp>
      <p:sp>
        <p:nvSpPr>
          <p:cNvPr id="8" name="Will temporary support create a com">
            <a:extLst>
              <a:ext uri="{FF2B5EF4-FFF2-40B4-BE49-F238E27FC236}">
                <a16:creationId xmlns:a16="http://schemas.microsoft.com/office/drawing/2014/main" id="{5D179607-B054-4551-AF26-53BFDED31465}"/>
              </a:ext>
            </a:extLst>
          </p:cNvPr>
          <p:cNvSpPr>
            <a:spLocks noGrp="1"/>
          </p:cNvSpPr>
          <p:nvPr/>
        </p:nvSpPr>
        <p:spPr>
          <a:xfrm>
            <a:off x="3381375" y="4457700"/>
            <a:ext cx="8220075" cy="11239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Will temporary support create a competitive industry</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that can eventually operate without that support?</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B2D68C0A-D5DA-4C7C-B29F-79E6A562F9D8}" type="slidenum">
              <a:rPr b="0"/>
              <a:t>7</a:t>
            </a:fld>
            <a:r>
              <a:rPr b="0"/>
              <a:t> / 19</a:t>
            </a:r>
          </a:p>
        </p:txBody>
      </p:sp>
    </p:spTree>
    <p:extLst>
      <p:ext uri="{BB962C8B-B14F-4D97-AF65-F5344CB8AC3E}">
        <p14:creationId xmlns:p14="http://schemas.microsoft.com/office/powerpoint/2010/main" val="102754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y the market may underinvest">
            <a:extLst>
              <a:ext uri="{FF2B5EF4-FFF2-40B4-BE49-F238E27FC236}">
                <a16:creationId xmlns:a16="http://schemas.microsoft.com/office/drawing/2014/main" id="{396C8D68-28A2-4C01-A052-9915F89EF742}"/>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Why the market may underinvest</a:t>
            </a:r>
          </a:p>
        </p:txBody>
      </p:sp>
      <p:sp>
        <p:nvSpPr>
          <p:cNvPr id="2" name="The case depends on a specific fail">
            <a:extLst>
              <a:ext uri="{FF2B5EF4-FFF2-40B4-BE49-F238E27FC236}">
                <a16:creationId xmlns:a16="http://schemas.microsoft.com/office/drawing/2014/main" id="{7299AA48-4730-4A40-BF17-31755B069C0D}"/>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The case depends on a specific failure</a:t>
            </a:r>
          </a:p>
        </p:txBody>
      </p:sp>
      <p:sp>
        <p:nvSpPr>
          <p:cNvPr id="3" name="LEARNING">
            <a:extLst>
              <a:ext uri="{FF2B5EF4-FFF2-40B4-BE49-F238E27FC236}">
                <a16:creationId xmlns:a16="http://schemas.microsoft.com/office/drawing/2014/main" id="{D1757716-5FBC-493B-B499-832767BE2A77}"/>
              </a:ext>
            </a:extLst>
          </p:cNvPr>
          <p:cNvSpPr>
            <a:spLocks noGrp="1"/>
          </p:cNvSpPr>
          <p:nvPr/>
        </p:nvSpPr>
        <p:spPr>
          <a:xfrm>
            <a:off x="552450" y="1981200"/>
            <a:ext cx="2476500" cy="11049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LEARNING</a:t>
            </a:r>
          </a:p>
        </p:txBody>
      </p:sp>
      <p:sp>
        <p:nvSpPr>
          <p:cNvPr id="4" name="Early production teaches workers an">
            <a:extLst>
              <a:ext uri="{FF2B5EF4-FFF2-40B4-BE49-F238E27FC236}">
                <a16:creationId xmlns:a16="http://schemas.microsoft.com/office/drawing/2014/main" id="{994FAB4D-E85B-431F-9D2E-BCC8D6F55B55}"/>
              </a:ext>
            </a:extLst>
          </p:cNvPr>
          <p:cNvSpPr>
            <a:spLocks noGrp="1"/>
          </p:cNvSpPr>
          <p:nvPr/>
        </p:nvSpPr>
        <p:spPr>
          <a:xfrm>
            <a:off x="3381375" y="1981200"/>
            <a:ext cx="8220075" cy="11049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Early production teaches workers and suppliers.</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Knowledge may spill beyond the pioneering firm.</a:t>
            </a:r>
          </a:p>
        </p:txBody>
      </p:sp>
      <p:sp>
        <p:nvSpPr>
          <p:cNvPr id="5" name="EXTERNALITIES">
            <a:extLst>
              <a:ext uri="{FF2B5EF4-FFF2-40B4-BE49-F238E27FC236}">
                <a16:creationId xmlns:a16="http://schemas.microsoft.com/office/drawing/2014/main" id="{98430A03-6566-4D61-9CBA-8EE958FF8753}"/>
              </a:ext>
            </a:extLst>
          </p:cNvPr>
          <p:cNvSpPr>
            <a:spLocks noGrp="1"/>
          </p:cNvSpPr>
          <p:nvPr/>
        </p:nvSpPr>
        <p:spPr>
          <a:xfrm>
            <a:off x="552450" y="3200400"/>
            <a:ext cx="2476500" cy="11049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EXTERNALITIES</a:t>
            </a:r>
          </a:p>
        </p:txBody>
      </p:sp>
      <p:sp>
        <p:nvSpPr>
          <p:cNvPr id="6" name="R&amp;D and cleaner technologies can cr">
            <a:extLst>
              <a:ext uri="{FF2B5EF4-FFF2-40B4-BE49-F238E27FC236}">
                <a16:creationId xmlns:a16="http://schemas.microsoft.com/office/drawing/2014/main" id="{6DB6CE5A-D311-4D69-B9C7-463C6AA5E527}"/>
              </a:ext>
            </a:extLst>
          </p:cNvPr>
          <p:cNvSpPr>
            <a:spLocks noGrp="1"/>
          </p:cNvSpPr>
          <p:nvPr/>
        </p:nvSpPr>
        <p:spPr>
          <a:xfrm>
            <a:off x="3381375" y="3200400"/>
            <a:ext cx="8220075" cy="11049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R&amp;D and cleaner technologies can create benefits</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that the investor cannot fully capture.</a:t>
            </a:r>
          </a:p>
        </p:txBody>
      </p:sp>
      <p:sp>
        <p:nvSpPr>
          <p:cNvPr id="7" name="COORDINATION">
            <a:extLst>
              <a:ext uri="{FF2B5EF4-FFF2-40B4-BE49-F238E27FC236}">
                <a16:creationId xmlns:a16="http://schemas.microsoft.com/office/drawing/2014/main" id="{B32DB8C2-B31B-4F0B-8EDC-87418095AD38}"/>
              </a:ext>
            </a:extLst>
          </p:cNvPr>
          <p:cNvSpPr>
            <a:spLocks noGrp="1"/>
          </p:cNvSpPr>
          <p:nvPr/>
        </p:nvSpPr>
        <p:spPr>
          <a:xfrm>
            <a:off x="552450" y="4419600"/>
            <a:ext cx="2476500" cy="11049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COORDINATION</a:t>
            </a:r>
          </a:p>
        </p:txBody>
      </p:sp>
      <p:sp>
        <p:nvSpPr>
          <p:cNvPr id="8" name="A factory needs trained workers and">
            <a:extLst>
              <a:ext uri="{FF2B5EF4-FFF2-40B4-BE49-F238E27FC236}">
                <a16:creationId xmlns:a16="http://schemas.microsoft.com/office/drawing/2014/main" id="{86B753E5-F80C-4541-BCF6-4C466F53D883}"/>
              </a:ext>
            </a:extLst>
          </p:cNvPr>
          <p:cNvSpPr>
            <a:spLocks noGrp="1"/>
          </p:cNvSpPr>
          <p:nvPr/>
        </p:nvSpPr>
        <p:spPr>
          <a:xfrm>
            <a:off x="3381375" y="4419600"/>
            <a:ext cx="8220075" cy="11049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A factory needs trained workers and reliable suppliers.</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Each investment may wait for the others.</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3EF49D04-EBE1-4D68-B974-936998AA1970}" type="slidenum">
              <a:rPr b="0"/>
              <a:t>8</a:t>
            </a:fld>
            <a:r>
              <a:rPr b="0"/>
              <a:t> / 19</a:t>
            </a:r>
          </a:p>
        </p:txBody>
      </p:sp>
    </p:spTree>
    <p:extLst>
      <p:ext uri="{BB962C8B-B14F-4D97-AF65-F5344CB8AC3E}">
        <p14:creationId xmlns:p14="http://schemas.microsoft.com/office/powerpoint/2010/main" val="10275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vernment failure: the other half ">
            <a:extLst>
              <a:ext uri="{FF2B5EF4-FFF2-40B4-BE49-F238E27FC236}">
                <a16:creationId xmlns:a16="http://schemas.microsoft.com/office/drawing/2014/main" id="{3E0C72EB-6239-43FA-8326-1C40E9F0D953}"/>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Government failure: the other half of the test</a:t>
            </a:r>
          </a:p>
        </p:txBody>
      </p:sp>
      <p:sp>
        <p:nvSpPr>
          <p:cNvPr id="2" name="Information limits, capture and sup">
            <a:extLst>
              <a:ext uri="{FF2B5EF4-FFF2-40B4-BE49-F238E27FC236}">
                <a16:creationId xmlns:a16="http://schemas.microsoft.com/office/drawing/2014/main" id="{D6075BCD-6084-4FF2-B36F-59E1B9898EFE}"/>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Information limits, capture and support that becomes permanent</a:t>
            </a:r>
          </a:p>
        </p:txBody>
      </p:sp>
      <p:sp>
        <p:nvSpPr>
          <p:cNvPr id="3" name="“Governments are bad at picking win">
            <a:extLst>
              <a:ext uri="{FF2B5EF4-FFF2-40B4-BE49-F238E27FC236}">
                <a16:creationId xmlns:a16="http://schemas.microsoft.com/office/drawing/2014/main" id="{AD6ABAB1-FEB5-41FD-BCCA-A20D22446DD9}"/>
              </a:ext>
            </a:extLst>
          </p:cNvPr>
          <p:cNvSpPr>
            <a:spLocks noGrp="1"/>
          </p:cNvSpPr>
          <p:nvPr/>
        </p:nvSpPr>
        <p:spPr>
          <a:xfrm>
            <a:off x="790575" y="2190750"/>
            <a:ext cx="10477500" cy="1714500"/>
          </a:xfrm>
          <a:prstGeom prst="rect">
            <a:avLst/>
          </a:prstGeom>
          <a:noFill/>
          <a:ln w="0">
            <a:noFill/>
          </a:ln>
        </p:spPr>
        <p:txBody>
          <a:bodyPr>
            <a:noAutofit/>
          </a:bodyPr>
          <a:lstStyle/>
          <a:p>
            <a:pPr>
              <a:defRPr sz="3225" b="0" i="1">
                <a:solidFill>
                  <a:srgbClr val="23373B"/>
                </a:solidFill>
                <a:latin typeface="Cambria"/>
                <a:ea typeface="Cambria"/>
                <a:cs typeface="Cambria"/>
              </a:defRPr>
            </a:pPr>
            <a:r>
              <a:rPr sz="3225" b="0" i="1">
                <a:solidFill>
                  <a:srgbClr val="23373B"/>
                </a:solidFill>
                <a:latin typeface="Cambria"/>
                <a:ea typeface="Cambria"/>
                <a:cs typeface="Cambria"/>
              </a:rPr>
              <a:t>“Governments are bad at picking winners, but losers are good at picking governments.”</a:t>
            </a:r>
          </a:p>
        </p:txBody>
      </p:sp>
      <p:sp>
        <p:nvSpPr>
          <p:cNvPr id="4" name="Chatib Basri, former Finance Minist">
            <a:extLst>
              <a:ext uri="{FF2B5EF4-FFF2-40B4-BE49-F238E27FC236}">
                <a16:creationId xmlns:a16="http://schemas.microsoft.com/office/drawing/2014/main" id="{CFA9C136-C97D-4D04-B588-EB5FB1EB97A1}"/>
              </a:ext>
            </a:extLst>
          </p:cNvPr>
          <p:cNvSpPr>
            <a:spLocks noGrp="1"/>
          </p:cNvSpPr>
          <p:nvPr/>
        </p:nvSpPr>
        <p:spPr>
          <a:xfrm>
            <a:off x="790575" y="4133850"/>
            <a:ext cx="10287000" cy="428625"/>
          </a:xfrm>
          <a:prstGeom prst="rect">
            <a:avLst/>
          </a:prstGeom>
          <a:noFill/>
          <a:ln w="0">
            <a:noFill/>
          </a:ln>
        </p:spPr>
        <p:txBody>
          <a:bodyPr>
            <a:noAutofit/>
          </a:bodyPr>
          <a:lstStyle/>
          <a:p>
            <a:pPr>
              <a:defRPr sz="1650" b="0" i="0">
                <a:solidFill>
                  <a:srgbClr val="4E5E61"/>
                </a:solidFill>
                <a:latin typeface="Calibri"/>
                <a:ea typeface="Calibri"/>
                <a:cs typeface="Calibri"/>
              </a:defRPr>
            </a:pPr>
            <a:r>
              <a:rPr sz="1650" b="0" i="0">
                <a:solidFill>
                  <a:srgbClr val="4E5E61"/>
                </a:solidFill>
                <a:latin typeface="Calibri"/>
                <a:ea typeface="Calibri"/>
                <a:cs typeface="Calibri"/>
              </a:rPr>
              <a:t>Chatib Basri, former Finance Minister of Indonesia</a:t>
            </a:r>
          </a:p>
        </p:txBody>
      </p:sp>
      <p:sp>
        <p:nvSpPr>
          <p:cNvPr id="5" name="Who withdraws support when the expe">
            <a:extLst>
              <a:ext uri="{FF2B5EF4-FFF2-40B4-BE49-F238E27FC236}">
                <a16:creationId xmlns:a16="http://schemas.microsoft.com/office/drawing/2014/main" id="{19A40796-C39B-4976-A03B-11B9C515F57D}"/>
              </a:ext>
            </a:extLst>
          </p:cNvPr>
          <p:cNvSpPr>
            <a:spLocks noGrp="1"/>
          </p:cNvSpPr>
          <p:nvPr/>
        </p:nvSpPr>
        <p:spPr>
          <a:xfrm>
            <a:off x="790575" y="5095875"/>
            <a:ext cx="10477500" cy="666750"/>
          </a:xfrm>
          <a:prstGeom prst="rect">
            <a:avLst/>
          </a:prstGeom>
          <a:noFill/>
          <a:ln w="0">
            <a:noFill/>
          </a:ln>
        </p:spPr>
        <p:txBody>
          <a:bodyPr>
            <a:noAutofit/>
          </a:bodyPr>
          <a:lstStyle/>
          <a:p>
            <a:pPr>
              <a:defRPr sz="2400" b="1" i="0">
                <a:solidFill>
                  <a:srgbClr val="EB811B"/>
                </a:solidFill>
                <a:latin typeface="Calibri"/>
                <a:ea typeface="Calibri"/>
                <a:cs typeface="Calibri"/>
              </a:defRPr>
            </a:pPr>
            <a:r>
              <a:rPr sz="2400" b="1" i="0">
                <a:solidFill>
                  <a:srgbClr val="EB811B"/>
                </a:solidFill>
                <a:latin typeface="Calibri"/>
                <a:ea typeface="Calibri"/>
                <a:cs typeface="Calibri"/>
              </a:rPr>
              <a:t>Who withdraws support when the experiment fails?</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44A62B9C-DDFD-4C7D-A6FF-833615416F10}" type="slidenum">
              <a:rPr b="0"/>
              <a:t>9</a:t>
            </a:fld>
            <a:r>
              <a:rPr b="0"/>
              <a:t> / 19</a:t>
            </a:r>
          </a:p>
        </p:txBody>
      </p:sp>
    </p:spTree>
    <p:extLst>
      <p:ext uri="{BB962C8B-B14F-4D97-AF65-F5344CB8AC3E}">
        <p14:creationId xmlns:p14="http://schemas.microsoft.com/office/powerpoint/2010/main" val="102754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dustrial policy is back">
            <a:extLst>
              <a:ext uri="{FF2B5EF4-FFF2-40B4-BE49-F238E27FC236}">
                <a16:creationId xmlns:a16="http://schemas.microsoft.com/office/drawing/2014/main" id="{C7AF5C30-CA80-42F5-9DE6-E978FB946134}"/>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Industrial policy is back</a:t>
            </a:r>
          </a:p>
        </p:txBody>
      </p:sp>
      <p:pic>
        <p:nvPicPr>
          <p:cNvPr id="6" name="Picture 5"/>
          <p:cNvPicPr>
            <a:picLocks noChangeAspect="1"/>
          </p:cNvPicPr>
          <p:nvPr/>
        </p:nvPicPr>
        <p:blipFill>
          <a:blip r:embed="rId3"/>
          <a:stretch/>
        </p:blipFill>
        <p:spPr>
          <a:xfrm>
            <a:off x="1425710" y="1295400"/>
            <a:ext cx="5340080" cy="4857750"/>
          </a:xfrm>
          <a:prstGeom prst="rect">
            <a:avLst/>
          </a:prstGeom>
        </p:spPr>
      </p:pic>
      <p:sp>
        <p:nvSpPr>
          <p:cNvPr id="3" name="The pandemic&#10;accelerated an&#10;existin">
            <a:extLst>
              <a:ext uri="{FF2B5EF4-FFF2-40B4-BE49-F238E27FC236}">
                <a16:creationId xmlns:a16="http://schemas.microsoft.com/office/drawing/2014/main" id="{B16E2BD0-E88B-4197-A3DC-4EE875E125A6}"/>
              </a:ext>
            </a:extLst>
          </p:cNvPr>
          <p:cNvSpPr>
            <a:spLocks noGrp="1"/>
          </p:cNvSpPr>
          <p:nvPr/>
        </p:nvSpPr>
        <p:spPr>
          <a:xfrm>
            <a:off x="8172450" y="2066925"/>
            <a:ext cx="3333750" cy="1619250"/>
          </a:xfrm>
          <a:prstGeom prst="rect">
            <a:avLst/>
          </a:prstGeom>
          <a:noFill/>
          <a:ln w="0">
            <a:noFill/>
          </a:ln>
        </p:spPr>
        <p:txBody>
          <a:bodyPr>
            <a:noAutofit/>
          </a:bodyPr>
          <a:lstStyle/>
          <a:p>
            <a:pPr>
              <a:defRPr sz="2850" b="1" i="0">
                <a:solidFill>
                  <a:srgbClr val="EB811B"/>
                </a:solidFill>
                <a:latin typeface="Calibri"/>
                <a:ea typeface="Calibri"/>
                <a:cs typeface="Calibri"/>
              </a:defRPr>
            </a:pPr>
            <a:r>
              <a:rPr sz="2850" b="1" i="0">
                <a:solidFill>
                  <a:srgbClr val="EB811B"/>
                </a:solidFill>
                <a:latin typeface="Calibri"/>
                <a:ea typeface="Calibri"/>
                <a:cs typeface="Calibri"/>
              </a:rPr>
              <a:t>The pandemic</a:t>
            </a:r>
          </a:p>
          <a:p>
            <a:pPr>
              <a:defRPr sz="2850" b="1" i="0">
                <a:solidFill>
                  <a:srgbClr val="EB811B"/>
                </a:solidFill>
                <a:latin typeface="Calibri"/>
                <a:ea typeface="Calibri"/>
                <a:cs typeface="Calibri"/>
              </a:defRPr>
            </a:pPr>
            <a:r>
              <a:rPr sz="2850" b="1" i="0">
                <a:solidFill>
                  <a:srgbClr val="EB811B"/>
                </a:solidFill>
                <a:latin typeface="Calibri"/>
                <a:ea typeface="Calibri"/>
                <a:cs typeface="Calibri"/>
              </a:rPr>
              <a:t>accelerated an</a:t>
            </a:r>
          </a:p>
          <a:p>
            <a:pPr>
              <a:defRPr sz="2850" b="1" i="0">
                <a:solidFill>
                  <a:srgbClr val="EB811B"/>
                </a:solidFill>
                <a:latin typeface="Calibri"/>
                <a:ea typeface="Calibri"/>
                <a:cs typeface="Calibri"/>
              </a:defRPr>
            </a:pPr>
            <a:r>
              <a:rPr sz="2850" b="1" i="0">
                <a:solidFill>
                  <a:srgbClr val="EB811B"/>
                </a:solidFill>
                <a:latin typeface="Calibri"/>
                <a:ea typeface="Calibri"/>
                <a:cs typeface="Calibri"/>
              </a:rPr>
              <a:t>existing rise</a:t>
            </a:r>
          </a:p>
        </p:txBody>
      </p:sp>
      <p:sp>
        <p:nvSpPr>
          <p:cNvPr id="4" name="Cumulative stock of measures,&#10;not a">
            <a:extLst>
              <a:ext uri="{FF2B5EF4-FFF2-40B4-BE49-F238E27FC236}">
                <a16:creationId xmlns:a16="http://schemas.microsoft.com/office/drawing/2014/main" id="{9E5F08DB-801A-42EA-8A64-8A77E5997DEF}"/>
              </a:ext>
            </a:extLst>
          </p:cNvPr>
          <p:cNvSpPr>
            <a:spLocks noGrp="1"/>
          </p:cNvSpPr>
          <p:nvPr/>
        </p:nvSpPr>
        <p:spPr>
          <a:xfrm>
            <a:off x="8172450" y="4286250"/>
            <a:ext cx="3190875" cy="1047750"/>
          </a:xfrm>
          <a:prstGeom prst="rect">
            <a:avLst/>
          </a:prstGeom>
          <a:noFill/>
          <a:ln w="0">
            <a:noFill/>
          </a:ln>
        </p:spPr>
        <p:txBody>
          <a:bodyPr>
            <a:noAutofit/>
          </a:bodyPr>
          <a:lstStyle/>
          <a:p>
            <a:pPr>
              <a:defRPr sz="1800" b="0" i="0">
                <a:solidFill>
                  <a:srgbClr val="4E5E61"/>
                </a:solidFill>
                <a:latin typeface="Calibri"/>
                <a:ea typeface="Calibri"/>
                <a:cs typeface="Calibri"/>
              </a:defRPr>
            </a:pPr>
            <a:r>
              <a:rPr sz="1800" b="0" i="0">
                <a:solidFill>
                  <a:srgbClr val="4E5E61"/>
                </a:solidFill>
                <a:latin typeface="Calibri"/>
                <a:ea typeface="Calibri"/>
                <a:cs typeface="Calibri"/>
              </a:rPr>
              <a:t>Cumulative stock of measures,</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not annual new spending</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7267B808-DDF7-4752-B0D2-752F78A3FAB9}" type="slidenum">
              <a:rPr b="0"/>
              <a:t>10</a:t>
            </a:fld>
            <a:r>
              <a:rPr b="0"/>
              <a:t> / 19</a:t>
            </a:r>
          </a:p>
        </p:txBody>
      </p:sp>
    </p:spTree>
    <p:extLst>
      <p:ext uri="{BB962C8B-B14F-4D97-AF65-F5344CB8AC3E}">
        <p14:creationId xmlns:p14="http://schemas.microsoft.com/office/powerpoint/2010/main" val="102754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he purpose has changed">
            <a:extLst>
              <a:ext uri="{FF2B5EF4-FFF2-40B4-BE49-F238E27FC236}">
                <a16:creationId xmlns:a16="http://schemas.microsoft.com/office/drawing/2014/main" id="{2F52BAF0-33A0-49A4-A443-B54ADD1BEE7D}"/>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The purpose has changed</a:t>
            </a:r>
          </a:p>
        </p:txBody>
      </p:sp>
      <p:pic>
        <p:nvPicPr>
          <p:cNvPr id="6" name="Picture 5"/>
          <p:cNvPicPr>
            <a:picLocks noChangeAspect="1"/>
          </p:cNvPicPr>
          <p:nvPr/>
        </p:nvPicPr>
        <p:blipFill>
          <a:blip r:embed="rId3"/>
          <a:stretch/>
        </p:blipFill>
        <p:spPr>
          <a:xfrm>
            <a:off x="1626351" y="1295400"/>
            <a:ext cx="4938797" cy="4914900"/>
          </a:xfrm>
          <a:prstGeom prst="rect">
            <a:avLst/>
          </a:prstGeom>
        </p:spPr>
      </p:pic>
      <p:sp>
        <p:nvSpPr>
          <p:cNvPr id="3" name="National security&#10;and geopolitics&#10;m">
            <a:extLst>
              <a:ext uri="{FF2B5EF4-FFF2-40B4-BE49-F238E27FC236}">
                <a16:creationId xmlns:a16="http://schemas.microsoft.com/office/drawing/2014/main" id="{A8D57132-DA84-41F6-9C23-AD37993B4640}"/>
              </a:ext>
            </a:extLst>
          </p:cNvPr>
          <p:cNvSpPr>
            <a:spLocks noGrp="1"/>
          </p:cNvSpPr>
          <p:nvPr/>
        </p:nvSpPr>
        <p:spPr>
          <a:xfrm>
            <a:off x="8172450" y="2066925"/>
            <a:ext cx="3429000" cy="1809750"/>
          </a:xfrm>
          <a:prstGeom prst="rect">
            <a:avLst/>
          </a:prstGeom>
          <a:noFill/>
          <a:ln w="0">
            <a:noFill/>
          </a:ln>
        </p:spPr>
        <p:txBody>
          <a:bodyPr>
            <a:noAutofit/>
          </a:bodyPr>
          <a:lstStyle/>
          <a:p>
            <a:pPr>
              <a:defRPr sz="2700" b="1" i="0">
                <a:solidFill>
                  <a:srgbClr val="EB811B"/>
                </a:solidFill>
                <a:latin typeface="Calibri"/>
                <a:ea typeface="Calibri"/>
                <a:cs typeface="Calibri"/>
              </a:defRPr>
            </a:pPr>
            <a:r>
              <a:rPr sz="2700" b="1" i="0">
                <a:solidFill>
                  <a:srgbClr val="EB811B"/>
                </a:solidFill>
                <a:latin typeface="Calibri"/>
                <a:ea typeface="Calibri"/>
                <a:cs typeface="Calibri"/>
              </a:rPr>
              <a:t>National security</a:t>
            </a:r>
          </a:p>
          <a:p>
            <a:pPr>
              <a:defRPr sz="2700" b="1" i="0">
                <a:solidFill>
                  <a:srgbClr val="EB811B"/>
                </a:solidFill>
                <a:latin typeface="Calibri"/>
                <a:ea typeface="Calibri"/>
                <a:cs typeface="Calibri"/>
              </a:defRPr>
            </a:pPr>
            <a:r>
              <a:rPr sz="2700" b="1" i="0">
                <a:solidFill>
                  <a:srgbClr val="EB811B"/>
                </a:solidFill>
                <a:latin typeface="Calibri"/>
                <a:ea typeface="Calibri"/>
                <a:cs typeface="Calibri"/>
              </a:rPr>
              <a:t>and geopolitics</a:t>
            </a:r>
          </a:p>
          <a:p>
            <a:pPr>
              <a:defRPr sz="2700" b="1" i="0">
                <a:solidFill>
                  <a:srgbClr val="EB811B"/>
                </a:solidFill>
                <a:latin typeface="Calibri"/>
                <a:ea typeface="Calibri"/>
                <a:cs typeface="Calibri"/>
              </a:defRPr>
            </a:pPr>
            <a:r>
              <a:rPr sz="2700" b="1" i="0">
                <a:solidFill>
                  <a:srgbClr val="EB811B"/>
                </a:solidFill>
                <a:latin typeface="Calibri"/>
                <a:ea typeface="Calibri"/>
                <a:cs typeface="Calibri"/>
              </a:rPr>
              <a:t>move to the fore</a:t>
            </a:r>
          </a:p>
        </p:txBody>
      </p:sp>
      <p:sp>
        <p:nvSpPr>
          <p:cNvPr id="4" name="Stated motives among&#10;trade-distorti">
            <a:extLst>
              <a:ext uri="{FF2B5EF4-FFF2-40B4-BE49-F238E27FC236}">
                <a16:creationId xmlns:a16="http://schemas.microsoft.com/office/drawing/2014/main" id="{0BCDD7EF-46F3-4316-8763-20E51B9D2D7D}"/>
              </a:ext>
            </a:extLst>
          </p:cNvPr>
          <p:cNvSpPr>
            <a:spLocks noGrp="1"/>
          </p:cNvSpPr>
          <p:nvPr/>
        </p:nvSpPr>
        <p:spPr>
          <a:xfrm>
            <a:off x="8172450" y="4286250"/>
            <a:ext cx="3286125" cy="1238250"/>
          </a:xfrm>
          <a:prstGeom prst="rect">
            <a:avLst/>
          </a:prstGeom>
          <a:noFill/>
          <a:ln w="0">
            <a:noFill/>
          </a:ln>
        </p:spPr>
        <p:txBody>
          <a:bodyPr>
            <a:noAutofit/>
          </a:bodyPr>
          <a:lstStyle/>
          <a:p>
            <a:pPr>
              <a:defRPr sz="1800" b="0" i="0">
                <a:solidFill>
                  <a:srgbClr val="4E5E61"/>
                </a:solidFill>
                <a:latin typeface="Calibri"/>
                <a:ea typeface="Calibri"/>
                <a:cs typeface="Calibri"/>
              </a:defRPr>
            </a:pPr>
            <a:r>
              <a:rPr sz="1800" b="0" i="0">
                <a:solidFill>
                  <a:srgbClr val="4E5E61"/>
                </a:solidFill>
                <a:latin typeface="Calibri"/>
                <a:ea typeface="Calibri"/>
                <a:cs typeface="Calibri"/>
              </a:rPr>
              <a:t>Stated motives among</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trade-distortive measures</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with an identified motive</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BEB8C229-B27E-4CF3-A491-FB87D3541D9B}" type="slidenum">
              <a:rPr b="0"/>
              <a:t>11</a:t>
            </a:fld>
            <a:r>
              <a:rPr b="0"/>
              <a:t> / 19</a:t>
            </a:r>
          </a:p>
        </p:txBody>
      </p:sp>
    </p:spTree>
    <p:extLst>
      <p:ext uri="{BB962C8B-B14F-4D97-AF65-F5344CB8AC3E}">
        <p14:creationId xmlns:p14="http://schemas.microsoft.com/office/powerpoint/2010/main" val="102754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fferent powers, different motives">
            <a:extLst>
              <a:ext uri="{FF2B5EF4-FFF2-40B4-BE49-F238E27FC236}">
                <a16:creationId xmlns:a16="http://schemas.microsoft.com/office/drawing/2014/main" id="{E50F491C-BA83-4419-BC05-2ABBA296E88F}"/>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Different powers, different motives</a:t>
            </a:r>
          </a:p>
        </p:txBody>
      </p:sp>
      <p:pic>
        <p:nvPicPr>
          <p:cNvPr id="4" name="Picture 3"/>
          <p:cNvPicPr>
            <a:picLocks noChangeAspect="1"/>
          </p:cNvPicPr>
          <p:nvPr/>
        </p:nvPicPr>
        <p:blipFill>
          <a:blip r:embed="rId3"/>
          <a:stretch/>
        </p:blipFill>
        <p:spPr>
          <a:xfrm>
            <a:off x="2240083" y="1266825"/>
            <a:ext cx="7873758" cy="5057775"/>
          </a:xfrm>
          <a:prstGeom prst="rect">
            <a:avLst/>
          </a:prstGeom>
        </p:spPr>
      </p:pic>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A797050C-77C0-4577-91C5-749F12AB518A}" type="slidenum">
              <a:rPr b="0"/>
              <a:t>12</a:t>
            </a:fld>
            <a:r>
              <a:rPr b="0"/>
              <a:t> / 19</a:t>
            </a:r>
          </a:p>
        </p:txBody>
      </p:sp>
    </p:spTree>
    <p:extLst>
      <p:ext uri="{BB962C8B-B14F-4D97-AF65-F5344CB8AC3E}">
        <p14:creationId xmlns:p14="http://schemas.microsoft.com/office/powerpoint/2010/main" val="102754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HIPS: SEMATECH writ large">
            <a:extLst>
              <a:ext uri="{FF2B5EF4-FFF2-40B4-BE49-F238E27FC236}">
                <a16:creationId xmlns:a16="http://schemas.microsoft.com/office/drawing/2014/main" id="{EB187C0E-4166-46C2-9BEC-4CE7F1AB3535}"/>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CHIPS: SEMATECH writ large</a:t>
            </a:r>
          </a:p>
        </p:txBody>
      </p:sp>
      <p:sp>
        <p:nvSpPr>
          <p:cNvPr id="2" name="CHIPS and Science Act, 2022 • origi">
            <a:extLst>
              <a:ext uri="{FF2B5EF4-FFF2-40B4-BE49-F238E27FC236}">
                <a16:creationId xmlns:a16="http://schemas.microsoft.com/office/drawing/2014/main" id="{B7FC224D-DA0F-4712-B84B-ECFD0FC3E8B2}"/>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CHIPS and Science Act, 2022 • original programme design</a:t>
            </a:r>
          </a:p>
        </p:txBody>
      </p:sp>
      <p:sp>
        <p:nvSpPr>
          <p:cNvPr id="3" name="$39 BILLION">
            <a:extLst>
              <a:ext uri="{FF2B5EF4-FFF2-40B4-BE49-F238E27FC236}">
                <a16:creationId xmlns:a16="http://schemas.microsoft.com/office/drawing/2014/main" id="{B27BDDD2-611C-4B6D-BEAF-8FA5282725FB}"/>
              </a:ext>
            </a:extLst>
          </p:cNvPr>
          <p:cNvSpPr>
            <a:spLocks noGrp="1"/>
          </p:cNvSpPr>
          <p:nvPr/>
        </p:nvSpPr>
        <p:spPr>
          <a:xfrm>
            <a:off x="552450" y="1981200"/>
            <a:ext cx="2476500" cy="10858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$39 BILLION</a:t>
            </a:r>
          </a:p>
        </p:txBody>
      </p:sp>
      <p:sp>
        <p:nvSpPr>
          <p:cNvPr id="4" name="Manufacturing incentives for facili">
            <a:extLst>
              <a:ext uri="{FF2B5EF4-FFF2-40B4-BE49-F238E27FC236}">
                <a16:creationId xmlns:a16="http://schemas.microsoft.com/office/drawing/2014/main" id="{3AE2D2E5-D834-412E-9C02-183324CC00A3}"/>
              </a:ext>
            </a:extLst>
          </p:cNvPr>
          <p:cNvSpPr>
            <a:spLocks noGrp="1"/>
          </p:cNvSpPr>
          <p:nvPr/>
        </p:nvSpPr>
        <p:spPr>
          <a:xfrm>
            <a:off x="3381375" y="1981200"/>
            <a:ext cx="8220075" cy="10858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Manufacturing incentives for facilities and equipment</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in the United States</a:t>
            </a:r>
          </a:p>
        </p:txBody>
      </p:sp>
      <p:sp>
        <p:nvSpPr>
          <p:cNvPr id="5" name="$11 BILLION">
            <a:extLst>
              <a:ext uri="{FF2B5EF4-FFF2-40B4-BE49-F238E27FC236}">
                <a16:creationId xmlns:a16="http://schemas.microsoft.com/office/drawing/2014/main" id="{4900A102-166F-4D45-948B-6417B9871029}"/>
              </a:ext>
            </a:extLst>
          </p:cNvPr>
          <p:cNvSpPr>
            <a:spLocks noGrp="1"/>
          </p:cNvSpPr>
          <p:nvPr/>
        </p:nvSpPr>
        <p:spPr>
          <a:xfrm>
            <a:off x="552450" y="3181350"/>
            <a:ext cx="2476500" cy="10858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$11 BILLION</a:t>
            </a:r>
          </a:p>
        </p:txBody>
      </p:sp>
      <p:sp>
        <p:nvSpPr>
          <p:cNvPr id="6" name="A domestic R&amp;D ecosystem, including">
            <a:extLst>
              <a:ext uri="{FF2B5EF4-FFF2-40B4-BE49-F238E27FC236}">
                <a16:creationId xmlns:a16="http://schemas.microsoft.com/office/drawing/2014/main" id="{05DCFF42-EF5A-4ED1-A96D-1440A7B9CD0C}"/>
              </a:ext>
            </a:extLst>
          </p:cNvPr>
          <p:cNvSpPr>
            <a:spLocks noGrp="1"/>
          </p:cNvSpPr>
          <p:nvPr/>
        </p:nvSpPr>
        <p:spPr>
          <a:xfrm>
            <a:off x="3381375" y="3181350"/>
            <a:ext cx="8220075" cy="10858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A domestic R&amp;D ecosystem, including shared</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research and advanced packaging capabilities</a:t>
            </a:r>
          </a:p>
        </p:txBody>
      </p:sp>
      <p:sp>
        <p:nvSpPr>
          <p:cNvPr id="7" name="A WIDER AIM">
            <a:extLst>
              <a:ext uri="{FF2B5EF4-FFF2-40B4-BE49-F238E27FC236}">
                <a16:creationId xmlns:a16="http://schemas.microsoft.com/office/drawing/2014/main" id="{16D752C3-5D40-48DD-B7F3-54A0555EBCD9}"/>
              </a:ext>
            </a:extLst>
          </p:cNvPr>
          <p:cNvSpPr>
            <a:spLocks noGrp="1"/>
          </p:cNvSpPr>
          <p:nvPr/>
        </p:nvSpPr>
        <p:spPr>
          <a:xfrm>
            <a:off x="552450" y="4381500"/>
            <a:ext cx="2476500" cy="10858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A WIDER AIM</a:t>
            </a:r>
          </a:p>
        </p:txBody>
      </p:sp>
      <p:sp>
        <p:nvSpPr>
          <p:cNvPr id="8" name="Manufacturing scale and supply resi">
            <a:extLst>
              <a:ext uri="{FF2B5EF4-FFF2-40B4-BE49-F238E27FC236}">
                <a16:creationId xmlns:a16="http://schemas.microsoft.com/office/drawing/2014/main" id="{A4FEB64F-40D4-4E00-B053-C6A5CD28552F}"/>
              </a:ext>
            </a:extLst>
          </p:cNvPr>
          <p:cNvSpPr>
            <a:spLocks noGrp="1"/>
          </p:cNvSpPr>
          <p:nvPr/>
        </p:nvSpPr>
        <p:spPr>
          <a:xfrm>
            <a:off x="3381375" y="4381500"/>
            <a:ext cx="8220075" cy="108585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Manufacturing scale and supply resilience, alongside</a:t>
            </a:r>
          </a:p>
          <a:p>
            <a:pPr>
              <a:defRPr sz="2025" b="0" i="0">
                <a:solidFill>
                  <a:srgbClr val="23373B"/>
                </a:solidFill>
                <a:latin typeface="Calibri"/>
                <a:ea typeface="Calibri"/>
                <a:cs typeface="Calibri"/>
              </a:defRPr>
            </a:pPr>
            <a:r>
              <a:rPr sz="2025" b="0" i="0">
                <a:solidFill>
                  <a:srgbClr val="23373B"/>
                </a:solidFill>
                <a:latin typeface="Calibri"/>
                <a:ea typeface="Calibri"/>
                <a:cs typeface="Calibri"/>
              </a:rPr>
              <a:t>the collective-capability logic of SEMATECH</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62742BDD-FDD5-4947-9A26-FAA9FB19C67C}" type="slidenum">
              <a:rPr b="0"/>
              <a:t>13</a:t>
            </a:fld>
            <a:r>
              <a:rPr b="0"/>
              <a:t> / 19</a:t>
            </a:r>
          </a:p>
        </p:txBody>
      </p:sp>
    </p:spTree>
    <p:extLst>
      <p:ext uri="{BB962C8B-B14F-4D97-AF65-F5344CB8AC3E}">
        <p14:creationId xmlns:p14="http://schemas.microsoft.com/office/powerpoint/2010/main" val="102754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IRA: climate, industry and geopolit">
            <a:extLst>
              <a:ext uri="{FF2B5EF4-FFF2-40B4-BE49-F238E27FC236}">
                <a16:creationId xmlns:a16="http://schemas.microsoft.com/office/drawing/2014/main" id="{BD5F62FE-7DCD-49BB-B9F6-A90AD20FD8B2}"/>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IRA: climate, industry and geopolitics</a:t>
            </a:r>
          </a:p>
        </p:txBody>
      </p:sp>
      <p:sp>
        <p:nvSpPr>
          <p:cNvPr id="2" name="Inflation Reduction Act, 2022 • ori">
            <a:extLst>
              <a:ext uri="{FF2B5EF4-FFF2-40B4-BE49-F238E27FC236}">
                <a16:creationId xmlns:a16="http://schemas.microsoft.com/office/drawing/2014/main" id="{31F7E82E-0E21-4F40-AE72-0DDE2BCDC0D0}"/>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Inflation Reduction Act, 2022 • original policy architecture</a:t>
            </a:r>
          </a:p>
        </p:txBody>
      </p:sp>
      <p:sp>
        <p:nvSpPr>
          <p:cNvPr id="3" name="CLIMATE">
            <a:extLst>
              <a:ext uri="{FF2B5EF4-FFF2-40B4-BE49-F238E27FC236}">
                <a16:creationId xmlns:a16="http://schemas.microsoft.com/office/drawing/2014/main" id="{40C78301-F816-40B2-954A-A69635957D7B}"/>
              </a:ext>
            </a:extLst>
          </p:cNvPr>
          <p:cNvSpPr>
            <a:spLocks noGrp="1"/>
          </p:cNvSpPr>
          <p:nvPr/>
        </p:nvSpPr>
        <p:spPr>
          <a:xfrm>
            <a:off x="552450" y="1981200"/>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CLIMATE</a:t>
            </a:r>
          </a:p>
        </p:txBody>
      </p:sp>
      <p:sp>
        <p:nvSpPr>
          <p:cNvPr id="4" name="Tax incentives lower the cost of cl">
            <a:extLst>
              <a:ext uri="{FF2B5EF4-FFF2-40B4-BE49-F238E27FC236}">
                <a16:creationId xmlns:a16="http://schemas.microsoft.com/office/drawing/2014/main" id="{AE494A48-4525-408E-9270-24C0A84CEC69}"/>
              </a:ext>
            </a:extLst>
          </p:cNvPr>
          <p:cNvSpPr>
            <a:spLocks noGrp="1"/>
          </p:cNvSpPr>
          <p:nvPr/>
        </p:nvSpPr>
        <p:spPr>
          <a:xfrm>
            <a:off x="3381375" y="1981200"/>
            <a:ext cx="8220075" cy="10953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Tax incentives lower the cost of clean-energy</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deployment and production.</a:t>
            </a:r>
          </a:p>
        </p:txBody>
      </p:sp>
      <p:sp>
        <p:nvSpPr>
          <p:cNvPr id="5" name="INDUSTRY">
            <a:extLst>
              <a:ext uri="{FF2B5EF4-FFF2-40B4-BE49-F238E27FC236}">
                <a16:creationId xmlns:a16="http://schemas.microsoft.com/office/drawing/2014/main" id="{7BD22FEA-E488-4F3B-A039-5A8589FDDD46}"/>
              </a:ext>
            </a:extLst>
          </p:cNvPr>
          <p:cNvSpPr>
            <a:spLocks noGrp="1"/>
          </p:cNvSpPr>
          <p:nvPr/>
        </p:nvSpPr>
        <p:spPr>
          <a:xfrm>
            <a:off x="552450" y="3190875"/>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INDUSTRY</a:t>
            </a:r>
          </a:p>
        </p:txBody>
      </p:sp>
      <p:sp>
        <p:nvSpPr>
          <p:cNvPr id="6" name="Manufacturing credits and domestic-">
            <a:extLst>
              <a:ext uri="{FF2B5EF4-FFF2-40B4-BE49-F238E27FC236}">
                <a16:creationId xmlns:a16="http://schemas.microsoft.com/office/drawing/2014/main" id="{A1259CFF-B517-4E88-B24F-F2334C0E2FBC}"/>
              </a:ext>
            </a:extLst>
          </p:cNvPr>
          <p:cNvSpPr>
            <a:spLocks noGrp="1"/>
          </p:cNvSpPr>
          <p:nvPr/>
        </p:nvSpPr>
        <p:spPr>
          <a:xfrm>
            <a:off x="3381375" y="3190875"/>
            <a:ext cx="8220075" cy="10953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Manufacturing credits and domestic-content bonuses</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pull investment toward US supply chains.</a:t>
            </a:r>
          </a:p>
        </p:txBody>
      </p:sp>
      <p:sp>
        <p:nvSpPr>
          <p:cNvPr id="7" name="GEOPOLITICS">
            <a:extLst>
              <a:ext uri="{FF2B5EF4-FFF2-40B4-BE49-F238E27FC236}">
                <a16:creationId xmlns:a16="http://schemas.microsoft.com/office/drawing/2014/main" id="{BB868DFF-8F27-40EE-A27E-2B8E53C1F3C9}"/>
              </a:ext>
            </a:extLst>
          </p:cNvPr>
          <p:cNvSpPr>
            <a:spLocks noGrp="1"/>
          </p:cNvSpPr>
          <p:nvPr/>
        </p:nvSpPr>
        <p:spPr>
          <a:xfrm>
            <a:off x="552450" y="4400550"/>
            <a:ext cx="2476500" cy="1095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GEOPOLITICS</a:t>
            </a:r>
          </a:p>
        </p:txBody>
      </p:sp>
      <p:sp>
        <p:nvSpPr>
          <p:cNvPr id="8" name="Sourcing conditions favour domestic">
            <a:extLst>
              <a:ext uri="{FF2B5EF4-FFF2-40B4-BE49-F238E27FC236}">
                <a16:creationId xmlns:a16="http://schemas.microsoft.com/office/drawing/2014/main" id="{A3B17D32-0CE4-4D36-B025-FC7FC6AE8EE3}"/>
              </a:ext>
            </a:extLst>
          </p:cNvPr>
          <p:cNvSpPr>
            <a:spLocks noGrp="1"/>
          </p:cNvSpPr>
          <p:nvPr/>
        </p:nvSpPr>
        <p:spPr>
          <a:xfrm>
            <a:off x="3381375" y="4400550"/>
            <a:ext cx="8220075" cy="1095375"/>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Sourcing conditions favour domestic and eligible</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partner capacity, creating tensions with other suppliers.</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8C674E7C-2A78-4531-B855-E528F07DE955}" type="slidenum">
              <a:rPr b="0"/>
              <a:t>14</a:t>
            </a:fld>
            <a:r>
              <a:rPr b="0"/>
              <a:t> / 19</a:t>
            </a:r>
          </a:p>
        </p:txBody>
      </p:sp>
    </p:spTree>
    <p:extLst>
      <p:ext uri="{BB962C8B-B14F-4D97-AF65-F5344CB8AC3E}">
        <p14:creationId xmlns:p14="http://schemas.microsoft.com/office/powerpoint/2010/main" val="102754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ld and new industrial policy">
            <a:extLst>
              <a:ext uri="{FF2B5EF4-FFF2-40B4-BE49-F238E27FC236}">
                <a16:creationId xmlns:a16="http://schemas.microsoft.com/office/drawing/2014/main" id="{895880A1-3228-4169-B2F7-4703B92523AF}"/>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Old and new industrial policy</a:t>
            </a:r>
          </a:p>
        </p:txBody>
      </p:sp>
      <p:sp>
        <p:nvSpPr>
          <p:cNvPr id="2" name="A shift in emphasis, with substanti">
            <a:extLst>
              <a:ext uri="{FF2B5EF4-FFF2-40B4-BE49-F238E27FC236}">
                <a16:creationId xmlns:a16="http://schemas.microsoft.com/office/drawing/2014/main" id="{D2C01786-7BEB-4797-9ED3-2A84E8A22A14}"/>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A shift in emphasis, with substantial overlap</a:t>
            </a:r>
          </a:p>
        </p:txBody>
      </p:sp>
      <p:sp>
        <p:nvSpPr>
          <p:cNvPr id="3" name="DEVELOPMENT STRATEGY">
            <a:extLst>
              <a:ext uri="{FF2B5EF4-FFF2-40B4-BE49-F238E27FC236}">
                <a16:creationId xmlns:a16="http://schemas.microsoft.com/office/drawing/2014/main" id="{B9214673-BE37-4EDC-80EC-1E4D434A5648}"/>
              </a:ext>
            </a:extLst>
          </p:cNvPr>
          <p:cNvSpPr>
            <a:spLocks noGrp="1"/>
          </p:cNvSpPr>
          <p:nvPr/>
        </p:nvSpPr>
        <p:spPr>
          <a:xfrm>
            <a:off x="552450" y="1952625"/>
            <a:ext cx="5238750" cy="4762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DEVELOPMENT STRATEGY</a:t>
            </a:r>
          </a:p>
        </p:txBody>
      </p:sp>
      <p:sp>
        <p:nvSpPr>
          <p:cNvPr id="4" name="ECONOMIC SECURITY">
            <a:extLst>
              <a:ext uri="{FF2B5EF4-FFF2-40B4-BE49-F238E27FC236}">
                <a16:creationId xmlns:a16="http://schemas.microsoft.com/office/drawing/2014/main" id="{700A2423-BA0A-4B33-8999-6A789664A09F}"/>
              </a:ext>
            </a:extLst>
          </p:cNvPr>
          <p:cNvSpPr>
            <a:spLocks noGrp="1"/>
          </p:cNvSpPr>
          <p:nvPr/>
        </p:nvSpPr>
        <p:spPr>
          <a:xfrm>
            <a:off x="6381750" y="1952625"/>
            <a:ext cx="5191125" cy="47625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ECONOMIC SECURITY</a:t>
            </a:r>
          </a:p>
        </p:txBody>
      </p:sp>
      <p:sp>
        <p:nvSpPr>
          <p:cNvPr id="5" name="Catch up with the productivity fron">
            <a:extLst>
              <a:ext uri="{FF2B5EF4-FFF2-40B4-BE49-F238E27FC236}">
                <a16:creationId xmlns:a16="http://schemas.microsoft.com/office/drawing/2014/main" id="{E4561E13-686A-4B34-B8A0-FA222731D693}"/>
              </a:ext>
            </a:extLst>
          </p:cNvPr>
          <p:cNvSpPr>
            <a:spLocks noGrp="1"/>
          </p:cNvSpPr>
          <p:nvPr/>
        </p:nvSpPr>
        <p:spPr>
          <a:xfrm>
            <a:off x="552450" y="2714625"/>
            <a:ext cx="5238750"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Catch up with the productivity frontier</a:t>
            </a:r>
          </a:p>
        </p:txBody>
      </p:sp>
      <p:sp>
        <p:nvSpPr>
          <p:cNvPr id="6" name="Build new export capabilities">
            <a:extLst>
              <a:ext uri="{FF2B5EF4-FFF2-40B4-BE49-F238E27FC236}">
                <a16:creationId xmlns:a16="http://schemas.microsoft.com/office/drawing/2014/main" id="{F6881AD4-9776-466D-9E80-87AE528F3996}"/>
              </a:ext>
            </a:extLst>
          </p:cNvPr>
          <p:cNvSpPr>
            <a:spLocks noGrp="1"/>
          </p:cNvSpPr>
          <p:nvPr/>
        </p:nvSpPr>
        <p:spPr>
          <a:xfrm>
            <a:off x="552450" y="3495675"/>
            <a:ext cx="5238750"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Build new export capabilities</a:t>
            </a:r>
          </a:p>
        </p:txBody>
      </p:sp>
      <p:sp>
        <p:nvSpPr>
          <p:cNvPr id="7" name="Use foreign markets as a performanc">
            <a:extLst>
              <a:ext uri="{FF2B5EF4-FFF2-40B4-BE49-F238E27FC236}">
                <a16:creationId xmlns:a16="http://schemas.microsoft.com/office/drawing/2014/main" id="{F3231873-67C6-4181-AB8B-07972C606730}"/>
              </a:ext>
            </a:extLst>
          </p:cNvPr>
          <p:cNvSpPr>
            <a:spLocks noGrp="1"/>
          </p:cNvSpPr>
          <p:nvPr/>
        </p:nvSpPr>
        <p:spPr>
          <a:xfrm>
            <a:off x="552450" y="4276725"/>
            <a:ext cx="5238750"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Use foreign markets as a performance test</a:t>
            </a:r>
          </a:p>
        </p:txBody>
      </p:sp>
      <p:sp>
        <p:nvSpPr>
          <p:cNvPr id="8" name="Risk: protected firms never graduat">
            <a:extLst>
              <a:ext uri="{FF2B5EF4-FFF2-40B4-BE49-F238E27FC236}">
                <a16:creationId xmlns:a16="http://schemas.microsoft.com/office/drawing/2014/main" id="{D800B485-BABC-48AC-AD02-53019CCCF580}"/>
              </a:ext>
            </a:extLst>
          </p:cNvPr>
          <p:cNvSpPr>
            <a:spLocks noGrp="1"/>
          </p:cNvSpPr>
          <p:nvPr/>
        </p:nvSpPr>
        <p:spPr>
          <a:xfrm>
            <a:off x="552450" y="5057775"/>
            <a:ext cx="5238750"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Risk: protected firms never graduate</a:t>
            </a:r>
          </a:p>
        </p:txBody>
      </p:sp>
      <p:sp>
        <p:nvSpPr>
          <p:cNvPr id="9" name="Protect critical capacities and sup">
            <a:extLst>
              <a:ext uri="{FF2B5EF4-FFF2-40B4-BE49-F238E27FC236}">
                <a16:creationId xmlns:a16="http://schemas.microsoft.com/office/drawing/2014/main" id="{E3E60616-9EE9-4969-AFDD-BF1B7BB72B90}"/>
              </a:ext>
            </a:extLst>
          </p:cNvPr>
          <p:cNvSpPr>
            <a:spLocks noGrp="1"/>
          </p:cNvSpPr>
          <p:nvPr/>
        </p:nvSpPr>
        <p:spPr>
          <a:xfrm>
            <a:off x="6381750" y="2714625"/>
            <a:ext cx="5191125"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Protect critical capacities and supply</a:t>
            </a:r>
          </a:p>
        </p:txBody>
      </p:sp>
      <p:sp>
        <p:nvSpPr>
          <p:cNvPr id="10" name="Reduce strategic vulnerabilities">
            <a:extLst>
              <a:ext uri="{FF2B5EF4-FFF2-40B4-BE49-F238E27FC236}">
                <a16:creationId xmlns:a16="http://schemas.microsoft.com/office/drawing/2014/main" id="{AEF39624-86AC-4555-BF77-0AB947888878}"/>
              </a:ext>
            </a:extLst>
          </p:cNvPr>
          <p:cNvSpPr>
            <a:spLocks noGrp="1"/>
          </p:cNvSpPr>
          <p:nvPr/>
        </p:nvSpPr>
        <p:spPr>
          <a:xfrm>
            <a:off x="6381750" y="3495675"/>
            <a:ext cx="5191125"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Reduce strategic vulnerabilities</a:t>
            </a:r>
          </a:p>
        </p:txBody>
      </p:sp>
      <p:sp>
        <p:nvSpPr>
          <p:cNvPr id="11" name="Accept some efficiency cost for res">
            <a:extLst>
              <a:ext uri="{FF2B5EF4-FFF2-40B4-BE49-F238E27FC236}">
                <a16:creationId xmlns:a16="http://schemas.microsoft.com/office/drawing/2014/main" id="{541AF689-D723-4311-A89C-8F52B08D116E}"/>
              </a:ext>
            </a:extLst>
          </p:cNvPr>
          <p:cNvSpPr>
            <a:spLocks noGrp="1"/>
          </p:cNvSpPr>
          <p:nvPr/>
        </p:nvSpPr>
        <p:spPr>
          <a:xfrm>
            <a:off x="6381750" y="4276725"/>
            <a:ext cx="5191125"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Accept some efficiency cost for resilience</a:t>
            </a:r>
          </a:p>
        </p:txBody>
      </p:sp>
      <p:sp>
        <p:nvSpPr>
          <p:cNvPr id="12" name="Risk: security rationales become un">
            <a:extLst>
              <a:ext uri="{FF2B5EF4-FFF2-40B4-BE49-F238E27FC236}">
                <a16:creationId xmlns:a16="http://schemas.microsoft.com/office/drawing/2014/main" id="{3877F08F-00F1-412A-AEEB-3EB4AC35FED9}"/>
              </a:ext>
            </a:extLst>
          </p:cNvPr>
          <p:cNvSpPr>
            <a:spLocks noGrp="1"/>
          </p:cNvSpPr>
          <p:nvPr/>
        </p:nvSpPr>
        <p:spPr>
          <a:xfrm>
            <a:off x="6381750" y="5057775"/>
            <a:ext cx="5191125" cy="647700"/>
          </a:xfrm>
          <a:prstGeom prst="rect">
            <a:avLst/>
          </a:prstGeom>
          <a:noFill/>
          <a:ln w="0">
            <a:noFill/>
          </a:ln>
        </p:spPr>
        <p:txBody>
          <a:bodyPr>
            <a:noAutofit/>
          </a:bodyPr>
          <a:lstStyle/>
          <a:p>
            <a:pPr>
              <a:defRPr sz="2025" b="0" i="0">
                <a:solidFill>
                  <a:srgbClr val="23373B"/>
                </a:solidFill>
                <a:latin typeface="Calibri"/>
                <a:ea typeface="Calibri"/>
                <a:cs typeface="Calibri"/>
              </a:defRPr>
            </a:pPr>
            <a:r>
              <a:rPr sz="2025" b="0" i="0">
                <a:solidFill>
                  <a:srgbClr val="23373B"/>
                </a:solidFill>
                <a:latin typeface="Calibri"/>
                <a:ea typeface="Calibri"/>
                <a:cs typeface="Calibri"/>
              </a:rPr>
              <a:t>Risk: security rationales become unlimited</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4B38F982-1754-49CB-BE84-171BB1EDBEC3}" type="slidenum">
              <a:rPr b="0"/>
              <a:t>15</a:t>
            </a:fld>
            <a:r>
              <a:rPr b="0"/>
              <a:t> / 19</a:t>
            </a:r>
          </a:p>
        </p:txBody>
      </p:sp>
    </p:spTree>
    <p:extLst>
      <p:ext uri="{BB962C8B-B14F-4D97-AF65-F5344CB8AC3E}">
        <p14:creationId xmlns:p14="http://schemas.microsoft.com/office/powerpoint/2010/main" val="102754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he structural-reform counterpunch">
            <a:extLst>
              <a:ext uri="{FF2B5EF4-FFF2-40B4-BE49-F238E27FC236}">
                <a16:creationId xmlns:a16="http://schemas.microsoft.com/office/drawing/2014/main" id="{89E9AB7F-A120-4A60-9201-04403E3729D5}"/>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The structural-reform counterpunch</a:t>
            </a:r>
          </a:p>
        </p:txBody>
      </p:sp>
      <p:pic>
        <p:nvPicPr>
          <p:cNvPr id="6" name="Picture 5"/>
          <p:cNvPicPr>
            <a:picLocks noChangeAspect="1"/>
          </p:cNvPicPr>
          <p:nvPr/>
        </p:nvPicPr>
        <p:blipFill>
          <a:blip r:embed="rId3"/>
          <a:stretch/>
        </p:blipFill>
        <p:spPr>
          <a:xfrm>
            <a:off x="1708508" y="1266825"/>
            <a:ext cx="4564934" cy="4962525"/>
          </a:xfrm>
          <a:prstGeom prst="rect">
            <a:avLst/>
          </a:prstGeom>
        </p:spPr>
      </p:pic>
      <p:sp>
        <p:nvSpPr>
          <p:cNvPr id="3" name="Could better&#10;governance do more&#10;tha">
            <a:extLst>
              <a:ext uri="{FF2B5EF4-FFF2-40B4-BE49-F238E27FC236}">
                <a16:creationId xmlns:a16="http://schemas.microsoft.com/office/drawing/2014/main" id="{E251A32D-78DC-4C2B-9D18-3EC9B26D1488}"/>
              </a:ext>
            </a:extLst>
          </p:cNvPr>
          <p:cNvSpPr>
            <a:spLocks noGrp="1"/>
          </p:cNvSpPr>
          <p:nvPr/>
        </p:nvSpPr>
        <p:spPr>
          <a:xfrm>
            <a:off x="7953375" y="2000250"/>
            <a:ext cx="3714750" cy="1905000"/>
          </a:xfrm>
          <a:prstGeom prst="rect">
            <a:avLst/>
          </a:prstGeom>
          <a:noFill/>
          <a:ln w="0">
            <a:noFill/>
          </a:ln>
        </p:spPr>
        <p:txBody>
          <a:bodyPr>
            <a:noAutofit/>
          </a:bodyPr>
          <a:lstStyle/>
          <a:p>
            <a:pPr>
              <a:defRPr sz="2700" b="1" i="0">
                <a:solidFill>
                  <a:srgbClr val="EB811B"/>
                </a:solidFill>
                <a:latin typeface="Calibri"/>
                <a:ea typeface="Calibri"/>
                <a:cs typeface="Calibri"/>
              </a:defRPr>
            </a:pPr>
            <a:r>
              <a:rPr sz="2700" b="1" i="0">
                <a:solidFill>
                  <a:srgbClr val="EB811B"/>
                </a:solidFill>
                <a:latin typeface="Calibri"/>
                <a:ea typeface="Calibri"/>
                <a:cs typeface="Calibri"/>
              </a:rPr>
              <a:t>Could better</a:t>
            </a:r>
          </a:p>
          <a:p>
            <a:pPr>
              <a:defRPr sz="2700" b="1" i="0">
                <a:solidFill>
                  <a:srgbClr val="EB811B"/>
                </a:solidFill>
                <a:latin typeface="Calibri"/>
                <a:ea typeface="Calibri"/>
                <a:cs typeface="Calibri"/>
              </a:defRPr>
            </a:pPr>
            <a:r>
              <a:rPr sz="2700" b="1" i="0">
                <a:solidFill>
                  <a:srgbClr val="EB811B"/>
                </a:solidFill>
                <a:latin typeface="Calibri"/>
                <a:ea typeface="Calibri"/>
                <a:cs typeface="Calibri"/>
              </a:rPr>
              <a:t>governance do more</a:t>
            </a:r>
          </a:p>
          <a:p>
            <a:pPr>
              <a:defRPr sz="2700" b="1" i="0">
                <a:solidFill>
                  <a:srgbClr val="EB811B"/>
                </a:solidFill>
                <a:latin typeface="Calibri"/>
                <a:ea typeface="Calibri"/>
                <a:cs typeface="Calibri"/>
              </a:defRPr>
            </a:pPr>
            <a:r>
              <a:rPr sz="2700" b="1" i="0">
                <a:solidFill>
                  <a:srgbClr val="EB811B"/>
                </a:solidFill>
                <a:latin typeface="Calibri"/>
                <a:ea typeface="Calibri"/>
                <a:cs typeface="Calibri"/>
              </a:rPr>
              <a:t>than sector support?</a:t>
            </a:r>
          </a:p>
        </p:txBody>
      </p:sp>
      <p:sp>
        <p:nvSpPr>
          <p:cNvPr id="4" name="This evidence favours reform&#10;for in">
            <a:extLst>
              <a:ext uri="{FF2B5EF4-FFF2-40B4-BE49-F238E27FC236}">
                <a16:creationId xmlns:a16="http://schemas.microsoft.com/office/drawing/2014/main" id="{79F765C1-947D-4942-9862-EDFD7A8E0128}"/>
              </a:ext>
            </a:extLst>
          </p:cNvPr>
          <p:cNvSpPr>
            <a:spLocks noGrp="1"/>
          </p:cNvSpPr>
          <p:nvPr/>
        </p:nvSpPr>
        <p:spPr>
          <a:xfrm>
            <a:off x="7953375" y="4210050"/>
            <a:ext cx="3638550" cy="1619250"/>
          </a:xfrm>
          <a:prstGeom prst="rect">
            <a:avLst/>
          </a:prstGeom>
          <a:noFill/>
          <a:ln w="0">
            <a:noFill/>
          </a:ln>
        </p:spPr>
        <p:txBody>
          <a:bodyPr>
            <a:noAutofit/>
          </a:bodyPr>
          <a:lstStyle/>
          <a:p>
            <a:pPr>
              <a:defRPr sz="1800" b="0" i="0">
                <a:solidFill>
                  <a:srgbClr val="4E5E61"/>
                </a:solidFill>
                <a:latin typeface="Calibri"/>
                <a:ea typeface="Calibri"/>
                <a:cs typeface="Calibri"/>
              </a:defRPr>
            </a:pPr>
            <a:r>
              <a:rPr sz="1800" b="0" i="0">
                <a:solidFill>
                  <a:srgbClr val="4E5E61"/>
                </a:solidFill>
                <a:latin typeface="Calibri"/>
                <a:ea typeface="Calibri"/>
                <a:cs typeface="Calibri"/>
              </a:rPr>
              <a:t>This evidence favours reform</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for inefficient sectors.</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It does not settle every</a:t>
            </a:r>
          </a:p>
          <a:p>
            <a:pPr>
              <a:defRPr sz="1800" b="0" i="0">
                <a:solidFill>
                  <a:srgbClr val="4E5E61"/>
                </a:solidFill>
                <a:latin typeface="Calibri"/>
                <a:ea typeface="Calibri"/>
                <a:cs typeface="Calibri"/>
              </a:defRPr>
            </a:pPr>
            <a:r>
              <a:rPr sz="1800" b="0" i="0">
                <a:solidFill>
                  <a:srgbClr val="4E5E61"/>
                </a:solidFill>
                <a:latin typeface="Calibri"/>
                <a:ea typeface="Calibri"/>
                <a:cs typeface="Calibri"/>
              </a:rPr>
              <a:t>technology or security case.</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72B18A72-BC3A-49AA-ABEB-49F96B966270}" type="slidenum">
              <a:rPr b="0"/>
              <a:t>16</a:t>
            </a:fld>
            <a:r>
              <a:rPr b="0"/>
              <a:t> / 19</a:t>
            </a:r>
          </a:p>
        </p:txBody>
      </p:sp>
    </p:spTree>
    <p:extLst>
      <p:ext uri="{BB962C8B-B14F-4D97-AF65-F5344CB8AC3E}">
        <p14:creationId xmlns:p14="http://schemas.microsoft.com/office/powerpoint/2010/main" val="102754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uild yourself up • Hold others dow">
            <a:extLst>
              <a:ext uri="{FF2B5EF4-FFF2-40B4-BE49-F238E27FC236}">
                <a16:creationId xmlns:a16="http://schemas.microsoft.com/office/drawing/2014/main" id="{19968891-FFF8-4EC5-85DE-A71ACD70280F}"/>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Build yourself up • Hold others down</a:t>
            </a:r>
          </a:p>
        </p:txBody>
      </p:sp>
      <p:sp>
        <p:nvSpPr>
          <p:cNvPr id="2" name="Industrial policy occupies a spectr">
            <a:extLst>
              <a:ext uri="{FF2B5EF4-FFF2-40B4-BE49-F238E27FC236}">
                <a16:creationId xmlns:a16="http://schemas.microsoft.com/office/drawing/2014/main" id="{B3F5BA99-852B-4BD4-BE0F-5026BDF5B417}"/>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Industrial policy occupies a spectrum of cross-border effects</a:t>
            </a:r>
          </a:p>
        </p:txBody>
      </p:sp>
      <p:sp>
        <p:nvSpPr>
          <p:cNvPr id="3" name="BUILD CAPABILITY">
            <a:extLst>
              <a:ext uri="{FF2B5EF4-FFF2-40B4-BE49-F238E27FC236}">
                <a16:creationId xmlns:a16="http://schemas.microsoft.com/office/drawing/2014/main" id="{0A1FE07D-8940-43A4-A3B4-B194C46F5FCD}"/>
              </a:ext>
            </a:extLst>
          </p:cNvPr>
          <p:cNvSpPr>
            <a:spLocks noGrp="1"/>
          </p:cNvSpPr>
          <p:nvPr/>
        </p:nvSpPr>
        <p:spPr>
          <a:xfrm>
            <a:off x="552450" y="1981200"/>
            <a:ext cx="2476500" cy="10668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BUILD CAPABILITY</a:t>
            </a:r>
          </a:p>
        </p:txBody>
      </p:sp>
      <p:sp>
        <p:nvSpPr>
          <p:cNvPr id="4" name="Open research, skills and infrastru">
            <a:extLst>
              <a:ext uri="{FF2B5EF4-FFF2-40B4-BE49-F238E27FC236}">
                <a16:creationId xmlns:a16="http://schemas.microsoft.com/office/drawing/2014/main" id="{E81A0B2A-EA10-4274-9542-5C1444582CCF}"/>
              </a:ext>
            </a:extLst>
          </p:cNvPr>
          <p:cNvSpPr>
            <a:spLocks noGrp="1"/>
          </p:cNvSpPr>
          <p:nvPr/>
        </p:nvSpPr>
        <p:spPr>
          <a:xfrm>
            <a:off x="3381375" y="1981200"/>
            <a:ext cx="8220075" cy="10668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Open research, skills and infrastructure</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can increase productive capacity at home and abroad.</a:t>
            </a:r>
          </a:p>
        </p:txBody>
      </p:sp>
      <p:sp>
        <p:nvSpPr>
          <p:cNvPr id="5" name="FAVOUR HOME">
            <a:extLst>
              <a:ext uri="{FF2B5EF4-FFF2-40B4-BE49-F238E27FC236}">
                <a16:creationId xmlns:a16="http://schemas.microsoft.com/office/drawing/2014/main" id="{B3800A30-7FE0-498E-9B21-2446B8CE8860}"/>
              </a:ext>
            </a:extLst>
          </p:cNvPr>
          <p:cNvSpPr>
            <a:spLocks noGrp="1"/>
          </p:cNvSpPr>
          <p:nvPr/>
        </p:nvSpPr>
        <p:spPr>
          <a:xfrm>
            <a:off x="552450" y="3162300"/>
            <a:ext cx="2476500" cy="10668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FAVOUR HOME</a:t>
            </a:r>
          </a:p>
        </p:txBody>
      </p:sp>
      <p:sp>
        <p:nvSpPr>
          <p:cNvPr id="6" name="Subsidies and local-content rules b">
            <a:extLst>
              <a:ext uri="{FF2B5EF4-FFF2-40B4-BE49-F238E27FC236}">
                <a16:creationId xmlns:a16="http://schemas.microsoft.com/office/drawing/2014/main" id="{993BBC21-86FA-473A-8D06-34DD6E9F3581}"/>
              </a:ext>
            </a:extLst>
          </p:cNvPr>
          <p:cNvSpPr>
            <a:spLocks noGrp="1"/>
          </p:cNvSpPr>
          <p:nvPr/>
        </p:nvSpPr>
        <p:spPr>
          <a:xfrm>
            <a:off x="3381375" y="3162300"/>
            <a:ext cx="8220075" cy="10668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Subsidies and local-content rules build capacity</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while potentially diverting trade and investment.</a:t>
            </a:r>
          </a:p>
        </p:txBody>
      </p:sp>
      <p:sp>
        <p:nvSpPr>
          <p:cNvPr id="7" name="CONSTRAIN RIVALS">
            <a:extLst>
              <a:ext uri="{FF2B5EF4-FFF2-40B4-BE49-F238E27FC236}">
                <a16:creationId xmlns:a16="http://schemas.microsoft.com/office/drawing/2014/main" id="{18EEAF98-BEDD-4D40-9B70-2F357E33D8C9}"/>
              </a:ext>
            </a:extLst>
          </p:cNvPr>
          <p:cNvSpPr>
            <a:spLocks noGrp="1"/>
          </p:cNvSpPr>
          <p:nvPr/>
        </p:nvSpPr>
        <p:spPr>
          <a:xfrm>
            <a:off x="552450" y="4343400"/>
            <a:ext cx="2476500" cy="10668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CONSTRAIN RIVALS</a:t>
            </a:r>
          </a:p>
        </p:txBody>
      </p:sp>
      <p:sp>
        <p:nvSpPr>
          <p:cNvPr id="8" name="Technology denial and exclusion may">
            <a:extLst>
              <a:ext uri="{FF2B5EF4-FFF2-40B4-BE49-F238E27FC236}">
                <a16:creationId xmlns:a16="http://schemas.microsoft.com/office/drawing/2014/main" id="{A381FE1C-E4A2-4216-999B-0025D73A954B}"/>
              </a:ext>
            </a:extLst>
          </p:cNvPr>
          <p:cNvSpPr>
            <a:spLocks noGrp="1"/>
          </p:cNvSpPr>
          <p:nvPr/>
        </p:nvSpPr>
        <p:spPr>
          <a:xfrm>
            <a:off x="3381375" y="4343400"/>
            <a:ext cx="8220075" cy="1066800"/>
          </a:xfrm>
          <a:prstGeom prst="rect">
            <a:avLst/>
          </a:prstGeom>
          <a:noFill/>
          <a:ln w="0">
            <a:noFill/>
          </a:ln>
        </p:spPr>
        <p:txBody>
          <a:bodyPr>
            <a:noAutofit/>
          </a:bodyPr>
          <a:lstStyle/>
          <a:p>
            <a:pPr>
              <a:defRPr sz="1950" b="0" i="0">
                <a:solidFill>
                  <a:srgbClr val="23373B"/>
                </a:solidFill>
                <a:latin typeface="Calibri"/>
                <a:ea typeface="Calibri"/>
                <a:cs typeface="Calibri"/>
              </a:defRPr>
            </a:pPr>
            <a:r>
              <a:rPr sz="1950" b="0" i="0">
                <a:solidFill>
                  <a:srgbClr val="23373B"/>
                </a:solidFill>
                <a:latin typeface="Calibri"/>
                <a:ea typeface="Calibri"/>
                <a:cs typeface="Calibri"/>
              </a:rPr>
              <a:t>Technology denial and exclusion may deliberately</a:t>
            </a:r>
          </a:p>
          <a:p>
            <a:pPr>
              <a:defRPr sz="1950" b="0" i="0">
                <a:solidFill>
                  <a:srgbClr val="23373B"/>
                </a:solidFill>
                <a:latin typeface="Calibri"/>
                <a:ea typeface="Calibri"/>
                <a:cs typeface="Calibri"/>
              </a:defRPr>
            </a:pPr>
            <a:r>
              <a:rPr sz="1950" b="0" i="0">
                <a:solidFill>
                  <a:srgbClr val="23373B"/>
                </a:solidFill>
                <a:latin typeface="Calibri"/>
                <a:ea typeface="Calibri"/>
                <a:cs typeface="Calibri"/>
              </a:rPr>
              <a:t>limit another economy’s options.</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4ADB0B30-0FAB-4F4C-A0EF-50A3A4D8F8FF}" type="slidenum">
              <a:rPr b="0"/>
              <a:t>17</a:t>
            </a:fld>
            <a:r>
              <a:rPr b="0"/>
              <a:t> / 19</a:t>
            </a:r>
          </a:p>
        </p:txBody>
      </p:sp>
    </p:spTree>
    <p:extLst>
      <p:ext uri="{BB962C8B-B14F-4D97-AF65-F5344CB8AC3E}">
        <p14:creationId xmlns:p14="http://schemas.microsoft.com/office/powerpoint/2010/main" val="102754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 five-question decision rule">
            <a:extLst>
              <a:ext uri="{FF2B5EF4-FFF2-40B4-BE49-F238E27FC236}">
                <a16:creationId xmlns:a16="http://schemas.microsoft.com/office/drawing/2014/main" id="{16977D1C-90EA-4E4F-A595-BD0B51E18FB1}"/>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23373B"/>
                </a:solidFill>
                <a:latin typeface="Calibri"/>
                <a:ea typeface="Calibri"/>
                <a:cs typeface="Calibri"/>
              </a:defRPr>
            </a:pPr>
            <a:r>
              <a:rPr sz="3200" b="1" i="0">
                <a:solidFill>
                  <a:srgbClr val="23373B"/>
                </a:solidFill>
                <a:latin typeface="Calibri"/>
                <a:ea typeface="Calibri"/>
                <a:cs typeface="Calibri"/>
              </a:rPr>
              <a:t>A five-question decision rule</a:t>
            </a:r>
          </a:p>
        </p:txBody>
      </p:sp>
      <p:sp>
        <p:nvSpPr>
          <p:cNvPr id="2" name="A credible proposal needs an answer">
            <a:extLst>
              <a:ext uri="{FF2B5EF4-FFF2-40B4-BE49-F238E27FC236}">
                <a16:creationId xmlns:a16="http://schemas.microsoft.com/office/drawing/2014/main" id="{75C1BF6C-4942-43A7-9E3A-6F20CF34C7D9}"/>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4E5E61"/>
                </a:solidFill>
                <a:latin typeface="Calibri"/>
                <a:ea typeface="Calibri"/>
                <a:cs typeface="Calibri"/>
              </a:defRPr>
            </a:pPr>
            <a:r>
              <a:rPr sz="1450" b="0" i="1">
                <a:solidFill>
                  <a:srgbClr val="4E5E61"/>
                </a:solidFill>
                <a:latin typeface="Calibri"/>
                <a:ea typeface="Calibri"/>
                <a:cs typeface="Calibri"/>
              </a:rPr>
              <a:t>A credible proposal needs an answer to every question</a:t>
            </a:r>
          </a:p>
        </p:txBody>
      </p:sp>
      <p:sp>
        <p:nvSpPr>
          <p:cNvPr id="3" name="1  WHAT FAILURE?">
            <a:extLst>
              <a:ext uri="{FF2B5EF4-FFF2-40B4-BE49-F238E27FC236}">
                <a16:creationId xmlns:a16="http://schemas.microsoft.com/office/drawing/2014/main" id="{19CA9158-5655-4566-ADA7-F67CA559B689}"/>
              </a:ext>
            </a:extLst>
          </p:cNvPr>
          <p:cNvSpPr>
            <a:spLocks noGrp="1"/>
          </p:cNvSpPr>
          <p:nvPr/>
        </p:nvSpPr>
        <p:spPr>
          <a:xfrm>
            <a:off x="552450" y="1895475"/>
            <a:ext cx="2952750" cy="714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1  WHAT FAILURE?</a:t>
            </a:r>
          </a:p>
        </p:txBody>
      </p:sp>
      <p:sp>
        <p:nvSpPr>
          <p:cNvPr id="4" name="Which market failure or security vu">
            <a:extLst>
              <a:ext uri="{FF2B5EF4-FFF2-40B4-BE49-F238E27FC236}">
                <a16:creationId xmlns:a16="http://schemas.microsoft.com/office/drawing/2014/main" id="{3BA880EE-DF27-4AA9-809C-6797C94537C7}"/>
              </a:ext>
            </a:extLst>
          </p:cNvPr>
          <p:cNvSpPr>
            <a:spLocks noGrp="1"/>
          </p:cNvSpPr>
          <p:nvPr/>
        </p:nvSpPr>
        <p:spPr>
          <a:xfrm>
            <a:off x="3857625" y="1895475"/>
            <a:ext cx="7743825" cy="714375"/>
          </a:xfrm>
          <a:prstGeom prst="rect">
            <a:avLst/>
          </a:prstGeom>
          <a:noFill/>
          <a:ln w="0">
            <a:noFill/>
          </a:ln>
        </p:spPr>
        <p:txBody>
          <a:bodyPr>
            <a:noAutofit/>
          </a:bodyPr>
          <a:lstStyle/>
          <a:p>
            <a:pPr>
              <a:defRPr sz="1800" b="0" i="0">
                <a:solidFill>
                  <a:srgbClr val="23373B"/>
                </a:solidFill>
                <a:latin typeface="Calibri"/>
                <a:ea typeface="Calibri"/>
                <a:cs typeface="Calibri"/>
              </a:defRPr>
            </a:pPr>
            <a:r>
              <a:rPr sz="1800" b="0" i="0">
                <a:solidFill>
                  <a:srgbClr val="23373B"/>
                </a:solidFill>
                <a:latin typeface="Calibri"/>
                <a:ea typeface="Calibri"/>
                <a:cs typeface="Calibri"/>
              </a:rPr>
              <a:t>Which market failure or security vulnerability is specific and material?</a:t>
            </a:r>
          </a:p>
        </p:txBody>
      </p:sp>
      <p:sp>
        <p:nvSpPr>
          <p:cNvPr id="5" name="2  WHY THIS TOOL?">
            <a:extLst>
              <a:ext uri="{FF2B5EF4-FFF2-40B4-BE49-F238E27FC236}">
                <a16:creationId xmlns:a16="http://schemas.microsoft.com/office/drawing/2014/main" id="{C95739E2-15CF-4F7A-BF58-F8955F71E8E1}"/>
              </a:ext>
            </a:extLst>
          </p:cNvPr>
          <p:cNvSpPr>
            <a:spLocks noGrp="1"/>
          </p:cNvSpPr>
          <p:nvPr/>
        </p:nvSpPr>
        <p:spPr>
          <a:xfrm>
            <a:off x="552450" y="2724150"/>
            <a:ext cx="2952750" cy="714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2  WHY THIS TOOL?</a:t>
            </a:r>
          </a:p>
        </p:txBody>
      </p:sp>
      <p:sp>
        <p:nvSpPr>
          <p:cNvPr id="6" name="Why does targeted support beat refo">
            <a:extLst>
              <a:ext uri="{FF2B5EF4-FFF2-40B4-BE49-F238E27FC236}">
                <a16:creationId xmlns:a16="http://schemas.microsoft.com/office/drawing/2014/main" id="{F4A235C4-ABE6-477E-AAC9-31066971E9E3}"/>
              </a:ext>
            </a:extLst>
          </p:cNvPr>
          <p:cNvSpPr>
            <a:spLocks noGrp="1"/>
          </p:cNvSpPr>
          <p:nvPr/>
        </p:nvSpPr>
        <p:spPr>
          <a:xfrm>
            <a:off x="3857625" y="2724150"/>
            <a:ext cx="7743825" cy="714375"/>
          </a:xfrm>
          <a:prstGeom prst="rect">
            <a:avLst/>
          </a:prstGeom>
          <a:noFill/>
          <a:ln w="0">
            <a:noFill/>
          </a:ln>
        </p:spPr>
        <p:txBody>
          <a:bodyPr>
            <a:noAutofit/>
          </a:bodyPr>
          <a:lstStyle/>
          <a:p>
            <a:pPr>
              <a:defRPr sz="1800" b="0" i="0">
                <a:solidFill>
                  <a:srgbClr val="23373B"/>
                </a:solidFill>
                <a:latin typeface="Calibri"/>
                <a:ea typeface="Calibri"/>
                <a:cs typeface="Calibri"/>
              </a:defRPr>
            </a:pPr>
            <a:r>
              <a:rPr sz="1800" b="0" i="0">
                <a:solidFill>
                  <a:srgbClr val="23373B"/>
                </a:solidFill>
                <a:latin typeface="Calibri"/>
                <a:ea typeface="Calibri"/>
                <a:cs typeface="Calibri"/>
              </a:rPr>
              <a:t>Why does targeted support beat reform or a less restrictive alternative?</a:t>
            </a:r>
          </a:p>
        </p:txBody>
      </p:sp>
      <p:sp>
        <p:nvSpPr>
          <p:cNvPr id="7" name="3  WHAT NET GAIN?">
            <a:extLst>
              <a:ext uri="{FF2B5EF4-FFF2-40B4-BE49-F238E27FC236}">
                <a16:creationId xmlns:a16="http://schemas.microsoft.com/office/drawing/2014/main" id="{3BCB7CF9-2233-461F-9AFF-1C3B6F4B5EC2}"/>
              </a:ext>
            </a:extLst>
          </p:cNvPr>
          <p:cNvSpPr>
            <a:spLocks noGrp="1"/>
          </p:cNvSpPr>
          <p:nvPr/>
        </p:nvSpPr>
        <p:spPr>
          <a:xfrm>
            <a:off x="552450" y="3552825"/>
            <a:ext cx="2952750" cy="714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3  WHAT NET GAIN?</a:t>
            </a:r>
          </a:p>
        </p:txBody>
      </p:sp>
      <p:sp>
        <p:nvSpPr>
          <p:cNvPr id="8" name="Do benefits exceed fiscal costs, di">
            <a:extLst>
              <a:ext uri="{FF2B5EF4-FFF2-40B4-BE49-F238E27FC236}">
                <a16:creationId xmlns:a16="http://schemas.microsoft.com/office/drawing/2014/main" id="{F38D8E39-D2BD-4088-85DE-308CF9599FC8}"/>
              </a:ext>
            </a:extLst>
          </p:cNvPr>
          <p:cNvSpPr>
            <a:spLocks noGrp="1"/>
          </p:cNvSpPr>
          <p:nvPr/>
        </p:nvSpPr>
        <p:spPr>
          <a:xfrm>
            <a:off x="3857625" y="3552825"/>
            <a:ext cx="7743825" cy="714375"/>
          </a:xfrm>
          <a:prstGeom prst="rect">
            <a:avLst/>
          </a:prstGeom>
          <a:noFill/>
          <a:ln w="0">
            <a:noFill/>
          </a:ln>
        </p:spPr>
        <p:txBody>
          <a:bodyPr>
            <a:noAutofit/>
          </a:bodyPr>
          <a:lstStyle/>
          <a:p>
            <a:pPr>
              <a:defRPr sz="1800" b="0" i="0">
                <a:solidFill>
                  <a:srgbClr val="23373B"/>
                </a:solidFill>
                <a:latin typeface="Calibri"/>
                <a:ea typeface="Calibri"/>
                <a:cs typeface="Calibri"/>
              </a:defRPr>
            </a:pPr>
            <a:r>
              <a:rPr sz="1800" b="0" i="0">
                <a:solidFill>
                  <a:srgbClr val="23373B"/>
                </a:solidFill>
                <a:latin typeface="Calibri"/>
                <a:ea typeface="Calibri"/>
                <a:cs typeface="Calibri"/>
              </a:rPr>
              <a:t>Do benefits exceed fiscal costs, distortions and distributional losses?</a:t>
            </a:r>
          </a:p>
        </p:txBody>
      </p:sp>
      <p:sp>
        <p:nvSpPr>
          <p:cNvPr id="9" name="4  WHO DISCIPLINES IT?">
            <a:extLst>
              <a:ext uri="{FF2B5EF4-FFF2-40B4-BE49-F238E27FC236}">
                <a16:creationId xmlns:a16="http://schemas.microsoft.com/office/drawing/2014/main" id="{2495B2EC-A01A-4E1A-A4DF-7903B42E6294}"/>
              </a:ext>
            </a:extLst>
          </p:cNvPr>
          <p:cNvSpPr>
            <a:spLocks noGrp="1"/>
          </p:cNvSpPr>
          <p:nvPr/>
        </p:nvSpPr>
        <p:spPr>
          <a:xfrm>
            <a:off x="552450" y="4381500"/>
            <a:ext cx="2952750" cy="714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4  WHO DISCIPLINES IT?</a:t>
            </a:r>
          </a:p>
        </p:txBody>
      </p:sp>
      <p:sp>
        <p:nvSpPr>
          <p:cNvPr id="10" name="Who measures performance, prevents ">
            <a:extLst>
              <a:ext uri="{FF2B5EF4-FFF2-40B4-BE49-F238E27FC236}">
                <a16:creationId xmlns:a16="http://schemas.microsoft.com/office/drawing/2014/main" id="{09981C15-16AF-4DB5-98C7-16608FC5E2EE}"/>
              </a:ext>
            </a:extLst>
          </p:cNvPr>
          <p:cNvSpPr>
            <a:spLocks noGrp="1"/>
          </p:cNvSpPr>
          <p:nvPr/>
        </p:nvSpPr>
        <p:spPr>
          <a:xfrm>
            <a:off x="3857625" y="4381500"/>
            <a:ext cx="7743825" cy="714375"/>
          </a:xfrm>
          <a:prstGeom prst="rect">
            <a:avLst/>
          </a:prstGeom>
          <a:noFill/>
          <a:ln w="0">
            <a:noFill/>
          </a:ln>
        </p:spPr>
        <p:txBody>
          <a:bodyPr>
            <a:noAutofit/>
          </a:bodyPr>
          <a:lstStyle/>
          <a:p>
            <a:pPr>
              <a:defRPr sz="1800" b="0" i="0">
                <a:solidFill>
                  <a:srgbClr val="23373B"/>
                </a:solidFill>
                <a:latin typeface="Calibri"/>
                <a:ea typeface="Calibri"/>
                <a:cs typeface="Calibri"/>
              </a:defRPr>
            </a:pPr>
            <a:r>
              <a:rPr sz="1800" b="0" i="0">
                <a:solidFill>
                  <a:srgbClr val="23373B"/>
                </a:solidFill>
                <a:latin typeface="Calibri"/>
                <a:ea typeface="Calibri"/>
                <a:cs typeface="Calibri"/>
              </a:rPr>
              <a:t>Who measures performance, prevents capture and ends failing support?</a:t>
            </a:r>
          </a:p>
        </p:txBody>
      </p:sp>
      <p:sp>
        <p:nvSpPr>
          <p:cNvPr id="11" name="5  WHAT SPILLOVERS?">
            <a:extLst>
              <a:ext uri="{FF2B5EF4-FFF2-40B4-BE49-F238E27FC236}">
                <a16:creationId xmlns:a16="http://schemas.microsoft.com/office/drawing/2014/main" id="{A47FD187-A368-4F8F-BA25-2165781700DE}"/>
              </a:ext>
            </a:extLst>
          </p:cNvPr>
          <p:cNvSpPr>
            <a:spLocks noGrp="1"/>
          </p:cNvSpPr>
          <p:nvPr/>
        </p:nvSpPr>
        <p:spPr>
          <a:xfrm>
            <a:off x="552450" y="5210175"/>
            <a:ext cx="2952750" cy="714375"/>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5  WHAT SPILLOVERS?</a:t>
            </a:r>
          </a:p>
        </p:txBody>
      </p:sp>
      <p:sp>
        <p:nvSpPr>
          <p:cNvPr id="12" name="Can cooperation limit harm abroad, ">
            <a:extLst>
              <a:ext uri="{FF2B5EF4-FFF2-40B4-BE49-F238E27FC236}">
                <a16:creationId xmlns:a16="http://schemas.microsoft.com/office/drawing/2014/main" id="{FCB1AB69-449B-42ED-AC43-85CC22C33DA4}"/>
              </a:ext>
            </a:extLst>
          </p:cNvPr>
          <p:cNvSpPr>
            <a:spLocks noGrp="1"/>
          </p:cNvSpPr>
          <p:nvPr/>
        </p:nvSpPr>
        <p:spPr>
          <a:xfrm>
            <a:off x="3857625" y="5210175"/>
            <a:ext cx="7743825" cy="714375"/>
          </a:xfrm>
          <a:prstGeom prst="rect">
            <a:avLst/>
          </a:prstGeom>
          <a:noFill/>
          <a:ln w="0">
            <a:noFill/>
          </a:ln>
        </p:spPr>
        <p:txBody>
          <a:bodyPr>
            <a:noAutofit/>
          </a:bodyPr>
          <a:lstStyle/>
          <a:p>
            <a:pPr>
              <a:defRPr sz="1800" b="0" i="0">
                <a:solidFill>
                  <a:srgbClr val="23373B"/>
                </a:solidFill>
                <a:latin typeface="Calibri"/>
                <a:ea typeface="Calibri"/>
                <a:cs typeface="Calibri"/>
              </a:defRPr>
            </a:pPr>
            <a:r>
              <a:rPr sz="1800" b="0" i="0">
                <a:solidFill>
                  <a:srgbClr val="23373B"/>
                </a:solidFill>
                <a:latin typeface="Calibri"/>
                <a:ea typeface="Calibri"/>
                <a:cs typeface="Calibri"/>
              </a:rPr>
              <a:t>Can cooperation limit harm abroad, retaliation and subsidy escalation?</a:t>
            </a:r>
          </a:p>
        </p:txBody>
      </p:sp>
      <p:sp>
        <p:nvSpPr>
          <p:cNvPr id="900" name="Text 0">
            <a:extLst>
              <a:ext uri="{FF2B5EF4-FFF2-40B4-BE49-F238E27FC236}">
                <a16:creationId xmlns:a16="http://schemas.microsoft.com/office/drawing/2014/main" id="{4D5266DD-AFE4-492D-A243-AB2C84133890}"/>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4E5E6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21A1F642-3049-4806-9640-235082EAB74A}"/>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4E5E61"/>
                </a:solidFill>
                <a:latin typeface="Calibri"/>
                <a:ea typeface="Calibri"/>
                <a:cs typeface="Calibri"/>
              </a:defRPr>
            </a:lvl1pPr>
          </a:lstStyle>
          <a:p>
            <a:fld id="{9AF6CAEB-E474-4501-ABF8-4EAEA855665D}" type="slidenum">
              <a:rPr b="0"/>
              <a:t>18</a:t>
            </a:fld>
            <a:r>
              <a:rPr b="0"/>
              <a:t> / 19</a:t>
            </a:r>
          </a:p>
        </p:txBody>
      </p:sp>
    </p:spTree>
    <p:extLst>
      <p:ext uri="{BB962C8B-B14F-4D97-AF65-F5344CB8AC3E}">
        <p14:creationId xmlns:p14="http://schemas.microsoft.com/office/powerpoint/2010/main" val="102754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dustrial policy has migrated">
            <a:extLst>
              <a:ext uri="{FF2B5EF4-FFF2-40B4-BE49-F238E27FC236}">
                <a16:creationId xmlns:a16="http://schemas.microsoft.com/office/drawing/2014/main" id="{458DB6BC-CD19-4556-9EFB-675B6A97C673}"/>
              </a:ext>
            </a:extLst>
          </p:cNvPr>
          <p:cNvSpPr>
            <a:spLocks noGrp="1"/>
          </p:cNvSpPr>
          <p:nvPr/>
        </p:nvSpPr>
        <p:spPr>
          <a:xfrm>
            <a:off x="548640" y="411480"/>
            <a:ext cx="11087100" cy="762000"/>
          </a:xfrm>
          <a:prstGeom prst="rect">
            <a:avLst/>
          </a:prstGeom>
          <a:noFill/>
          <a:ln w="0">
            <a:noFill/>
          </a:ln>
        </p:spPr>
        <p:txBody>
          <a:bodyPr>
            <a:noAutofit/>
          </a:bodyPr>
          <a:lstStyle/>
          <a:p>
            <a:pPr>
              <a:defRPr sz="3200" b="1" i="0">
                <a:solidFill>
                  <a:srgbClr val="FFFFFF"/>
                </a:solidFill>
                <a:latin typeface="Calibri"/>
                <a:ea typeface="Calibri"/>
                <a:cs typeface="Calibri"/>
              </a:defRPr>
            </a:pPr>
            <a:r>
              <a:rPr sz="3200" b="1" i="0">
                <a:solidFill>
                  <a:srgbClr val="FFFFFF"/>
                </a:solidFill>
                <a:latin typeface="Calibri"/>
                <a:ea typeface="Calibri"/>
                <a:cs typeface="Calibri"/>
              </a:rPr>
              <a:t>Industrial policy has migrated</a:t>
            </a:r>
          </a:p>
        </p:txBody>
      </p:sp>
      <p:sp>
        <p:nvSpPr>
          <p:cNvPr id="2" name="From a catching-up strategy to an i">
            <a:extLst>
              <a:ext uri="{FF2B5EF4-FFF2-40B4-BE49-F238E27FC236}">
                <a16:creationId xmlns:a16="http://schemas.microsoft.com/office/drawing/2014/main" id="{FFAB7930-778C-4CBF-86A4-DC8A0AC3E7A8}"/>
              </a:ext>
            </a:extLst>
          </p:cNvPr>
          <p:cNvSpPr>
            <a:spLocks noGrp="1"/>
          </p:cNvSpPr>
          <p:nvPr/>
        </p:nvSpPr>
        <p:spPr>
          <a:xfrm>
            <a:off x="552450" y="1190625"/>
            <a:ext cx="10953750" cy="495300"/>
          </a:xfrm>
          <a:prstGeom prst="rect">
            <a:avLst/>
          </a:prstGeom>
          <a:noFill/>
          <a:ln w="0">
            <a:noFill/>
          </a:ln>
        </p:spPr>
        <p:txBody>
          <a:bodyPr>
            <a:noAutofit/>
          </a:bodyPr>
          <a:lstStyle/>
          <a:p>
            <a:pPr>
              <a:defRPr sz="1450" b="0" i="1">
                <a:solidFill>
                  <a:srgbClr val="B9BFC1"/>
                </a:solidFill>
                <a:latin typeface="Calibri"/>
                <a:ea typeface="Calibri"/>
                <a:cs typeface="Calibri"/>
              </a:defRPr>
            </a:pPr>
            <a:r>
              <a:rPr sz="1450" b="0" i="1">
                <a:solidFill>
                  <a:srgbClr val="B9BFC1"/>
                </a:solidFill>
                <a:latin typeface="Calibri"/>
                <a:ea typeface="Calibri"/>
                <a:cs typeface="Calibri"/>
              </a:rPr>
              <a:t>From a catching-up strategy to an instrument of strategic competition</a:t>
            </a:r>
          </a:p>
        </p:txBody>
      </p:sp>
      <p:sp>
        <p:nvSpPr>
          <p:cNvPr id="3" name="THE CONTINUITY">
            <a:extLst>
              <a:ext uri="{FF2B5EF4-FFF2-40B4-BE49-F238E27FC236}">
                <a16:creationId xmlns:a16="http://schemas.microsoft.com/office/drawing/2014/main" id="{56586E00-01A5-45F8-A600-9914EC23A6DA}"/>
              </a:ext>
            </a:extLst>
          </p:cNvPr>
          <p:cNvSpPr>
            <a:spLocks noGrp="1"/>
          </p:cNvSpPr>
          <p:nvPr/>
        </p:nvSpPr>
        <p:spPr>
          <a:xfrm>
            <a:off x="552450" y="2057400"/>
            <a:ext cx="2476500" cy="9906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CONTINUITY</a:t>
            </a:r>
          </a:p>
        </p:txBody>
      </p:sp>
      <p:sp>
        <p:nvSpPr>
          <p:cNvPr id="4" name="Governments try to change productiv">
            <a:extLst>
              <a:ext uri="{FF2B5EF4-FFF2-40B4-BE49-F238E27FC236}">
                <a16:creationId xmlns:a16="http://schemas.microsoft.com/office/drawing/2014/main" id="{8028F06B-7A5C-4DD4-9F5B-51232DA7AD41}"/>
              </a:ext>
            </a:extLst>
          </p:cNvPr>
          <p:cNvSpPr>
            <a:spLocks noGrp="1"/>
          </p:cNvSpPr>
          <p:nvPr/>
        </p:nvSpPr>
        <p:spPr>
          <a:xfrm>
            <a:off x="3381375" y="2057400"/>
            <a:ext cx="8220075" cy="990600"/>
          </a:xfrm>
          <a:prstGeom prst="rect">
            <a:avLst/>
          </a:prstGeom>
          <a:noFill/>
          <a:ln w="0">
            <a:noFill/>
          </a:ln>
        </p:spPr>
        <p:txBody>
          <a:bodyPr>
            <a:noAutofit/>
          </a:bodyPr>
          <a:lstStyle/>
          <a:p>
            <a:pPr>
              <a:defRPr sz="2175" b="0" i="0">
                <a:solidFill>
                  <a:srgbClr val="FFFFFF"/>
                </a:solidFill>
                <a:latin typeface="Calibri"/>
                <a:ea typeface="Calibri"/>
                <a:cs typeface="Calibri"/>
              </a:defRPr>
            </a:pPr>
            <a:r>
              <a:rPr sz="2175" b="0" i="0">
                <a:solidFill>
                  <a:srgbClr val="FFFFFF"/>
                </a:solidFill>
                <a:latin typeface="Calibri"/>
                <a:ea typeface="Calibri"/>
                <a:cs typeface="Calibri"/>
              </a:rPr>
              <a:t>Governments try to change productive capabilities</a:t>
            </a:r>
          </a:p>
          <a:p>
            <a:pPr>
              <a:defRPr sz="2175" b="0" i="0">
                <a:solidFill>
                  <a:srgbClr val="FFFFFF"/>
                </a:solidFill>
                <a:latin typeface="Calibri"/>
                <a:ea typeface="Calibri"/>
                <a:cs typeface="Calibri"/>
              </a:defRPr>
            </a:pPr>
            <a:r>
              <a:rPr sz="2175" b="0" i="0">
                <a:solidFill>
                  <a:srgbClr val="FFFFFF"/>
                </a:solidFill>
                <a:latin typeface="Calibri"/>
                <a:ea typeface="Calibri"/>
                <a:cs typeface="Calibri"/>
              </a:rPr>
              <a:t>when private incentives appear insufficient.</a:t>
            </a:r>
          </a:p>
        </p:txBody>
      </p:sp>
      <p:sp>
        <p:nvSpPr>
          <p:cNvPr id="5" name="THE CHANGE">
            <a:extLst>
              <a:ext uri="{FF2B5EF4-FFF2-40B4-BE49-F238E27FC236}">
                <a16:creationId xmlns:a16="http://schemas.microsoft.com/office/drawing/2014/main" id="{8A44AC42-AC99-478D-8540-23D2662F0113}"/>
              </a:ext>
            </a:extLst>
          </p:cNvPr>
          <p:cNvSpPr>
            <a:spLocks noGrp="1"/>
          </p:cNvSpPr>
          <p:nvPr/>
        </p:nvSpPr>
        <p:spPr>
          <a:xfrm>
            <a:off x="552450" y="3162300"/>
            <a:ext cx="2476500" cy="9906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CHANGE</a:t>
            </a:r>
          </a:p>
        </p:txBody>
      </p:sp>
      <p:sp>
        <p:nvSpPr>
          <p:cNvPr id="6" name="Economic security expands the objec">
            <a:extLst>
              <a:ext uri="{FF2B5EF4-FFF2-40B4-BE49-F238E27FC236}">
                <a16:creationId xmlns:a16="http://schemas.microsoft.com/office/drawing/2014/main" id="{A3D24258-C470-49A8-83B5-A2D5B8B85DF1}"/>
              </a:ext>
            </a:extLst>
          </p:cNvPr>
          <p:cNvSpPr>
            <a:spLocks noGrp="1"/>
          </p:cNvSpPr>
          <p:nvPr/>
        </p:nvSpPr>
        <p:spPr>
          <a:xfrm>
            <a:off x="3381375" y="3162300"/>
            <a:ext cx="8220075" cy="990600"/>
          </a:xfrm>
          <a:prstGeom prst="rect">
            <a:avLst/>
          </a:prstGeom>
          <a:noFill/>
          <a:ln w="0">
            <a:noFill/>
          </a:ln>
        </p:spPr>
        <p:txBody>
          <a:bodyPr>
            <a:noAutofit/>
          </a:bodyPr>
          <a:lstStyle/>
          <a:p>
            <a:pPr>
              <a:defRPr sz="2175" b="0" i="0">
                <a:solidFill>
                  <a:srgbClr val="FFFFFF"/>
                </a:solidFill>
                <a:latin typeface="Calibri"/>
                <a:ea typeface="Calibri"/>
                <a:cs typeface="Calibri"/>
              </a:defRPr>
            </a:pPr>
            <a:r>
              <a:rPr sz="2175" b="0" i="0">
                <a:solidFill>
                  <a:srgbClr val="FFFFFF"/>
                </a:solidFill>
                <a:latin typeface="Calibri"/>
                <a:ea typeface="Calibri"/>
                <a:cs typeface="Calibri"/>
              </a:rPr>
              <a:t>Economic security expands the objectives</a:t>
            </a:r>
          </a:p>
          <a:p>
            <a:pPr>
              <a:defRPr sz="2175" b="0" i="0">
                <a:solidFill>
                  <a:srgbClr val="FFFFFF"/>
                </a:solidFill>
                <a:latin typeface="Calibri"/>
                <a:ea typeface="Calibri"/>
                <a:cs typeface="Calibri"/>
              </a:defRPr>
            </a:pPr>
            <a:r>
              <a:rPr sz="2175" b="0" i="0">
                <a:solidFill>
                  <a:srgbClr val="FFFFFF"/>
                </a:solidFill>
                <a:latin typeface="Calibri"/>
                <a:ea typeface="Calibri"/>
                <a:cs typeface="Calibri"/>
              </a:rPr>
              <a:t>and the willingness to bear economic costs.</a:t>
            </a:r>
          </a:p>
        </p:txBody>
      </p:sp>
      <p:sp>
        <p:nvSpPr>
          <p:cNvPr id="7" name="THE TEST">
            <a:extLst>
              <a:ext uri="{FF2B5EF4-FFF2-40B4-BE49-F238E27FC236}">
                <a16:creationId xmlns:a16="http://schemas.microsoft.com/office/drawing/2014/main" id="{B0258088-F640-481C-BA99-CC22A9608D64}"/>
              </a:ext>
            </a:extLst>
          </p:cNvPr>
          <p:cNvSpPr>
            <a:spLocks noGrp="1"/>
          </p:cNvSpPr>
          <p:nvPr/>
        </p:nvSpPr>
        <p:spPr>
          <a:xfrm>
            <a:off x="552450" y="4267200"/>
            <a:ext cx="2476500" cy="990600"/>
          </a:xfrm>
          <a:prstGeom prst="rect">
            <a:avLst/>
          </a:prstGeom>
          <a:noFill/>
          <a:ln w="0">
            <a:noFill/>
          </a:ln>
        </p:spPr>
        <p:txBody>
          <a:bodyPr>
            <a:noAutofit/>
          </a:bodyPr>
          <a:lstStyle/>
          <a:p>
            <a:pPr>
              <a:defRPr sz="2100" b="1" i="0">
                <a:solidFill>
                  <a:srgbClr val="EB811B"/>
                </a:solidFill>
                <a:latin typeface="Calibri"/>
                <a:ea typeface="Calibri"/>
                <a:cs typeface="Calibri"/>
              </a:defRPr>
            </a:pPr>
            <a:r>
              <a:rPr sz="2100" b="1" i="0">
                <a:solidFill>
                  <a:srgbClr val="EB811B"/>
                </a:solidFill>
                <a:latin typeface="Calibri"/>
                <a:ea typeface="Calibri"/>
                <a:cs typeface="Calibri"/>
              </a:rPr>
              <a:t>THE TEST</a:t>
            </a:r>
          </a:p>
        </p:txBody>
      </p:sp>
      <p:sp>
        <p:nvSpPr>
          <p:cNvPr id="8" name="Can policy build capabilities, surv">
            <a:extLst>
              <a:ext uri="{FF2B5EF4-FFF2-40B4-BE49-F238E27FC236}">
                <a16:creationId xmlns:a16="http://schemas.microsoft.com/office/drawing/2014/main" id="{B5450F38-DDFE-455E-8576-8C226E41813C}"/>
              </a:ext>
            </a:extLst>
          </p:cNvPr>
          <p:cNvSpPr>
            <a:spLocks noGrp="1"/>
          </p:cNvSpPr>
          <p:nvPr/>
        </p:nvSpPr>
        <p:spPr>
          <a:xfrm>
            <a:off x="3381375" y="4267200"/>
            <a:ext cx="8220075" cy="990600"/>
          </a:xfrm>
          <a:prstGeom prst="rect">
            <a:avLst/>
          </a:prstGeom>
          <a:noFill/>
          <a:ln w="0">
            <a:noFill/>
          </a:ln>
        </p:spPr>
        <p:txBody>
          <a:bodyPr>
            <a:noAutofit/>
          </a:bodyPr>
          <a:lstStyle/>
          <a:p>
            <a:pPr>
              <a:defRPr sz="2175" b="0" i="0">
                <a:solidFill>
                  <a:srgbClr val="FFFFFF"/>
                </a:solidFill>
                <a:latin typeface="Calibri"/>
                <a:ea typeface="Calibri"/>
                <a:cs typeface="Calibri"/>
              </a:defRPr>
            </a:pPr>
            <a:r>
              <a:rPr sz="2175" b="0" i="0">
                <a:solidFill>
                  <a:srgbClr val="FFFFFF"/>
                </a:solidFill>
                <a:latin typeface="Calibri"/>
                <a:ea typeface="Calibri"/>
                <a:cs typeface="Calibri"/>
              </a:rPr>
              <a:t>Can policy build capabilities, survive scrutiny</a:t>
            </a:r>
          </a:p>
          <a:p>
            <a:pPr>
              <a:defRPr sz="2175" b="0" i="0">
                <a:solidFill>
                  <a:srgbClr val="FFFFFF"/>
                </a:solidFill>
                <a:latin typeface="Calibri"/>
                <a:ea typeface="Calibri"/>
                <a:cs typeface="Calibri"/>
              </a:defRPr>
            </a:pPr>
            <a:r>
              <a:rPr sz="2175" b="0" i="0">
                <a:solidFill>
                  <a:srgbClr val="FFFFFF"/>
                </a:solidFill>
                <a:latin typeface="Calibri"/>
                <a:ea typeface="Calibri"/>
                <a:cs typeface="Calibri"/>
              </a:rPr>
              <a:t>and limit harm beyond its borders?</a:t>
            </a:r>
          </a:p>
        </p:txBody>
      </p:sp>
      <p:sp>
        <p:nvSpPr>
          <p:cNvPr id="9" name="“Losers are good at picking governm">
            <a:extLst>
              <a:ext uri="{FF2B5EF4-FFF2-40B4-BE49-F238E27FC236}">
                <a16:creationId xmlns:a16="http://schemas.microsoft.com/office/drawing/2014/main" id="{15D959AC-FB9F-4AEF-A9F1-7D88A359690D}"/>
              </a:ext>
            </a:extLst>
          </p:cNvPr>
          <p:cNvSpPr>
            <a:spLocks noGrp="1"/>
          </p:cNvSpPr>
          <p:nvPr/>
        </p:nvSpPr>
        <p:spPr>
          <a:xfrm>
            <a:off x="552450" y="5791200"/>
            <a:ext cx="10858500" cy="381000"/>
          </a:xfrm>
          <a:prstGeom prst="rect">
            <a:avLst/>
          </a:prstGeom>
          <a:noFill/>
          <a:ln w="0">
            <a:noFill/>
          </a:ln>
        </p:spPr>
        <p:txBody>
          <a:bodyPr>
            <a:noAutofit/>
          </a:bodyPr>
          <a:lstStyle/>
          <a:p>
            <a:pPr>
              <a:defRPr sz="1800" b="0" i="1">
                <a:solidFill>
                  <a:srgbClr val="B9BFC1"/>
                </a:solidFill>
                <a:latin typeface="Cambria"/>
                <a:ea typeface="Cambria"/>
                <a:cs typeface="Cambria"/>
              </a:defRPr>
            </a:pPr>
            <a:r>
              <a:rPr sz="1800" b="0" i="1">
                <a:solidFill>
                  <a:srgbClr val="B9BFC1"/>
                </a:solidFill>
                <a:latin typeface="Cambria"/>
                <a:ea typeface="Cambria"/>
                <a:cs typeface="Cambria"/>
              </a:rPr>
              <a:t>“Losers are good at picking governments.”  — Chatib Basri</a:t>
            </a:r>
          </a:p>
        </p:txBody>
      </p:sp>
      <p:sp>
        <p:nvSpPr>
          <p:cNvPr id="900" name="Text 0">
            <a:extLst>
              <a:ext uri="{FF2B5EF4-FFF2-40B4-BE49-F238E27FC236}">
                <a16:creationId xmlns:a16="http://schemas.microsoft.com/office/drawing/2014/main" id="{F9D47EBA-5F36-4314-9FFA-415D25EDFBE7}"/>
              </a:ext>
            </a:extLst>
          </p:cNvPr>
          <p:cNvSpPr>
            <a:spLocks noGrp="1"/>
          </p:cNvSpPr>
          <p:nvPr>
            <p:ph type="ftr" idx="12"/>
          </p:nvPr>
        </p:nvSpPr>
        <p:spPr>
          <a:xfrm>
            <a:off x="548640" y="6400800"/>
            <a:ext cx="7315200" cy="320040"/>
          </a:xfrm>
          <a:prstGeom prst="rect">
            <a:avLst/>
          </a:prstGeom>
          <a:noFill/>
        </p:spPr>
        <p:txBody>
          <a:bodyPr wrap="square" lIns="0" tIns="0" rIns="0" bIns="0" anchor="ctr"/>
          <a:lstStyle/>
          <a:p>
            <a:r>
              <a:rPr sz="1050">
                <a:solidFill>
                  <a:srgbClr val="B9BFC1"/>
                </a:solidFill>
                <a:latin typeface="Calibri"/>
                <a:ea typeface="Calibri"/>
                <a:cs typeface="Calibri"/>
              </a:rPr>
              <a:t>PP5182 Industrial Policy</a:t>
            </a:r>
          </a:p>
        </p:txBody>
      </p:sp>
      <p:sp>
        <p:nvSpPr>
          <p:cNvPr id="901" name="Slide Number Placeholder 0">
            <a:extLst>
              <a:ext uri="{FF2B5EF4-FFF2-40B4-BE49-F238E27FC236}">
                <a16:creationId xmlns:a16="http://schemas.microsoft.com/office/drawing/2014/main" id="{1891C053-36AC-449A-A11B-8899FF3EB695}"/>
              </a:ext>
            </a:extLst>
          </p:cNvPr>
          <p:cNvSpPr>
            <a:spLocks noGrp="1"/>
          </p:cNvSpPr>
          <p:nvPr>
            <p:ph type="sldNum" idx="4294967295"/>
          </p:nvPr>
        </p:nvSpPr>
        <p:spPr>
          <a:xfrm>
            <a:off x="10620375" y="6400800"/>
            <a:ext cx="1028700" cy="320040"/>
          </a:xfrm>
          <a:prstGeom prst="rect">
            <a:avLst/>
          </a:prstGeom>
        </p:spPr>
        <p:txBody>
          <a:bodyPr/>
          <a:lstStyle>
            <a:lvl1pPr>
              <a:buNone/>
              <a:defRPr sz="1050">
                <a:solidFill>
                  <a:srgbClr val="B9BFC1"/>
                </a:solidFill>
                <a:latin typeface="Calibri"/>
                <a:ea typeface="Calibri"/>
                <a:cs typeface="Calibri"/>
              </a:defRPr>
            </a:lvl1pPr>
          </a:lstStyle>
          <a:p>
            <a:fld id="{16815B5B-14A8-405A-A3F0-B46E9A07349A}" type="slidenum">
              <a:rPr b="0"/>
              <a:t>19</a:t>
            </a:fld>
            <a:r>
              <a:rPr b="0"/>
              <a:t> / 19</a:t>
            </a:r>
          </a:p>
        </p:txBody>
      </p:sp>
    </p:spTree>
    <p:extLst>
      <p:ext uri="{BB962C8B-B14F-4D97-AF65-F5344CB8AC3E}">
        <p14:creationId xmlns:p14="http://schemas.microsoft.com/office/powerpoint/2010/main" val="1543944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2840</Words>
  <Application>Microsoft Macintosh PowerPoint</Application>
  <DocSecurity>0</DocSecurity>
  <PresentationFormat>Widescreen</PresentationFormat>
  <Paragraphs>226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Danny Quah</cp:lastModifiedBy>
  <cp:revision>1</cp:revision>
  <dcterms:created xsi:type="dcterms:W3CDTF">2026-09-07T03:06:37Z</dcterms:created>
  <dcterms:modified xsi:type="dcterms:W3CDTF">2026-09-14T04:31:27Z</dcterms:modified>
</cp:coreProperties>
</file>