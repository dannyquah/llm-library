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70" r:id="rId5"/>
    <p:sldId id="276" r:id="rId6"/>
    <p:sldId id="259" r:id="rId7"/>
    <p:sldId id="260" r:id="rId8"/>
    <p:sldId id="261" r:id="rId9"/>
    <p:sldId id="262" r:id="rId10"/>
    <p:sldId id="264" r:id="rId11"/>
    <p:sldId id="275" r:id="rId12"/>
    <p:sldId id="263" r:id="rId13"/>
    <p:sldId id="265" r:id="rId14"/>
    <p:sldId id="266" r:id="rId15"/>
    <p:sldId id="267" r:id="rId16"/>
    <p:sldId id="272" r:id="rId17"/>
    <p:sldId id="271" r:id="rId18"/>
    <p:sldId id="269" r:id="rId19"/>
    <p:sldId id="268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5611"/>
    <p:restoredTop sz="94638"/>
  </p:normalViewPr>
  <p:slideViewPr>
    <p:cSldViewPr snapToGrid="0" snapToObjects="1">
      <p:cViewPr varScale="1">
        <p:scale>
          <a:sx n="133" d="100"/>
          <a:sy n="133" d="100"/>
        </p:scale>
        <p:origin x="3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Lecture definitions, adapted from supplied Economic Security lecture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Lecture definitions, adapted from supplied Economic Security lecture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Steil &amp; Harding (2024), provided lecture asset; GATT Article XXI, WTO.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6E00E2-525A-30AF-AE1A-5D5FDA15B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319EAF-B3F1-96B9-D8B8-3FCEF90FB4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9B9581-F6F4-82C9-8E2D-D7AEE64060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lang="en-US" dirty="0"/>
              <a:t>Simon </a:t>
            </a:r>
            <a:r>
              <a:rPr lang="en-US" dirty="0" err="1"/>
              <a:t>Evenentt</a:t>
            </a:r>
            <a:r>
              <a:rPr dirty="0"/>
              <a:t> (202</a:t>
            </a:r>
            <a:r>
              <a:rPr lang="en-US" dirty="0"/>
              <a:t>6</a:t>
            </a:r>
            <a:r>
              <a:rPr dirty="0"/>
              <a:t>), provided lecture asset; </a:t>
            </a:r>
            <a:r>
              <a:rPr lang="en-US" dirty="0"/>
              <a:t>NIPO, GTA</a:t>
            </a:r>
            <a:r>
              <a:rPr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B03B78-D445-61FD-04E6-C927B4A5802B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05115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Supplied Economic Security lecture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Supplied Economic Security lecture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Supplied Economic Security lecture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Gill, </a:t>
            </a:r>
            <a:r>
              <a:rPr lang="en-US" dirty="0"/>
              <a:t>I.</a:t>
            </a:r>
            <a:r>
              <a:rPr dirty="0"/>
              <a:t>, The Green Great Game / Wood Mackenzie (2022), supplied lecture notes and asset context.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EB0DE-E48C-D43A-83F8-200429CA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FFE52E-DD5A-1714-F770-590F24C283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E66C586-C1CC-2DA5-1BB8-0B8F6BC4D4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[Sources]</a:t>
            </a:r>
          </a:p>
          <a:p>
            <a:r>
              <a:rPr dirty="0"/>
              <a:t>Gill, </a:t>
            </a:r>
            <a:r>
              <a:rPr lang="en-US" dirty="0"/>
              <a:t>I.</a:t>
            </a:r>
            <a:r>
              <a:rPr dirty="0"/>
              <a:t>, The Green Great Game / Wood Mackenzie (2022), supplied lecture notes and asset context.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44A2A76-4109-DC48-2B77-70B6368DE160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42532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2024.08-US-import-domestic-prices.png (provided lecture asset).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Jane Nakano, “Geopolitics of Critical Minerals,” CSIS (2021), provided lecture asset.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IEA (2022), via Gill, Indra et al., supplied lecture asset.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Supplied Economic Security lecture notes; analysis and implications are instructional synthesis.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GATT Article XXI, WTO; supplied Economic Security lecture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Supplied Economic Security lecture notes.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MASTER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MASTER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63EE809-7361-432E-8207-A312A158124D}"/>
              </a:ext>
            </a:extLst>
          </p:cNvPr>
          <p:cNvSpPr>
            <a:spLocks noGrp="1"/>
          </p:cNvSpPr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50">
                <a:solidFill>
                  <a:srgbClr val="B9BFC1"/>
                </a:solidFill>
                <a:latin typeface="Calibri"/>
                <a:ea typeface="Calibri"/>
                <a:cs typeface="Calibri"/>
              </a:rPr>
              <a:t>PP5182 Economic Security  |  Danny Quah</a:t>
            </a:r>
            <a:endParaRPr sz="10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8678977E-8462-43A3-BC6B-6AFC3385A5EF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B9BF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MASTER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563FD22-07D6-4C52-AB5D-E8A56027F63E}"/>
              </a:ext>
            </a:extLst>
          </p:cNvPr>
          <p:cNvSpPr>
            <a:spLocks noGrp="1"/>
          </p:cNvSpPr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5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PP5182 Economic Security  |  Danny Quah</a:t>
            </a:r>
            <a:endParaRPr sz="10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EBBF74B2-BB5E-4E7C-9BA6-E3D9DE4BD37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C16F359-CFB2-4249-BF90-F6B2E6591CC7}"/>
              </a:ext>
            </a:extLst>
          </p:cNvPr>
          <p:cNvSpPr>
            <a:spLocks noGrp="1"/>
          </p:cNvSpPr>
          <p:nvPr/>
        </p:nvSpPr>
        <p:spPr>
          <a:xfrm>
            <a:off x="548640" y="640080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5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PP5182 Economic Security  |  Danny Quah</a:t>
            </a:r>
            <a:endParaRPr sz="10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215449A0-6293-4659-A28B-7B0A4D47D904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FF67299-D6C9-4A78-BF6E-5E4841D62C8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B9BF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E8BCFD1-C4E5-4792-BCEF-6ABFD48BF705}"/>
              </a:ext>
            </a:extLst>
          </p:cNvPr>
          <p:cNvSpPr>
            <a:spLocks noGrp="1"/>
          </p:cNvSpPr>
          <p:nvPr/>
        </p:nvSpPr>
        <p:spPr>
          <a:xfrm>
            <a:off x="548640" y="2377440"/>
            <a:ext cx="9601200" cy="10058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48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PP5182 Economic Security</a:t>
            </a:r>
            <a:endParaRPr sz="4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299570A-B85C-4758-8E75-D9F25C2466F3}"/>
              </a:ext>
            </a:extLst>
          </p:cNvPr>
          <p:cNvSpPr>
            <a:spLocks noGrp="1"/>
          </p:cNvSpPr>
          <p:nvPr/>
        </p:nvSpPr>
        <p:spPr>
          <a:xfrm>
            <a:off x="548640" y="4133088"/>
            <a:ext cx="150876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6E05C1E-DD4E-4AE3-94A5-B6DB0EF4F902}"/>
              </a:ext>
            </a:extLst>
          </p:cNvPr>
          <p:cNvSpPr>
            <a:spLocks noGrp="1"/>
          </p:cNvSpPr>
          <p:nvPr/>
        </p:nvSpPr>
        <p:spPr>
          <a:xfrm>
            <a:off x="548640" y="4407408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Danny Quah</a:t>
            </a:r>
            <a:endParaRPr sz="14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2A02DC6-79CF-46F1-A23F-B13D28058A90}"/>
              </a:ext>
            </a:extLst>
          </p:cNvPr>
          <p:cNvSpPr>
            <a:spLocks noGrp="1"/>
          </p:cNvSpPr>
          <p:nvPr/>
        </p:nvSpPr>
        <p:spPr>
          <a:xfrm>
            <a:off x="548640" y="4736592"/>
            <a:ext cx="822960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sz="1250">
                <a:solidFill>
                  <a:srgbClr val="B9BFC1"/>
                </a:solidFill>
                <a:latin typeface="Calibri"/>
                <a:ea typeface="Calibri"/>
                <a:cs typeface="Calibri"/>
              </a:rPr>
              <a:t>Li Ka Shing Professor in Economics, Lee Kuan Yew School of Public Policy, NUS</a:t>
            </a:r>
            <a:endParaRPr sz="1250"/>
          </a:p>
          <a:p>
            <a:pPr marL="0" indent="0" algn="l">
              <a:lnSpc>
                <a:spcPct val="120000"/>
              </a:lnSpc>
              <a:buNone/>
            </a:pPr>
            <a:r>
              <a:rPr sz="1250">
                <a:solidFill>
                  <a:srgbClr val="B9BFC1"/>
                </a:solidFill>
                <a:latin typeface="Calibri"/>
                <a:ea typeface="Calibri"/>
                <a:cs typeface="Calibri"/>
              </a:rPr>
              <a:t>2026.08.31.Mon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237274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1CC27E-EAB6-43C7-82DF-AC6457F18B9F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Guns or butter?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FFAEDB-6848-4EEB-ACFB-8A414DEC7646}"/>
              </a:ext>
            </a:extLst>
          </p:cNvPr>
          <p:cNvSpPr>
            <a:spLocks noGrp="1"/>
          </p:cNvSpPr>
          <p:nvPr/>
        </p:nvSpPr>
        <p:spPr>
          <a:xfrm>
            <a:off x="548640" y="5743875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28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But w</a:t>
            </a:r>
            <a:r>
              <a:rPr sz="28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hat if butter </a:t>
            </a:r>
            <a:r>
              <a:rPr lang="en-US" sz="28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becomes </a:t>
            </a:r>
            <a:r>
              <a:rPr sz="28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a weapon?</a:t>
            </a:r>
            <a:endParaRPr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446A19-59AB-48F3-AE26-1DCCE8BBEBA1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5166360" cy="3840480"/>
          </a:xfrm>
          <a:prstGeom prst="roundRect">
            <a:avLst>
              <a:gd name="adj" fmla="val 1429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6D60F0-C24F-4AC9-9BEF-6C9593C82338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10B791-9DF9-4AB6-A914-9645DF73371E}"/>
              </a:ext>
            </a:extLst>
          </p:cNvPr>
          <p:cNvSpPr>
            <a:spLocks noGrp="1"/>
          </p:cNvSpPr>
          <p:nvPr/>
        </p:nvSpPr>
        <p:spPr>
          <a:xfrm>
            <a:off x="914400" y="224028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Guns</a:t>
            </a:r>
            <a:endParaRPr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AF903E-873C-455E-BB82-7B3C76A33E0F}"/>
              </a:ext>
            </a:extLst>
          </p:cNvPr>
          <p:cNvSpPr>
            <a:spLocks noGrp="1"/>
          </p:cNvSpPr>
          <p:nvPr/>
        </p:nvSpPr>
        <p:spPr>
          <a:xfrm>
            <a:off x="914400" y="2697480"/>
            <a:ext cx="4434840" cy="2560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sz="2800" i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National security protects people, territory, sovereignty, and political independence from threats.</a:t>
            </a:r>
            <a:endParaRPr sz="2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E3FF158-A290-49C8-895C-47D89293445C}"/>
              </a:ext>
            </a:extLst>
          </p:cNvPr>
          <p:cNvSpPr>
            <a:spLocks noGrp="1"/>
          </p:cNvSpPr>
          <p:nvPr/>
        </p:nvSpPr>
        <p:spPr>
          <a:xfrm>
            <a:off x="6080760" y="1691640"/>
            <a:ext cx="5166360" cy="3840480"/>
          </a:xfrm>
          <a:prstGeom prst="roundRect">
            <a:avLst>
              <a:gd name="adj" fmla="val 1429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CB8F07-D09E-4835-B837-983B51E48FD5}"/>
              </a:ext>
            </a:extLst>
          </p:cNvPr>
          <p:cNvSpPr>
            <a:spLocks noGrp="1"/>
          </p:cNvSpPr>
          <p:nvPr/>
        </p:nvSpPr>
        <p:spPr>
          <a:xfrm>
            <a:off x="6446520" y="2057400"/>
            <a:ext cx="64008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70ECD02-6942-464B-A55D-1F24E1CA5535}"/>
              </a:ext>
            </a:extLst>
          </p:cNvPr>
          <p:cNvSpPr>
            <a:spLocks noGrp="1"/>
          </p:cNvSpPr>
          <p:nvPr/>
        </p:nvSpPr>
        <p:spPr>
          <a:xfrm>
            <a:off x="6446520" y="224028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Butter</a:t>
            </a:r>
            <a:endParaRPr sz="2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3CDDB75-FA3A-4BD7-B045-162ED800D289}"/>
              </a:ext>
            </a:extLst>
          </p:cNvPr>
          <p:cNvSpPr>
            <a:spLocks noGrp="1"/>
          </p:cNvSpPr>
          <p:nvPr/>
        </p:nvSpPr>
        <p:spPr>
          <a:xfrm>
            <a:off x="6446520" y="2651760"/>
            <a:ext cx="4434840" cy="2606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2800" i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Economic security protects the foundations of well-being: livelihoods and reliable access to essentials.</a:t>
            </a:r>
            <a:endParaRPr sz="2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37500E7-633F-4D8D-B461-B72F0B74510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2598689-54C9-18A7-3A19-ED76AA08988F}" type="slidenum">
              <a:rPr b="0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7454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81CC27E-EAB6-43C7-82DF-AC6457F18B9F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Two securities, two objects of protection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0FFAEDB-6848-4EEB-ACFB-8A414DEC7646}"/>
              </a:ext>
            </a:extLst>
          </p:cNvPr>
          <p:cNvSpPr>
            <a:spLocks noGrp="1"/>
          </p:cNvSpPr>
          <p:nvPr/>
        </p:nvSpPr>
        <p:spPr>
          <a:xfrm>
            <a:off x="548640" y="5727043"/>
            <a:ext cx="11094415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4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The distinction becomes harder—but more important—under interdependence.</a:t>
            </a:r>
            <a:endParaRPr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5446A19-59AB-48F3-AE26-1DCCE8BBEBA1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5166360" cy="3840480"/>
          </a:xfrm>
          <a:prstGeom prst="roundRect">
            <a:avLst>
              <a:gd name="adj" fmla="val 1429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86D60F0-C24F-4AC9-9BEF-6C9593C82338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4210B791-9DF9-4AB6-A914-9645DF73371E}"/>
              </a:ext>
            </a:extLst>
          </p:cNvPr>
          <p:cNvSpPr>
            <a:spLocks noGrp="1"/>
          </p:cNvSpPr>
          <p:nvPr/>
        </p:nvSpPr>
        <p:spPr>
          <a:xfrm>
            <a:off x="914400" y="224028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National security</a:t>
            </a:r>
            <a:endParaRPr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6AAF903E-873C-455E-BB82-7B3C76A33E0F}"/>
              </a:ext>
            </a:extLst>
          </p:cNvPr>
          <p:cNvSpPr>
            <a:spLocks noGrp="1"/>
          </p:cNvSpPr>
          <p:nvPr/>
        </p:nvSpPr>
        <p:spPr>
          <a:xfrm>
            <a:off x="914400" y="2697480"/>
            <a:ext cx="4434840" cy="2560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sz="2800" i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Diplomatic, military, intelligence, and cyber capabilities protect the nation from external and internal threats.</a:t>
            </a:r>
            <a:endParaRPr sz="2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E3FF158-A290-49C8-895C-47D89293445C}"/>
              </a:ext>
            </a:extLst>
          </p:cNvPr>
          <p:cNvSpPr>
            <a:spLocks noGrp="1"/>
          </p:cNvSpPr>
          <p:nvPr/>
        </p:nvSpPr>
        <p:spPr>
          <a:xfrm>
            <a:off x="6080760" y="1691640"/>
            <a:ext cx="5166360" cy="3840480"/>
          </a:xfrm>
          <a:prstGeom prst="roundRect">
            <a:avLst>
              <a:gd name="adj" fmla="val 1429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80CB8F07-D09E-4835-B837-983B51E48FD5}"/>
              </a:ext>
            </a:extLst>
          </p:cNvPr>
          <p:cNvSpPr>
            <a:spLocks noGrp="1"/>
          </p:cNvSpPr>
          <p:nvPr/>
        </p:nvSpPr>
        <p:spPr>
          <a:xfrm>
            <a:off x="6446520" y="2057400"/>
            <a:ext cx="64008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70ECD02-6942-464B-A55D-1F24E1CA5535}"/>
              </a:ext>
            </a:extLst>
          </p:cNvPr>
          <p:cNvSpPr>
            <a:spLocks noGrp="1"/>
          </p:cNvSpPr>
          <p:nvPr/>
        </p:nvSpPr>
        <p:spPr>
          <a:xfrm>
            <a:off x="6446520" y="224028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Economic security</a:t>
            </a:r>
            <a:endParaRPr sz="2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A3CDDB75-FA3A-4BD7-B045-162ED800D289}"/>
              </a:ext>
            </a:extLst>
          </p:cNvPr>
          <p:cNvSpPr>
            <a:spLocks noGrp="1"/>
          </p:cNvSpPr>
          <p:nvPr/>
        </p:nvSpPr>
        <p:spPr>
          <a:xfrm>
            <a:off x="6446520" y="2651760"/>
            <a:ext cx="4434840" cy="2606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2800" i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Economic, diplomatic, and other policy instruments protect livelihoods, trade, infrastructure, food, energy, and essential resources.</a:t>
            </a:r>
            <a:endParaRPr sz="28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37500E7-633F-4D8D-B461-B72F0B74510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202359C0-8A7A-196E-DD58-8E6569619F09}" type="slidenum">
              <a:rPr b="0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874543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191B62-BBE7-4DF5-B5B7-EBFAB963FA99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WTO Article XXI: the national-security exception is becoming normalised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6523D9-3EF0-455E-BC15-AFCE579AF2B6}"/>
              </a:ext>
            </a:extLst>
          </p:cNvPr>
          <p:cNvSpPr>
            <a:spLocks noGrp="1"/>
          </p:cNvSpPr>
          <p:nvPr/>
        </p:nvSpPr>
        <p:spPr>
          <a:xfrm>
            <a:off x="548640" y="1164056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5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Notifications rose sharply after 2019, across income groups.</a:t>
            </a:r>
            <a:endParaRPr sz="14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E49F918-4B7C-479F-AA32-80699740D035}"/>
              </a:ext>
            </a:extLst>
          </p:cNvPr>
          <p:cNvSpPr>
            <a:spLocks noGrp="1"/>
          </p:cNvSpPr>
          <p:nvPr/>
        </p:nvSpPr>
        <p:spPr>
          <a:xfrm>
            <a:off x="5973775" y="576072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Source: Steil &amp; Harding (2024)</a:t>
            </a:r>
            <a:endParaRPr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45709EB-0AAF-4C24-9C45-A4A033263EE1}"/>
              </a:ext>
            </a:extLst>
          </p:cNvPr>
          <p:cNvSpPr>
            <a:spLocks noGrp="1"/>
          </p:cNvSpPr>
          <p:nvPr/>
        </p:nvSpPr>
        <p:spPr>
          <a:xfrm>
            <a:off x="548640" y="1508760"/>
            <a:ext cx="5150815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7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The legal tension</a:t>
            </a:r>
            <a:endParaRPr sz="17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42187AE-AE79-4B64-8FC4-0B6B28AD2C43}"/>
              </a:ext>
            </a:extLst>
          </p:cNvPr>
          <p:cNvSpPr>
            <a:spLocks noGrp="1"/>
          </p:cNvSpPr>
          <p:nvPr/>
        </p:nvSpPr>
        <p:spPr>
          <a:xfrm>
            <a:off x="548640" y="1965960"/>
            <a:ext cx="64008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5DA5D3C-0F43-4584-942E-664518480899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5150815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sz="2000" dirty="0">
                <a:solidFill>
                  <a:srgbClr val="4E5E61"/>
                </a:solidFill>
                <a:ea typeface="Calibri"/>
                <a:cs typeface="Calibri"/>
              </a:rPr>
              <a:t>GATT Article XXI permits action a member considers necessary for essential security interests.</a:t>
            </a:r>
            <a:endParaRPr sz="2000" dirty="0"/>
          </a:p>
          <a:p>
            <a:pPr marL="0" indent="0" algn="l">
              <a:lnSpc>
                <a:spcPct val="130000"/>
              </a:lnSpc>
              <a:buNone/>
            </a:pPr>
            <a:endParaRPr sz="2000" dirty="0"/>
          </a:p>
          <a:p>
            <a:pPr marL="0" indent="0" algn="l">
              <a:lnSpc>
                <a:spcPct val="130000"/>
              </a:lnSpc>
              <a:buNone/>
            </a:pPr>
            <a:r>
              <a:rPr sz="2000" dirty="0">
                <a:solidFill>
                  <a:srgbClr val="4E5E61"/>
                </a:solidFill>
                <a:ea typeface="Calibri"/>
                <a:cs typeface="Calibri"/>
              </a:rPr>
              <a:t>It protects sovereignty in exceptional cases—but broad, self-judging invocation risks turning “security” into an all-purpose justification for protectionism.</a:t>
            </a:r>
            <a:endParaRPr sz="2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859C58F-2836-449B-B643-7D38BFC6136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A83FA91-883A-0168-8075-96CEB9DCA3C2}" type="slidenum">
              <a:rPr b="0"/>
              <a:t>4</a:t>
            </a:fld>
            <a:endParaRPr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73775" y="1920240"/>
            <a:ext cx="5669280" cy="340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6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8B689-7AE6-01AE-6433-A101DFB6D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2B41D08-DEA8-7EAE-8A3F-8979C4A7F49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A83FA91-883A-0168-8075-96CEB9DCA3C2}" type="slidenum">
              <a:rPr b="0"/>
              <a:t>5</a:t>
            </a:fld>
            <a:endParaRPr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1C846E-FC1C-A6C3-35DF-FCB5629901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1658" y="118231"/>
            <a:ext cx="9760017" cy="625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56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4C4339-09D6-4040-8FBE-DF397CBA5D3E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Strategic interdependence turns mutual gains into potential leverage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505401-6E94-4F43-8394-AAC4D4FC3D53}"/>
              </a:ext>
            </a:extLst>
          </p:cNvPr>
          <p:cNvSpPr>
            <a:spLocks noGrp="1"/>
          </p:cNvSpPr>
          <p:nvPr/>
        </p:nvSpPr>
        <p:spPr>
          <a:xfrm>
            <a:off x="548640" y="129165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The question is not whether countries depend on one another, but how dependency is distributed.</a:t>
            </a:r>
            <a:endParaRPr sz="2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8C9487-315B-4A72-8BE0-458B6800589B}"/>
              </a:ext>
            </a:extLst>
          </p:cNvPr>
          <p:cNvSpPr>
            <a:spLocks noGrp="1"/>
          </p:cNvSpPr>
          <p:nvPr/>
        </p:nvSpPr>
        <p:spPr>
          <a:xfrm>
            <a:off x="548640" y="1920240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946C38-191D-4885-881A-9F6DFAAAD675}"/>
              </a:ext>
            </a:extLst>
          </p:cNvPr>
          <p:cNvSpPr>
            <a:spLocks noGrp="1"/>
          </p:cNvSpPr>
          <p:nvPr/>
        </p:nvSpPr>
        <p:spPr>
          <a:xfrm>
            <a:off x="896112" y="2240280"/>
            <a:ext cx="475488" cy="475488"/>
          </a:xfrm>
          <a:prstGeom prst="ellipse">
            <a:avLst/>
          </a:prstGeom>
          <a:solidFill>
            <a:srgbClr val="EB811B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2FAB53-90AC-46F3-B67F-BDA43A94833E}"/>
              </a:ext>
            </a:extLst>
          </p:cNvPr>
          <p:cNvSpPr>
            <a:spLocks noGrp="1"/>
          </p:cNvSpPr>
          <p:nvPr/>
        </p:nvSpPr>
        <p:spPr>
          <a:xfrm>
            <a:off x="896112" y="22402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1</a:t>
            </a:r>
            <a:endParaRPr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CCD536-4F09-49EC-A9B0-7D921B383183}"/>
              </a:ext>
            </a:extLst>
          </p:cNvPr>
          <p:cNvSpPr>
            <a:spLocks noGrp="1"/>
          </p:cNvSpPr>
          <p:nvPr/>
        </p:nvSpPr>
        <p:spPr>
          <a:xfrm>
            <a:off x="896112" y="2926080"/>
            <a:ext cx="2642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Dual-use systems</a:t>
            </a:r>
            <a:endParaRPr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4912A76-25B8-47B0-9022-31B4D57A376A}"/>
              </a:ext>
            </a:extLst>
          </p:cNvPr>
          <p:cNvSpPr>
            <a:spLocks noGrp="1"/>
          </p:cNvSpPr>
          <p:nvPr/>
        </p:nvSpPr>
        <p:spPr>
          <a:xfrm>
            <a:off x="896112" y="3520440"/>
            <a:ext cx="2642616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Semiconductors, grids, EV batteries, data, and logistics serve civilian welfare and national power.</a:t>
            </a:r>
            <a:endParaRPr sz="2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4613D8E-1A0C-45B5-AD6E-1AACD5560B95}"/>
              </a:ext>
            </a:extLst>
          </p:cNvPr>
          <p:cNvSpPr>
            <a:spLocks noGrp="1"/>
          </p:cNvSpPr>
          <p:nvPr/>
        </p:nvSpPr>
        <p:spPr>
          <a:xfrm>
            <a:off x="4206240" y="1920240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F6B2842-8BEF-487B-A535-E6E3110BF7A3}"/>
              </a:ext>
            </a:extLst>
          </p:cNvPr>
          <p:cNvSpPr>
            <a:spLocks noGrp="1"/>
          </p:cNvSpPr>
          <p:nvPr/>
        </p:nvSpPr>
        <p:spPr>
          <a:xfrm>
            <a:off x="4553712" y="2240280"/>
            <a:ext cx="475488" cy="475488"/>
          </a:xfrm>
          <a:prstGeom prst="ellipse">
            <a:avLst/>
          </a:prstGeom>
          <a:solidFill>
            <a:srgbClr val="EB811B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696F1CA-7AA1-4A86-9299-D0C3A85EBDD5}"/>
              </a:ext>
            </a:extLst>
          </p:cNvPr>
          <p:cNvSpPr>
            <a:spLocks noGrp="1"/>
          </p:cNvSpPr>
          <p:nvPr/>
        </p:nvSpPr>
        <p:spPr>
          <a:xfrm>
            <a:off x="4553712" y="22402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2</a:t>
            </a:r>
            <a:endParaRPr sz="17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9744BF9-F67F-4568-9B7A-79D9315718CF}"/>
              </a:ext>
            </a:extLst>
          </p:cNvPr>
          <p:cNvSpPr>
            <a:spLocks noGrp="1"/>
          </p:cNvSpPr>
          <p:nvPr/>
        </p:nvSpPr>
        <p:spPr>
          <a:xfrm>
            <a:off x="4553712" y="2872915"/>
            <a:ext cx="2642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Concentrated exposure</a:t>
            </a:r>
            <a:endParaRPr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5424A66-42C0-4048-92A6-8AF3DCD90553}"/>
              </a:ext>
            </a:extLst>
          </p:cNvPr>
          <p:cNvSpPr>
            <a:spLocks noGrp="1"/>
          </p:cNvSpPr>
          <p:nvPr/>
        </p:nvSpPr>
        <p:spPr>
          <a:xfrm>
            <a:off x="4553712" y="3639312"/>
            <a:ext cx="2642616" cy="170992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A narrow supplier base can turn a commercial disruption into a security problem.</a:t>
            </a:r>
            <a:endParaRPr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EF78FF6-1291-4BF0-AD67-944D3A86C027}"/>
              </a:ext>
            </a:extLst>
          </p:cNvPr>
          <p:cNvSpPr>
            <a:spLocks noGrp="1"/>
          </p:cNvSpPr>
          <p:nvPr/>
        </p:nvSpPr>
        <p:spPr>
          <a:xfrm>
            <a:off x="7863840" y="1920240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ECFB0E1-DED9-4B10-A25F-0410413BCAFF}"/>
              </a:ext>
            </a:extLst>
          </p:cNvPr>
          <p:cNvSpPr>
            <a:spLocks noGrp="1"/>
          </p:cNvSpPr>
          <p:nvPr/>
        </p:nvSpPr>
        <p:spPr>
          <a:xfrm>
            <a:off x="8211312" y="2240280"/>
            <a:ext cx="475488" cy="475488"/>
          </a:xfrm>
          <a:prstGeom prst="ellipse">
            <a:avLst/>
          </a:prstGeom>
          <a:solidFill>
            <a:srgbClr val="EB811B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F51BC7E-2D5B-4515-99D1-B6A214883C74}"/>
              </a:ext>
            </a:extLst>
          </p:cNvPr>
          <p:cNvSpPr>
            <a:spLocks noGrp="1"/>
          </p:cNvSpPr>
          <p:nvPr/>
        </p:nvSpPr>
        <p:spPr>
          <a:xfrm>
            <a:off x="8211312" y="22402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3</a:t>
            </a:r>
            <a:endParaRPr sz="17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60236F3-5D11-4104-B64E-A30DA60F8D97}"/>
              </a:ext>
            </a:extLst>
          </p:cNvPr>
          <p:cNvSpPr>
            <a:spLocks noGrp="1"/>
          </p:cNvSpPr>
          <p:nvPr/>
        </p:nvSpPr>
        <p:spPr>
          <a:xfrm>
            <a:off x="8211312" y="2926080"/>
            <a:ext cx="2642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Policy leverage</a:t>
            </a:r>
            <a:endParaRPr sz="2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3A9AC3-715E-4AB0-9154-D2F7D8E8D807}"/>
              </a:ext>
            </a:extLst>
          </p:cNvPr>
          <p:cNvSpPr>
            <a:spLocks noGrp="1"/>
          </p:cNvSpPr>
          <p:nvPr/>
        </p:nvSpPr>
        <p:spPr>
          <a:xfrm>
            <a:off x="8211312" y="3520440"/>
            <a:ext cx="2642616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Export controls, sanctions, and investment screening act on those interdependencies.</a:t>
            </a:r>
            <a:endParaRPr sz="2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A5261D6-D969-49F1-A2A6-D7D2103901F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FD6AB9A-5F9E-5F59-51AB-3C8734130965}" type="slidenum">
              <a:rPr b="0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3113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CB95528-F408-4FB9-95AE-9B77DB636758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Not every disruption is a threat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DA76D7E-5F6D-461A-ADA7-EE55064D918A}"/>
              </a:ext>
            </a:extLst>
          </p:cNvPr>
          <p:cNvSpPr>
            <a:spLocks noGrp="1"/>
          </p:cNvSpPr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4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Economic security must distinguish misfortune from </a:t>
            </a:r>
            <a:r>
              <a:rPr lang="en-US" sz="24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intentionality</a:t>
            </a:r>
            <a:r>
              <a:rPr sz="24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.</a:t>
            </a:r>
            <a:endParaRPr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D91C80A-2286-48A5-B89D-2FD89A574586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5166360" cy="2423160"/>
          </a:xfrm>
          <a:prstGeom prst="roundRect">
            <a:avLst>
              <a:gd name="adj" fmla="val 2264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0E099D-486B-4CE4-B25E-96600A2B9F2E}"/>
              </a:ext>
            </a:extLst>
          </p:cNvPr>
          <p:cNvSpPr>
            <a:spLocks noGrp="1"/>
          </p:cNvSpPr>
          <p:nvPr/>
        </p:nvSpPr>
        <p:spPr>
          <a:xfrm>
            <a:off x="914400" y="192024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Exogenous shock</a:t>
            </a:r>
            <a:endParaRPr sz="24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A7A88A0-F039-4684-9D22-BE8107538652}"/>
              </a:ext>
            </a:extLst>
          </p:cNvPr>
          <p:cNvSpPr>
            <a:spLocks noGrp="1"/>
          </p:cNvSpPr>
          <p:nvPr/>
        </p:nvSpPr>
        <p:spPr>
          <a:xfrm>
            <a:off x="914400" y="2441448"/>
            <a:ext cx="443484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4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Pandemic, earthquake, flood, or market failure: harmful, but not directed at you.</a:t>
            </a:r>
            <a:endParaRPr sz="24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F2C24D-3140-4681-AC83-389FF0C6F8A7}"/>
              </a:ext>
            </a:extLst>
          </p:cNvPr>
          <p:cNvSpPr>
            <a:spLocks noGrp="1"/>
          </p:cNvSpPr>
          <p:nvPr/>
        </p:nvSpPr>
        <p:spPr>
          <a:xfrm>
            <a:off x="6080760" y="1691640"/>
            <a:ext cx="5166360" cy="2423160"/>
          </a:xfrm>
          <a:prstGeom prst="roundRect">
            <a:avLst>
              <a:gd name="adj" fmla="val 2264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698AF50-C46B-4AE9-BE1F-794E01BC42E2}"/>
              </a:ext>
            </a:extLst>
          </p:cNvPr>
          <p:cNvSpPr>
            <a:spLocks noGrp="1"/>
          </p:cNvSpPr>
          <p:nvPr/>
        </p:nvSpPr>
        <p:spPr>
          <a:xfrm>
            <a:off x="6446520" y="1920240"/>
            <a:ext cx="44348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Intentional pressure</a:t>
            </a:r>
            <a:endParaRPr sz="24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812070C-4808-4BAB-81D2-7C0E0181DDE6}"/>
              </a:ext>
            </a:extLst>
          </p:cNvPr>
          <p:cNvSpPr>
            <a:spLocks noGrp="1"/>
          </p:cNvSpPr>
          <p:nvPr/>
        </p:nvSpPr>
        <p:spPr>
          <a:xfrm>
            <a:off x="6446520" y="2441448"/>
            <a:ext cx="4434840" cy="15544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4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A state exploits a dependency, withholds a supply, or threatens access to change another state’s choices.</a:t>
            </a:r>
            <a:endParaRPr sz="2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66DA5B3-D512-40B4-BD6F-98B43B79A2F0}"/>
              </a:ext>
            </a:extLst>
          </p:cNvPr>
          <p:cNvSpPr>
            <a:spLocks noGrp="1"/>
          </p:cNvSpPr>
          <p:nvPr/>
        </p:nvSpPr>
        <p:spPr>
          <a:xfrm>
            <a:off x="533552" y="4453128"/>
            <a:ext cx="11094415" cy="1600200"/>
          </a:xfrm>
          <a:prstGeom prst="roundRect">
            <a:avLst>
              <a:gd name="adj" fmla="val 3429"/>
            </a:avLst>
          </a:prstGeom>
          <a:solidFill>
            <a:srgbClr val="2F4246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2AD08E1-DBF6-4A12-B4DA-04D1BEDA483D}"/>
              </a:ext>
            </a:extLst>
          </p:cNvPr>
          <p:cNvSpPr>
            <a:spLocks noGrp="1"/>
          </p:cNvSpPr>
          <p:nvPr/>
        </p:nvSpPr>
        <p:spPr>
          <a:xfrm>
            <a:off x="1005840" y="4575848"/>
            <a:ext cx="3657600" cy="32004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b="1" spc="200" dirty="0">
                <a:solidFill>
                  <a:srgbClr val="EB811B"/>
                </a:solidFill>
                <a:latin typeface="Calibri"/>
                <a:ea typeface="Calibri"/>
                <a:cs typeface="Calibri"/>
              </a:rPr>
              <a:t>THE GEOCONOMIC TURN</a:t>
            </a:r>
            <a:endParaRPr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F95EF36-3F65-439F-AEE8-F2880E56B0EC}"/>
              </a:ext>
            </a:extLst>
          </p:cNvPr>
          <p:cNvSpPr>
            <a:spLocks noGrp="1"/>
          </p:cNvSpPr>
          <p:nvPr/>
        </p:nvSpPr>
        <p:spPr>
          <a:xfrm>
            <a:off x="1005840" y="5001768"/>
            <a:ext cx="10180015" cy="75895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sz="2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Intentionality converts an economic vulnerability into a </a:t>
            </a:r>
            <a:r>
              <a:rPr lang="en-US" sz="2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matter</a:t>
            </a:r>
            <a:r>
              <a:rPr sz="2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 of economic statecraft.</a:t>
            </a:r>
            <a:endParaRPr sz="2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AB1436C-E467-4382-BB52-FCF95F99153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EE5B3003-2C54-13C6-9832-7637201064DE}" type="slidenum">
              <a:rPr b="0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758596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4C4339-09D6-4040-8FBE-DF397CBA5D3E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Economic security is neither autarky nor efficiency at any price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505401-6E94-4F43-8394-AAC4D4FC3D53}"/>
              </a:ext>
            </a:extLst>
          </p:cNvPr>
          <p:cNvSpPr>
            <a:spLocks noGrp="1"/>
          </p:cNvSpPr>
          <p:nvPr/>
        </p:nvSpPr>
        <p:spPr>
          <a:xfrm>
            <a:off x="548640" y="1387339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4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The objective is reliable well-being—not the smallest possible volume of trade.</a:t>
            </a:r>
            <a:endParaRPr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8C9487-315B-4A72-8BE0-458B6800589B}"/>
              </a:ext>
            </a:extLst>
          </p:cNvPr>
          <p:cNvSpPr>
            <a:spLocks noGrp="1"/>
          </p:cNvSpPr>
          <p:nvPr/>
        </p:nvSpPr>
        <p:spPr>
          <a:xfrm>
            <a:off x="548640" y="1920240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946C38-191D-4885-881A-9F6DFAAAD675}"/>
              </a:ext>
            </a:extLst>
          </p:cNvPr>
          <p:cNvSpPr>
            <a:spLocks noGrp="1"/>
          </p:cNvSpPr>
          <p:nvPr/>
        </p:nvSpPr>
        <p:spPr>
          <a:xfrm>
            <a:off x="896112" y="2240280"/>
            <a:ext cx="475488" cy="475488"/>
          </a:xfrm>
          <a:prstGeom prst="ellipse">
            <a:avLst/>
          </a:prstGeom>
          <a:solidFill>
            <a:srgbClr val="EB811B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2FAB53-90AC-46F3-B67F-BDA43A94833E}"/>
              </a:ext>
            </a:extLst>
          </p:cNvPr>
          <p:cNvSpPr>
            <a:spLocks noGrp="1"/>
          </p:cNvSpPr>
          <p:nvPr/>
        </p:nvSpPr>
        <p:spPr>
          <a:xfrm>
            <a:off x="896112" y="22402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1</a:t>
            </a:r>
            <a:endParaRPr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CCD536-4F09-49EC-A9B0-7D921B383183}"/>
              </a:ext>
            </a:extLst>
          </p:cNvPr>
          <p:cNvSpPr>
            <a:spLocks noGrp="1"/>
          </p:cNvSpPr>
          <p:nvPr/>
        </p:nvSpPr>
        <p:spPr>
          <a:xfrm>
            <a:off x="896112" y="2926080"/>
            <a:ext cx="2642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Efficiency</a:t>
            </a:r>
            <a:endParaRPr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4912A76-25B8-47B0-9022-31B4D57A376A}"/>
              </a:ext>
            </a:extLst>
          </p:cNvPr>
          <p:cNvSpPr>
            <a:spLocks noGrp="1"/>
          </p:cNvSpPr>
          <p:nvPr/>
        </p:nvSpPr>
        <p:spPr>
          <a:xfrm>
            <a:off x="896112" y="3520440"/>
            <a:ext cx="2642616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dirty="0" err="1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Specialisation</a:t>
            </a:r>
            <a:r>
              <a:rPr sz="2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, scale, and trade lower costs and improve choice.</a:t>
            </a:r>
            <a:endParaRPr sz="2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4613D8E-1A0C-45B5-AD6E-1AACD5560B95}"/>
              </a:ext>
            </a:extLst>
          </p:cNvPr>
          <p:cNvSpPr>
            <a:spLocks noGrp="1"/>
          </p:cNvSpPr>
          <p:nvPr/>
        </p:nvSpPr>
        <p:spPr>
          <a:xfrm>
            <a:off x="4206240" y="1920240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F6B2842-8BEF-487B-A535-E6E3110BF7A3}"/>
              </a:ext>
            </a:extLst>
          </p:cNvPr>
          <p:cNvSpPr>
            <a:spLocks noGrp="1"/>
          </p:cNvSpPr>
          <p:nvPr/>
        </p:nvSpPr>
        <p:spPr>
          <a:xfrm>
            <a:off x="4553712" y="2240280"/>
            <a:ext cx="475488" cy="475488"/>
          </a:xfrm>
          <a:prstGeom prst="ellipse">
            <a:avLst/>
          </a:prstGeom>
          <a:solidFill>
            <a:srgbClr val="EB811B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696F1CA-7AA1-4A86-9299-D0C3A85EBDD5}"/>
              </a:ext>
            </a:extLst>
          </p:cNvPr>
          <p:cNvSpPr>
            <a:spLocks noGrp="1"/>
          </p:cNvSpPr>
          <p:nvPr/>
        </p:nvSpPr>
        <p:spPr>
          <a:xfrm>
            <a:off x="4553712" y="22402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2</a:t>
            </a:r>
            <a:endParaRPr sz="17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9744BF9-F67F-4568-9B7A-79D9315718CF}"/>
              </a:ext>
            </a:extLst>
          </p:cNvPr>
          <p:cNvSpPr>
            <a:spLocks noGrp="1"/>
          </p:cNvSpPr>
          <p:nvPr/>
        </p:nvSpPr>
        <p:spPr>
          <a:xfrm>
            <a:off x="4553712" y="2926080"/>
            <a:ext cx="2642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Resilience</a:t>
            </a:r>
            <a:endParaRPr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5424A66-42C0-4048-92A6-8AF3DCD90553}"/>
              </a:ext>
            </a:extLst>
          </p:cNvPr>
          <p:cNvSpPr>
            <a:spLocks noGrp="1"/>
          </p:cNvSpPr>
          <p:nvPr/>
        </p:nvSpPr>
        <p:spPr>
          <a:xfrm>
            <a:off x="4553712" y="3520440"/>
            <a:ext cx="2642616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Redundancy, stockpiles, and diversification reduce the damage from disruption.</a:t>
            </a:r>
            <a:endParaRPr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EF78FF6-1291-4BF0-AD67-944D3A86C027}"/>
              </a:ext>
            </a:extLst>
          </p:cNvPr>
          <p:cNvSpPr>
            <a:spLocks noGrp="1"/>
          </p:cNvSpPr>
          <p:nvPr/>
        </p:nvSpPr>
        <p:spPr>
          <a:xfrm>
            <a:off x="7863840" y="1920240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ECFB0E1-DED9-4B10-A25F-0410413BCAFF}"/>
              </a:ext>
            </a:extLst>
          </p:cNvPr>
          <p:cNvSpPr>
            <a:spLocks noGrp="1"/>
          </p:cNvSpPr>
          <p:nvPr/>
        </p:nvSpPr>
        <p:spPr>
          <a:xfrm>
            <a:off x="8211312" y="2240280"/>
            <a:ext cx="475488" cy="475488"/>
          </a:xfrm>
          <a:prstGeom prst="ellipse">
            <a:avLst/>
          </a:prstGeom>
          <a:solidFill>
            <a:srgbClr val="EB811B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F51BC7E-2D5B-4515-99D1-B6A214883C74}"/>
              </a:ext>
            </a:extLst>
          </p:cNvPr>
          <p:cNvSpPr>
            <a:spLocks noGrp="1"/>
          </p:cNvSpPr>
          <p:nvPr/>
        </p:nvSpPr>
        <p:spPr>
          <a:xfrm>
            <a:off x="8211312" y="22402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3</a:t>
            </a:r>
            <a:endParaRPr sz="17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60236F3-5D11-4104-B64E-A30DA60F8D97}"/>
              </a:ext>
            </a:extLst>
          </p:cNvPr>
          <p:cNvSpPr>
            <a:spLocks noGrp="1"/>
          </p:cNvSpPr>
          <p:nvPr/>
        </p:nvSpPr>
        <p:spPr>
          <a:xfrm>
            <a:off x="8211312" y="2926080"/>
            <a:ext cx="2642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Proportionality</a:t>
            </a:r>
            <a:endParaRPr sz="2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3A9AC3-715E-4AB0-9154-D2F7D8E8D807}"/>
              </a:ext>
            </a:extLst>
          </p:cNvPr>
          <p:cNvSpPr>
            <a:spLocks noGrp="1"/>
          </p:cNvSpPr>
          <p:nvPr/>
        </p:nvSpPr>
        <p:spPr>
          <a:xfrm>
            <a:off x="8211312" y="3520440"/>
            <a:ext cx="2642616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Secure the genuinely essential nodes; do not treat every import as a strategic dependency.</a:t>
            </a:r>
            <a:endParaRPr sz="2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A5261D6-D969-49F1-A2A6-D7D2103901F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8C630A04-5A25-9E0C-9436-126091DB86B3}" type="slidenum">
              <a:rPr b="0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31132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1B09ED-8036-4619-9558-54B145A818E6}"/>
              </a:ext>
            </a:extLst>
          </p:cNvPr>
          <p:cNvSpPr>
            <a:spLocks noGrp="1"/>
          </p:cNvSpPr>
          <p:nvPr/>
        </p:nvSpPr>
        <p:spPr>
          <a:xfrm>
            <a:off x="548640" y="214884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 spc="200">
                <a:solidFill>
                  <a:srgbClr val="EB811B"/>
                </a:solidFill>
                <a:latin typeface="Calibri"/>
                <a:ea typeface="Calibri"/>
                <a:cs typeface="Calibri"/>
              </a:rPr>
              <a:t>ONE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618707-BA6E-4127-AD6B-40DEDCB98349}"/>
              </a:ext>
            </a:extLst>
          </p:cNvPr>
          <p:cNvSpPr>
            <a:spLocks noGrp="1"/>
          </p:cNvSpPr>
          <p:nvPr/>
        </p:nvSpPr>
        <p:spPr>
          <a:xfrm>
            <a:off x="548640" y="256032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4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China: prosperity, supply, and dependency</a:t>
            </a:r>
            <a:endParaRPr sz="4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5776D3-1ECB-4D3F-9B62-01BF6EE9BC5C}"/>
              </a:ext>
            </a:extLst>
          </p:cNvPr>
          <p:cNvSpPr>
            <a:spLocks noGrp="1"/>
          </p:cNvSpPr>
          <p:nvPr/>
        </p:nvSpPr>
        <p:spPr>
          <a:xfrm>
            <a:off x="548640" y="3822192"/>
            <a:ext cx="150876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8E5723-CD22-4632-8527-AC0A9BBCF595}"/>
              </a:ext>
            </a:extLst>
          </p:cNvPr>
          <p:cNvSpPr>
            <a:spLocks noGrp="1"/>
          </p:cNvSpPr>
          <p:nvPr/>
        </p:nvSpPr>
        <p:spPr>
          <a:xfrm>
            <a:off x="548640" y="40233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 i="1">
                <a:solidFill>
                  <a:srgbClr val="B9BFC1"/>
                </a:solidFill>
                <a:latin typeface="Calibri"/>
                <a:ea typeface="Calibri"/>
                <a:cs typeface="Calibri"/>
              </a:rPr>
              <a:t>Cheap green technology is both an opportunity and a strategic exposure.</a:t>
            </a:r>
            <a:endParaRPr sz="15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D0DD309-AE37-4EEA-A014-75D47AC0534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B9BF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3D7D1C8-AE23-AA48-DF65-C742588DBE47}" type="slidenum">
              <a:rPr b="0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63843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37500E7-633F-4D8D-B461-B72F0B745102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388657AE-30A1-5A7A-6A7F-315D84436430}" type="slidenum">
              <a:rPr b="0"/>
              <a:t>10</a:t>
            </a:fld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4CAEEE7-00C1-4093-92C2-4F3547E28B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40" y="27844"/>
            <a:ext cx="11223057" cy="6261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543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CE3EBA-57CF-6ACD-BE28-330AD74D1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21924D6-1286-2628-0432-61A4C3709E02}"/>
              </a:ext>
            </a:extLst>
          </p:cNvPr>
          <p:cNvSpPr>
            <a:spLocks noGrp="1"/>
          </p:cNvSpPr>
          <p:nvPr/>
        </p:nvSpPr>
        <p:spPr>
          <a:xfrm>
            <a:off x="548640" y="36894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Cheap green technology: </a:t>
            </a:r>
            <a:r>
              <a:rPr sz="3200" b="1" dirty="0" err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decarbonisation</a:t>
            </a:r>
            <a:r>
              <a:rPr sz="32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 dividend or strategic dependency?</a:t>
            </a:r>
            <a:endParaRPr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1A8285E-2182-C1A2-5ED7-51B6981F01D2}"/>
              </a:ext>
            </a:extLst>
          </p:cNvPr>
          <p:cNvSpPr>
            <a:spLocks noGrp="1"/>
          </p:cNvSpPr>
          <p:nvPr/>
        </p:nvSpPr>
        <p:spPr>
          <a:xfrm>
            <a:off x="548640" y="1132157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5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The same supply relationship can improve climate outcomes and increase exposure.</a:t>
            </a:r>
            <a:endParaRPr sz="14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EE2A1BB7-608D-A7E0-BB24-79AA006997B5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5166360" cy="3840480"/>
          </a:xfrm>
          <a:prstGeom prst="roundRect">
            <a:avLst>
              <a:gd name="adj" fmla="val 1429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3EBB6FAE-A20D-6825-B720-21529AADF8D2}"/>
              </a:ext>
            </a:extLst>
          </p:cNvPr>
          <p:cNvSpPr>
            <a:spLocks noGrp="1"/>
          </p:cNvSpPr>
          <p:nvPr/>
        </p:nvSpPr>
        <p:spPr>
          <a:xfrm>
            <a:off x="914400" y="2057400"/>
            <a:ext cx="64008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76CC4C3-C3A9-BCD6-EBF2-526ED56B96EB}"/>
              </a:ext>
            </a:extLst>
          </p:cNvPr>
          <p:cNvSpPr>
            <a:spLocks noGrp="1"/>
          </p:cNvSpPr>
          <p:nvPr/>
        </p:nvSpPr>
        <p:spPr>
          <a:xfrm>
            <a:off x="914400" y="224028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The dividend</a:t>
            </a:r>
            <a:endParaRPr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C1A8E4C8-E812-BC4A-322B-E50098B7DA5B}"/>
              </a:ext>
            </a:extLst>
          </p:cNvPr>
          <p:cNvSpPr>
            <a:spLocks noGrp="1"/>
          </p:cNvSpPr>
          <p:nvPr/>
        </p:nvSpPr>
        <p:spPr>
          <a:xfrm>
            <a:off x="914400" y="2697480"/>
            <a:ext cx="4434840" cy="2560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sz="2400" i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Scale in solar, wind, batteries, and EVs can reduce transition costs—and accelerate </a:t>
            </a:r>
            <a:r>
              <a:rPr sz="2400" i="1" dirty="0" err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decarbonisation</a:t>
            </a:r>
            <a:r>
              <a:rPr sz="2400" i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.</a:t>
            </a:r>
            <a:endParaRPr sz="24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7302AB84-370B-633E-415C-A4DB15CE23C2}"/>
              </a:ext>
            </a:extLst>
          </p:cNvPr>
          <p:cNvSpPr>
            <a:spLocks noGrp="1"/>
          </p:cNvSpPr>
          <p:nvPr/>
        </p:nvSpPr>
        <p:spPr>
          <a:xfrm>
            <a:off x="6080760" y="1691640"/>
            <a:ext cx="5166360" cy="3840480"/>
          </a:xfrm>
          <a:prstGeom prst="roundRect">
            <a:avLst>
              <a:gd name="adj" fmla="val 1429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EB55BF5-59ED-380A-D76E-5815ABC84759}"/>
              </a:ext>
            </a:extLst>
          </p:cNvPr>
          <p:cNvSpPr>
            <a:spLocks noGrp="1"/>
          </p:cNvSpPr>
          <p:nvPr/>
        </p:nvSpPr>
        <p:spPr>
          <a:xfrm>
            <a:off x="6446520" y="2057400"/>
            <a:ext cx="64008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4FCE2B4F-5BF4-1CCB-31A1-BA2948259543}"/>
              </a:ext>
            </a:extLst>
          </p:cNvPr>
          <p:cNvSpPr>
            <a:spLocks noGrp="1"/>
          </p:cNvSpPr>
          <p:nvPr/>
        </p:nvSpPr>
        <p:spPr>
          <a:xfrm>
            <a:off x="6446520" y="224028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The exposure</a:t>
            </a:r>
            <a:endParaRPr sz="24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6EDCC50-D5FA-C5DD-770C-652FE0C14186}"/>
              </a:ext>
            </a:extLst>
          </p:cNvPr>
          <p:cNvSpPr>
            <a:spLocks noGrp="1"/>
          </p:cNvSpPr>
          <p:nvPr/>
        </p:nvSpPr>
        <p:spPr>
          <a:xfrm>
            <a:off x="6446520" y="2892056"/>
            <a:ext cx="4434840" cy="236574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2400" i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Dominant upstream capacity can narrow future options when supply, standards, or access become </a:t>
            </a:r>
            <a:r>
              <a:rPr sz="2400" i="1" dirty="0" err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politicised</a:t>
            </a:r>
            <a:r>
              <a:rPr sz="2400" i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.</a:t>
            </a:r>
            <a:endParaRPr sz="24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334BBBF-EEB0-9ECF-3C5B-6742FDDEC8C5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388657AE-30A1-5A7A-6A7F-315D84436430}" type="slidenum">
              <a:rPr b="0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82039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191B62-BBE7-4DF5-B5B7-EBFAB963FA99}"/>
              </a:ext>
            </a:extLst>
          </p:cNvPr>
          <p:cNvSpPr>
            <a:spLocks noGrp="1"/>
          </p:cNvSpPr>
          <p:nvPr/>
        </p:nvSpPr>
        <p:spPr>
          <a:xfrm>
            <a:off x="548640" y="36894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China’s manufacturing prowess creates a policy trade-off</a:t>
            </a:r>
            <a:endParaRPr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6523D9-3EF0-455E-BC15-AFCE579AF2B6}"/>
              </a:ext>
            </a:extLst>
          </p:cNvPr>
          <p:cNvSpPr>
            <a:spLocks noGrp="1"/>
          </p:cNvSpPr>
          <p:nvPr/>
        </p:nvSpPr>
        <p:spPr>
          <a:xfrm>
            <a:off x="548640" y="1100258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Cheap imports can help consumers and downstream firms even as they pressure domestic producers.</a:t>
            </a:r>
            <a:endParaRPr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E49F918-4B7C-479F-AA32-80699740D035}"/>
              </a:ext>
            </a:extLst>
          </p:cNvPr>
          <p:cNvSpPr>
            <a:spLocks noGrp="1"/>
          </p:cNvSpPr>
          <p:nvPr/>
        </p:nvSpPr>
        <p:spPr>
          <a:xfrm>
            <a:off x="5973775" y="576072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Source: US import and domestic price series (</a:t>
            </a:r>
            <a:r>
              <a:rPr lang="en-US" sz="1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Quah, 2026</a:t>
            </a:r>
            <a:r>
              <a:rPr sz="1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)</a:t>
            </a:r>
            <a:endParaRPr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45709EB-0AAF-4C24-9C45-A4A033263EE1}"/>
              </a:ext>
            </a:extLst>
          </p:cNvPr>
          <p:cNvSpPr>
            <a:spLocks noGrp="1"/>
          </p:cNvSpPr>
          <p:nvPr/>
        </p:nvSpPr>
        <p:spPr>
          <a:xfrm>
            <a:off x="548640" y="1508760"/>
            <a:ext cx="5150815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7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The analytical question</a:t>
            </a:r>
            <a:endParaRPr sz="17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42187AE-AE79-4B64-8FC4-0B6B28AD2C43}"/>
              </a:ext>
            </a:extLst>
          </p:cNvPr>
          <p:cNvSpPr>
            <a:spLocks noGrp="1"/>
          </p:cNvSpPr>
          <p:nvPr/>
        </p:nvSpPr>
        <p:spPr>
          <a:xfrm>
            <a:off x="548640" y="1965960"/>
            <a:ext cx="64008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5DA5D3C-0F43-4584-942E-664518480899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5150815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sz="2000" dirty="0">
                <a:solidFill>
                  <a:srgbClr val="4E5E61"/>
                </a:solidFill>
                <a:ea typeface="Calibri"/>
                <a:cs typeface="Calibri"/>
              </a:rPr>
              <a:t>Do not ask only whether low prices arise from “overcapacity.” Ask what a prolonged import shock does to livelihoods, capabilities, and the ability to reallocate.</a:t>
            </a:r>
            <a:endParaRPr sz="2000" dirty="0"/>
          </a:p>
          <a:p>
            <a:pPr marL="0" indent="0" algn="l">
              <a:lnSpc>
                <a:spcPct val="130000"/>
              </a:lnSpc>
              <a:buNone/>
            </a:pPr>
            <a:endParaRPr sz="2000" dirty="0"/>
          </a:p>
          <a:p>
            <a:pPr marL="0" indent="0" algn="l">
              <a:lnSpc>
                <a:spcPct val="130000"/>
              </a:lnSpc>
              <a:buNone/>
            </a:pPr>
            <a:r>
              <a:rPr sz="2000" dirty="0">
                <a:solidFill>
                  <a:srgbClr val="4E5E61"/>
                </a:solidFill>
                <a:ea typeface="Calibri"/>
                <a:cs typeface="Calibri"/>
              </a:rPr>
              <a:t>Economic security is not </a:t>
            </a:r>
            <a:r>
              <a:rPr sz="2000" dirty="0" err="1">
                <a:solidFill>
                  <a:srgbClr val="4E5E61"/>
                </a:solidFill>
                <a:ea typeface="Calibri"/>
                <a:cs typeface="Calibri"/>
              </a:rPr>
              <a:t>licence</a:t>
            </a:r>
            <a:r>
              <a:rPr sz="2000" dirty="0">
                <a:solidFill>
                  <a:srgbClr val="4E5E61"/>
                </a:solidFill>
                <a:ea typeface="Calibri"/>
                <a:cs typeface="Calibri"/>
              </a:rPr>
              <a:t> to ignore consumer welfare. It is a way to </a:t>
            </a:r>
            <a:r>
              <a:rPr sz="2000" dirty="0" err="1">
                <a:solidFill>
                  <a:srgbClr val="4E5E61"/>
                </a:solidFill>
                <a:ea typeface="Calibri"/>
                <a:cs typeface="Calibri"/>
              </a:rPr>
              <a:t>recognise</a:t>
            </a:r>
            <a:r>
              <a:rPr sz="2000" dirty="0">
                <a:solidFill>
                  <a:srgbClr val="4E5E61"/>
                </a:solidFill>
                <a:ea typeface="Calibri"/>
                <a:cs typeface="Calibri"/>
              </a:rPr>
              <a:t> distributional and strategic consequences alongside it.</a:t>
            </a:r>
            <a:endParaRPr sz="2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859C58F-2836-449B-B643-7D38BFC6136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A58DA2A-B818-18A9-29C1-B697728D5BCE}" type="slidenum">
              <a:rPr b="0"/>
              <a:t>12</a:t>
            </a:fld>
            <a:endParaRPr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73775" y="1515397"/>
            <a:ext cx="5669280" cy="4211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66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01B09ED-8036-4619-9558-54B145A818E6}"/>
              </a:ext>
            </a:extLst>
          </p:cNvPr>
          <p:cNvSpPr>
            <a:spLocks noGrp="1"/>
          </p:cNvSpPr>
          <p:nvPr/>
        </p:nvSpPr>
        <p:spPr>
          <a:xfrm>
            <a:off x="548640" y="2148840"/>
            <a:ext cx="96012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 b="1" spc="200">
                <a:solidFill>
                  <a:srgbClr val="EB811B"/>
                </a:solidFill>
                <a:latin typeface="Calibri"/>
                <a:ea typeface="Calibri"/>
                <a:cs typeface="Calibri"/>
              </a:rPr>
              <a:t>TWO</a:t>
            </a:r>
            <a:endParaRPr sz="13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B618707-BA6E-4127-AD6B-40DEDCB98349}"/>
              </a:ext>
            </a:extLst>
          </p:cNvPr>
          <p:cNvSpPr>
            <a:spLocks noGrp="1"/>
          </p:cNvSpPr>
          <p:nvPr/>
        </p:nvSpPr>
        <p:spPr>
          <a:xfrm>
            <a:off x="548640" y="256032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4400" b="1" dirty="0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Critical-mineral chokepoints</a:t>
            </a:r>
            <a:endParaRPr sz="4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15776D3-1ECB-4D3F-9B62-01BF6EE9BC5C}"/>
              </a:ext>
            </a:extLst>
          </p:cNvPr>
          <p:cNvSpPr>
            <a:spLocks noGrp="1"/>
          </p:cNvSpPr>
          <p:nvPr/>
        </p:nvSpPr>
        <p:spPr>
          <a:xfrm>
            <a:off x="548640" y="3822192"/>
            <a:ext cx="150876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58E5723-CD22-4632-8527-AC0A9BBCF595}"/>
              </a:ext>
            </a:extLst>
          </p:cNvPr>
          <p:cNvSpPr>
            <a:spLocks noGrp="1"/>
          </p:cNvSpPr>
          <p:nvPr/>
        </p:nvSpPr>
        <p:spPr>
          <a:xfrm>
            <a:off x="548640" y="4023360"/>
            <a:ext cx="8686800" cy="7315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 i="1">
                <a:solidFill>
                  <a:srgbClr val="B9BFC1"/>
                </a:solidFill>
                <a:latin typeface="Calibri"/>
                <a:ea typeface="Calibri"/>
                <a:cs typeface="Calibri"/>
              </a:rPr>
              <a:t>The physical foundations of clean energy and digital technologies.</a:t>
            </a:r>
            <a:endParaRPr sz="15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6D0DD309-AE37-4EEA-A014-75D47AC0534B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B9BF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B7BEEEC-A170-5376-2B6E-CB54687B0CB1}" type="slidenum">
              <a:rPr b="0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463843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191B62-BBE7-4DF5-B5B7-EBFAB963FA99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The choke point is often processing—not mining</a:t>
            </a:r>
            <a:endParaRPr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6523D9-3EF0-455E-BC15-AFCE579AF2B6}"/>
              </a:ext>
            </a:extLst>
          </p:cNvPr>
          <p:cNvSpPr>
            <a:spLocks noGrp="1"/>
          </p:cNvSpPr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Security analysis must follow a supply chain from raw material to finished system.</a:t>
            </a:r>
            <a:endParaRPr sz="20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E49F918-4B7C-479F-AA32-80699740D035}"/>
              </a:ext>
            </a:extLst>
          </p:cNvPr>
          <p:cNvSpPr>
            <a:spLocks noGrp="1"/>
          </p:cNvSpPr>
          <p:nvPr/>
        </p:nvSpPr>
        <p:spPr>
          <a:xfrm>
            <a:off x="5973775" y="6164982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Source: Jane Nakano / CSIS (2021)</a:t>
            </a:r>
            <a:endParaRPr sz="10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45709EB-0AAF-4C24-9C45-A4A033263EE1}"/>
              </a:ext>
            </a:extLst>
          </p:cNvPr>
          <p:cNvSpPr>
            <a:spLocks noGrp="1"/>
          </p:cNvSpPr>
          <p:nvPr/>
        </p:nvSpPr>
        <p:spPr>
          <a:xfrm>
            <a:off x="548640" y="1508760"/>
            <a:ext cx="5150815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7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Why it matters</a:t>
            </a:r>
            <a:endParaRPr sz="170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42187AE-AE79-4B64-8FC4-0B6B28AD2C43}"/>
              </a:ext>
            </a:extLst>
          </p:cNvPr>
          <p:cNvSpPr>
            <a:spLocks noGrp="1"/>
          </p:cNvSpPr>
          <p:nvPr/>
        </p:nvSpPr>
        <p:spPr>
          <a:xfrm>
            <a:off x="548640" y="1965960"/>
            <a:ext cx="64008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5DA5D3C-0F43-4584-942E-664518480899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5150815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sz="2400" dirty="0">
                <a:solidFill>
                  <a:srgbClr val="4E5E61"/>
                </a:solidFill>
                <a:latin typeface="Cambria" panose="02040503050406030204" pitchFamily="18" charset="0"/>
                <a:ea typeface="Calibri"/>
                <a:cs typeface="Calibri"/>
              </a:rPr>
              <a:t>China is highly visible in processed materials, components, and assembly across batteries, wind, and solar.</a:t>
            </a:r>
            <a:endParaRPr sz="2400" dirty="0">
              <a:latin typeface="Cambria" panose="02040503050406030204" pitchFamily="18" charset="0"/>
            </a:endParaRPr>
          </a:p>
          <a:p>
            <a:pPr marL="0" indent="0" algn="l">
              <a:lnSpc>
                <a:spcPct val="130000"/>
              </a:lnSpc>
              <a:buNone/>
            </a:pPr>
            <a:endParaRPr sz="2400" dirty="0">
              <a:latin typeface="Cambria" panose="02040503050406030204" pitchFamily="18" charset="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sz="2400" dirty="0">
                <a:solidFill>
                  <a:srgbClr val="4E5E61"/>
                </a:solidFill>
                <a:latin typeface="Cambria" panose="02040503050406030204" pitchFamily="18" charset="0"/>
                <a:ea typeface="Calibri"/>
                <a:cs typeface="Calibri"/>
              </a:rPr>
              <a:t>Those stages take time, energy, know-how, and regulatory capacity to reproduce. A mine alone does not remove a bottleneck.</a:t>
            </a:r>
            <a:endParaRPr sz="2400" dirty="0">
              <a:latin typeface="Cambria" panose="02040503050406030204" pitchFamily="18" charset="0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859C58F-2836-449B-B643-7D38BFC6136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30394428-F1DC-E5F6-DB0C-7DE31F3D8A23}" type="slidenum">
              <a:rPr b="0"/>
              <a:t>14</a:t>
            </a:fld>
            <a:endParaRPr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73775" y="1508759"/>
            <a:ext cx="5576541" cy="4618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66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5191B62-BBE7-4DF5-B5B7-EBFAB963FA99}"/>
              </a:ext>
            </a:extLst>
          </p:cNvPr>
          <p:cNvSpPr>
            <a:spLocks noGrp="1"/>
          </p:cNvSpPr>
          <p:nvPr/>
        </p:nvSpPr>
        <p:spPr>
          <a:xfrm>
            <a:off x="548640" y="368948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Concentration is a risk—especially when it converges at processing</a:t>
            </a:r>
            <a:endParaRPr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16523D9-3EF0-455E-BC15-AFCE579AF2B6}"/>
              </a:ext>
            </a:extLst>
          </p:cNvPr>
          <p:cNvSpPr>
            <a:spLocks noGrp="1"/>
          </p:cNvSpPr>
          <p:nvPr/>
        </p:nvSpPr>
        <p:spPr>
          <a:xfrm>
            <a:off x="548640" y="1132157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5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Minerals may be geographically diverse at extraction and still concentrated after refinement.</a:t>
            </a:r>
            <a:endParaRPr sz="14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FE49F918-4B7C-479F-AA32-80699740D035}"/>
              </a:ext>
            </a:extLst>
          </p:cNvPr>
          <p:cNvSpPr>
            <a:spLocks noGrp="1"/>
          </p:cNvSpPr>
          <p:nvPr/>
        </p:nvSpPr>
        <p:spPr>
          <a:xfrm>
            <a:off x="5973775" y="5760720"/>
            <a:ext cx="56692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00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Source: IEA (2022), via provided lecture asset</a:t>
            </a:r>
            <a:endParaRPr sz="100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645709EB-0AAF-4C24-9C45-A4A033263EE1}"/>
              </a:ext>
            </a:extLst>
          </p:cNvPr>
          <p:cNvSpPr>
            <a:spLocks noGrp="1"/>
          </p:cNvSpPr>
          <p:nvPr/>
        </p:nvSpPr>
        <p:spPr>
          <a:xfrm>
            <a:off x="548640" y="1508760"/>
            <a:ext cx="5150815" cy="4114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The policy implication</a:t>
            </a:r>
            <a:endParaRPr sz="200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142187AE-AE79-4B64-8FC4-0B6B28AD2C43}"/>
              </a:ext>
            </a:extLst>
          </p:cNvPr>
          <p:cNvSpPr>
            <a:spLocks noGrp="1"/>
          </p:cNvSpPr>
          <p:nvPr/>
        </p:nvSpPr>
        <p:spPr>
          <a:xfrm>
            <a:off x="548640" y="1965960"/>
            <a:ext cx="64008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5DA5D3C-0F43-4584-942E-664518480899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5150815" cy="3931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sz="2000" dirty="0">
                <a:solidFill>
                  <a:srgbClr val="4E5E61"/>
                </a:solidFill>
                <a:latin typeface="Cambria" panose="02040503050406030204" pitchFamily="18" charset="0"/>
                <a:ea typeface="Calibri"/>
                <a:cs typeface="Calibri"/>
              </a:rPr>
              <a:t>For rare earths, lithium, cobalt, nickel, and copper, supply security depends on the entire value chain.</a:t>
            </a:r>
            <a:endParaRPr sz="2000" dirty="0">
              <a:latin typeface="Cambria" panose="02040503050406030204" pitchFamily="18" charset="0"/>
            </a:endParaRPr>
          </a:p>
          <a:p>
            <a:pPr marL="0" indent="0" algn="l">
              <a:lnSpc>
                <a:spcPct val="130000"/>
              </a:lnSpc>
              <a:buNone/>
            </a:pPr>
            <a:endParaRPr sz="2000" dirty="0">
              <a:latin typeface="Cambria" panose="02040503050406030204" pitchFamily="18" charset="0"/>
            </a:endParaRPr>
          </a:p>
          <a:p>
            <a:pPr marL="0" indent="0" algn="l">
              <a:lnSpc>
                <a:spcPct val="130000"/>
              </a:lnSpc>
              <a:buNone/>
            </a:pPr>
            <a:r>
              <a:rPr sz="2000" dirty="0">
                <a:solidFill>
                  <a:srgbClr val="4E5E61"/>
                </a:solidFill>
                <a:latin typeface="Cambria" panose="02040503050406030204" pitchFamily="18" charset="0"/>
                <a:ea typeface="Calibri"/>
                <a:cs typeface="Calibri"/>
              </a:rPr>
              <a:t>Diversification can mean new suppliers, recycling, substitution, strategic reserves, better demand management, and collaborative processing—not only reshoring.</a:t>
            </a:r>
            <a:endParaRPr sz="2000" dirty="0">
              <a:latin typeface="Cambria" panose="02040503050406030204" pitchFamily="18" charset="0"/>
            </a:endParaRPr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B859C58F-2836-449B-B643-7D38BFC6136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4DB16885-0D3F-A391-B669-3211DB3B26E8}" type="slidenum">
              <a:rPr b="0"/>
              <a:t>15</a:t>
            </a:fld>
            <a:endParaRPr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973775" y="2022389"/>
            <a:ext cx="5669280" cy="3197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866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E894DEA-D02B-4E12-A619-2FD519406368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ASEAN economic security is a regional portfolio problem</a:t>
            </a:r>
            <a:endParaRPr sz="3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DD98555-2B6E-4DE2-99B4-1EFCF5CCF441}"/>
              </a:ext>
            </a:extLst>
          </p:cNvPr>
          <p:cNvSpPr>
            <a:spLocks noGrp="1"/>
          </p:cNvSpPr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The region gains by being open—and by avoiding unnecessary common exposure.</a:t>
            </a:r>
            <a:endParaRPr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8B59747-1E5F-4F21-ADFA-A0F05FFE5604}"/>
              </a:ext>
            </a:extLst>
          </p:cNvPr>
          <p:cNvSpPr>
            <a:spLocks noGrp="1"/>
          </p:cNvSpPr>
          <p:nvPr/>
        </p:nvSpPr>
        <p:spPr>
          <a:xfrm>
            <a:off x="548640" y="1664208"/>
            <a:ext cx="11094415" cy="475488"/>
          </a:xfrm>
          <a:prstGeom prst="rect">
            <a:avLst/>
          </a:prstGeom>
          <a:solidFill>
            <a:srgbClr val="23373B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68ECC9-9739-466B-AA05-7380B27BAD0C}"/>
              </a:ext>
            </a:extLst>
          </p:cNvPr>
          <p:cNvSpPr>
            <a:spLocks noGrp="1"/>
          </p:cNvSpPr>
          <p:nvPr/>
        </p:nvSpPr>
        <p:spPr>
          <a:xfrm>
            <a:off x="731520" y="1737360"/>
            <a:ext cx="256032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Exposure</a:t>
            </a:r>
            <a:endParaRPr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882CB5C-FD6B-4461-9CBF-854D4D227571}"/>
              </a:ext>
            </a:extLst>
          </p:cNvPr>
          <p:cNvSpPr>
            <a:spLocks noGrp="1"/>
          </p:cNvSpPr>
          <p:nvPr/>
        </p:nvSpPr>
        <p:spPr>
          <a:xfrm>
            <a:off x="3337560" y="1737360"/>
            <a:ext cx="1097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Response</a:t>
            </a:r>
            <a:endParaRPr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FB3B1A3-ACF5-45D1-B7AC-1C9C8CCE8A69}"/>
              </a:ext>
            </a:extLst>
          </p:cNvPr>
          <p:cNvSpPr>
            <a:spLocks noGrp="1"/>
          </p:cNvSpPr>
          <p:nvPr/>
        </p:nvSpPr>
        <p:spPr>
          <a:xfrm>
            <a:off x="4480560" y="1737360"/>
            <a:ext cx="18288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Why it matters</a:t>
            </a:r>
            <a:endParaRPr sz="20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EB39702-069D-469F-BF79-B0D195D29663}"/>
              </a:ext>
            </a:extLst>
          </p:cNvPr>
          <p:cNvSpPr>
            <a:spLocks noGrp="1"/>
          </p:cNvSpPr>
          <p:nvPr/>
        </p:nvSpPr>
        <p:spPr>
          <a:xfrm>
            <a:off x="6355080" y="1737360"/>
            <a:ext cx="548640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Economic-diplomacy task</a:t>
            </a:r>
            <a:endParaRPr sz="2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E375E872-265A-45D0-BBBE-0CB4730535B1}"/>
              </a:ext>
            </a:extLst>
          </p:cNvPr>
          <p:cNvSpPr>
            <a:spLocks noGrp="1"/>
          </p:cNvSpPr>
          <p:nvPr/>
        </p:nvSpPr>
        <p:spPr>
          <a:xfrm>
            <a:off x="548640" y="2139696"/>
            <a:ext cx="11094415" cy="1069848"/>
          </a:xfrm>
          <a:prstGeom prst="rect">
            <a:avLst/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FBA147E5-08C1-4DB3-A4A4-8FC5E4E97767}"/>
              </a:ext>
            </a:extLst>
          </p:cNvPr>
          <p:cNvSpPr>
            <a:spLocks noGrp="1"/>
          </p:cNvSpPr>
          <p:nvPr/>
        </p:nvSpPr>
        <p:spPr>
          <a:xfrm>
            <a:off x="731520" y="2231136"/>
            <a:ext cx="256032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dirty="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Critical minerals</a:t>
            </a:r>
            <a:endParaRPr sz="2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29ACD185-D486-4D25-9DAB-92D8361DAA32}"/>
              </a:ext>
            </a:extLst>
          </p:cNvPr>
          <p:cNvSpPr>
            <a:spLocks noGrp="1"/>
          </p:cNvSpPr>
          <p:nvPr/>
        </p:nvSpPr>
        <p:spPr>
          <a:xfrm>
            <a:off x="3337560" y="2231136"/>
            <a:ext cx="109728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 b="1">
                <a:solidFill>
                  <a:srgbClr val="EB811B"/>
                </a:solidFill>
                <a:latin typeface="Calibri"/>
                <a:ea typeface="Calibri"/>
                <a:cs typeface="Calibri"/>
              </a:rPr>
              <a:t>Processing hub</a:t>
            </a:r>
            <a:endParaRPr sz="16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1FBB677A-7D25-47AB-89E1-EBF3E60FEB28}"/>
              </a:ext>
            </a:extLst>
          </p:cNvPr>
          <p:cNvSpPr>
            <a:spLocks noGrp="1"/>
          </p:cNvSpPr>
          <p:nvPr/>
        </p:nvSpPr>
        <p:spPr>
          <a:xfrm>
            <a:off x="4480560" y="2231136"/>
            <a:ext cx="182880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Diversify + invest</a:t>
            </a:r>
            <a:endParaRPr sz="135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36E5B38-A78F-4922-BD60-5CC5EEEADAC7}"/>
              </a:ext>
            </a:extLst>
          </p:cNvPr>
          <p:cNvSpPr>
            <a:spLocks noGrp="1"/>
          </p:cNvSpPr>
          <p:nvPr/>
        </p:nvSpPr>
        <p:spPr>
          <a:xfrm>
            <a:off x="6355080" y="2231136"/>
            <a:ext cx="530352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sz="16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Coordinate standards, finance, and sustainable refining partnerships.</a:t>
            </a:r>
            <a:endParaRPr sz="16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91CC0CF-4245-4BEE-A74E-2F2B4DD45E57}"/>
              </a:ext>
            </a:extLst>
          </p:cNvPr>
          <p:cNvSpPr>
            <a:spLocks noGrp="1"/>
          </p:cNvSpPr>
          <p:nvPr/>
        </p:nvSpPr>
        <p:spPr>
          <a:xfrm>
            <a:off x="548640" y="3255264"/>
            <a:ext cx="11094415" cy="1069848"/>
          </a:xfrm>
          <a:prstGeom prst="rect">
            <a:avLst/>
          </a:prstGeom>
          <a:solidFill>
            <a:srgbClr val="FAFAFA"/>
          </a:solidFill>
        </p:spPr>
        <p:txBody>
          <a:bodyPr/>
          <a:lstStyle/>
          <a:p>
            <a:endParaRPr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FB4E9FF-719B-4688-A9EC-17EAF551D3BD}"/>
              </a:ext>
            </a:extLst>
          </p:cNvPr>
          <p:cNvSpPr>
            <a:spLocks noGrp="1"/>
          </p:cNvSpPr>
          <p:nvPr/>
        </p:nvSpPr>
        <p:spPr>
          <a:xfrm>
            <a:off x="731520" y="3346704"/>
            <a:ext cx="256032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dirty="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Supply chains</a:t>
            </a:r>
            <a:endParaRPr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6432790F-7036-491E-A0EF-30F85E95E416}"/>
              </a:ext>
            </a:extLst>
          </p:cNvPr>
          <p:cNvSpPr>
            <a:spLocks noGrp="1"/>
          </p:cNvSpPr>
          <p:nvPr/>
        </p:nvSpPr>
        <p:spPr>
          <a:xfrm>
            <a:off x="3337560" y="3346704"/>
            <a:ext cx="109728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 b="1">
                <a:solidFill>
                  <a:srgbClr val="EB811B"/>
                </a:solidFill>
                <a:latin typeface="Calibri"/>
                <a:ea typeface="Calibri"/>
                <a:cs typeface="Calibri"/>
              </a:rPr>
              <a:t>Single node</a:t>
            </a:r>
            <a:endParaRPr sz="16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271E3EAF-35FF-4CA4-9044-D3FB9D0E64CD}"/>
              </a:ext>
            </a:extLst>
          </p:cNvPr>
          <p:cNvSpPr>
            <a:spLocks noGrp="1"/>
          </p:cNvSpPr>
          <p:nvPr/>
        </p:nvSpPr>
        <p:spPr>
          <a:xfrm>
            <a:off x="4480560" y="3346704"/>
            <a:ext cx="182880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Redundant links</a:t>
            </a:r>
            <a:endParaRPr sz="13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824D496-D202-4DD4-9939-8FB569803C17}"/>
              </a:ext>
            </a:extLst>
          </p:cNvPr>
          <p:cNvSpPr>
            <a:spLocks noGrp="1"/>
          </p:cNvSpPr>
          <p:nvPr/>
        </p:nvSpPr>
        <p:spPr>
          <a:xfrm>
            <a:off x="6355080" y="3346704"/>
            <a:ext cx="530352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sz="16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Keep ASEAN embedded in multiple production networks rather than one bloc.</a:t>
            </a:r>
            <a:endParaRPr sz="16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F9397530-4302-4C72-B267-A1089D172FA1}"/>
              </a:ext>
            </a:extLst>
          </p:cNvPr>
          <p:cNvSpPr>
            <a:spLocks noGrp="1"/>
          </p:cNvSpPr>
          <p:nvPr/>
        </p:nvSpPr>
        <p:spPr>
          <a:xfrm>
            <a:off x="548640" y="4370832"/>
            <a:ext cx="11094415" cy="1069848"/>
          </a:xfrm>
          <a:prstGeom prst="rect">
            <a:avLst/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095F1C5-D3FE-4862-96FA-A825F720697E}"/>
              </a:ext>
            </a:extLst>
          </p:cNvPr>
          <p:cNvSpPr>
            <a:spLocks noGrp="1"/>
          </p:cNvSpPr>
          <p:nvPr/>
        </p:nvSpPr>
        <p:spPr>
          <a:xfrm>
            <a:off x="731520" y="4462272"/>
            <a:ext cx="256032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dirty="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Great-power pressure</a:t>
            </a:r>
            <a:endParaRPr sz="20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2F8F45D6-407C-4137-B688-D8FB267E2BD7}"/>
              </a:ext>
            </a:extLst>
          </p:cNvPr>
          <p:cNvSpPr>
            <a:spLocks noGrp="1"/>
          </p:cNvSpPr>
          <p:nvPr/>
        </p:nvSpPr>
        <p:spPr>
          <a:xfrm>
            <a:off x="3337560" y="4462272"/>
            <a:ext cx="109728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 b="1">
                <a:solidFill>
                  <a:srgbClr val="EB811B"/>
                </a:solidFill>
                <a:latin typeface="Calibri"/>
                <a:ea typeface="Calibri"/>
                <a:cs typeface="Calibri"/>
              </a:rPr>
              <a:t>Alignment pressure</a:t>
            </a:r>
            <a:endParaRPr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D254762D-C488-43E6-9EA1-33DC98B437EF}"/>
              </a:ext>
            </a:extLst>
          </p:cNvPr>
          <p:cNvSpPr>
            <a:spLocks noGrp="1"/>
          </p:cNvSpPr>
          <p:nvPr/>
        </p:nvSpPr>
        <p:spPr>
          <a:xfrm>
            <a:off x="4480560" y="4462272"/>
            <a:ext cx="182880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Hedge deliberately</a:t>
            </a:r>
            <a:endParaRPr sz="135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03BEFAB1-3E59-40B5-9FAB-C8E77BD1A858}"/>
              </a:ext>
            </a:extLst>
          </p:cNvPr>
          <p:cNvSpPr>
            <a:spLocks noGrp="1"/>
          </p:cNvSpPr>
          <p:nvPr/>
        </p:nvSpPr>
        <p:spPr>
          <a:xfrm>
            <a:off x="6355080" y="4462272"/>
            <a:ext cx="530352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sz="16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Preserve policy options, compatible standards, and trusted institutions.</a:t>
            </a:r>
            <a:endParaRPr sz="1600" dirty="0"/>
          </a:p>
        </p:txBody>
      </p:sp>
      <p:sp>
        <p:nvSpPr>
          <p:cNvPr id="24" name="Shape 22">
            <a:extLst>
              <a:ext uri="{FF2B5EF4-FFF2-40B4-BE49-F238E27FC236}">
                <a16:creationId xmlns:a16="http://schemas.microsoft.com/office/drawing/2014/main" id="{101084F2-F81C-4A0F-B084-5E6953675983}"/>
              </a:ext>
            </a:extLst>
          </p:cNvPr>
          <p:cNvSpPr>
            <a:spLocks noGrp="1"/>
          </p:cNvSpPr>
          <p:nvPr/>
        </p:nvSpPr>
        <p:spPr>
          <a:xfrm>
            <a:off x="548640" y="5426112"/>
            <a:ext cx="11094415" cy="1069848"/>
          </a:xfrm>
          <a:prstGeom prst="rect">
            <a:avLst/>
          </a:prstGeom>
          <a:solidFill>
            <a:srgbClr val="FAFAFA"/>
          </a:solidFill>
        </p:spPr>
        <p:txBody>
          <a:bodyPr/>
          <a:lstStyle/>
          <a:p>
            <a:endParaRPr/>
          </a:p>
        </p:txBody>
      </p:sp>
      <p:sp>
        <p:nvSpPr>
          <p:cNvPr id="25" name="Text 23">
            <a:extLst>
              <a:ext uri="{FF2B5EF4-FFF2-40B4-BE49-F238E27FC236}">
                <a16:creationId xmlns:a16="http://schemas.microsoft.com/office/drawing/2014/main" id="{0417373B-1F6A-4094-AE2B-872613F41C51}"/>
              </a:ext>
            </a:extLst>
          </p:cNvPr>
          <p:cNvSpPr>
            <a:spLocks noGrp="1"/>
          </p:cNvSpPr>
          <p:nvPr/>
        </p:nvSpPr>
        <p:spPr>
          <a:xfrm>
            <a:off x="731520" y="5577840"/>
            <a:ext cx="256032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dirty="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Rules erosion</a:t>
            </a:r>
            <a:endParaRPr sz="2000" dirty="0"/>
          </a:p>
        </p:txBody>
      </p:sp>
      <p:sp>
        <p:nvSpPr>
          <p:cNvPr id="26" name="Text 24">
            <a:extLst>
              <a:ext uri="{FF2B5EF4-FFF2-40B4-BE49-F238E27FC236}">
                <a16:creationId xmlns:a16="http://schemas.microsoft.com/office/drawing/2014/main" id="{70C1ACCB-2261-4463-AB6D-709CD8E96AEE}"/>
              </a:ext>
            </a:extLst>
          </p:cNvPr>
          <p:cNvSpPr>
            <a:spLocks noGrp="1"/>
          </p:cNvSpPr>
          <p:nvPr/>
        </p:nvSpPr>
        <p:spPr>
          <a:xfrm>
            <a:off x="3337560" y="5577840"/>
            <a:ext cx="109728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 b="1">
                <a:solidFill>
                  <a:srgbClr val="EB811B"/>
                </a:solidFill>
                <a:latin typeface="Calibri"/>
                <a:ea typeface="Calibri"/>
                <a:cs typeface="Calibri"/>
              </a:rPr>
              <a:t>More exceptions</a:t>
            </a:r>
            <a:endParaRPr sz="1600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4717769A-77A6-47F5-A201-9BFAD1AD2B28}"/>
              </a:ext>
            </a:extLst>
          </p:cNvPr>
          <p:cNvSpPr>
            <a:spLocks noGrp="1"/>
          </p:cNvSpPr>
          <p:nvPr/>
        </p:nvSpPr>
        <p:spPr>
          <a:xfrm>
            <a:off x="4480560" y="5577840"/>
            <a:ext cx="182880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Defend guardrails</a:t>
            </a:r>
            <a:endParaRPr sz="135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0CC7FA2E-FCD3-4581-853D-EF8F302BD54C}"/>
              </a:ext>
            </a:extLst>
          </p:cNvPr>
          <p:cNvSpPr>
            <a:spLocks noGrp="1"/>
          </p:cNvSpPr>
          <p:nvPr/>
        </p:nvSpPr>
        <p:spPr>
          <a:xfrm>
            <a:off x="6355080" y="5577840"/>
            <a:ext cx="5303520" cy="8869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sz="16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Support workable rules while retaining capacity for genuine emergencies.</a:t>
            </a:r>
            <a:endParaRPr sz="1600" dirty="0"/>
          </a:p>
        </p:txBody>
      </p:sp>
      <p:sp>
        <p:nvSpPr>
          <p:cNvPr id="29" name="Slide Number Placeholder 0">
            <a:extLst>
              <a:ext uri="{FF2B5EF4-FFF2-40B4-BE49-F238E27FC236}">
                <a16:creationId xmlns:a16="http://schemas.microsoft.com/office/drawing/2014/main" id="{4F83BEFF-0DC8-40A5-9188-D507B539B019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90F7333B-44AC-F7E9-D49D-FE92F45E0477}" type="slidenum">
              <a:rPr b="0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10492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4BC5392-2B33-4BFE-927E-E090B74D06B8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The rules dilemma: restraint safeguards a system that others may exploit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2156137-7B83-4DC5-90DA-0061E4F97653}"/>
              </a:ext>
            </a:extLst>
          </p:cNvPr>
          <p:cNvSpPr>
            <a:spLocks noGrp="1"/>
          </p:cNvSpPr>
          <p:nvPr/>
        </p:nvSpPr>
        <p:spPr>
          <a:xfrm>
            <a:off x="548640" y="118532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5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Economic security requires judgement about both real risk and the systemic cost of the response.</a:t>
            </a:r>
            <a:endParaRPr sz="14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AF0FB4E8-9AC8-4A4B-9803-C276FBF3B1E8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11094415" cy="1024128"/>
          </a:xfrm>
          <a:prstGeom prst="roundRect">
            <a:avLst>
              <a:gd name="adj" fmla="val 5357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FD29C8F-C07B-4A19-9713-8EFA4B1CEDCD}"/>
              </a:ext>
            </a:extLst>
          </p:cNvPr>
          <p:cNvSpPr>
            <a:spLocks noGrp="1"/>
          </p:cNvSpPr>
          <p:nvPr/>
        </p:nvSpPr>
        <p:spPr>
          <a:xfrm>
            <a:off x="914400" y="1783080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b="1" dirty="0">
                <a:solidFill>
                  <a:srgbClr val="EB811B"/>
                </a:solidFill>
                <a:latin typeface="Cambria"/>
                <a:ea typeface="Cambria"/>
                <a:cs typeface="Cambria"/>
              </a:rPr>
              <a:t>Sovereignty</a:t>
            </a:r>
            <a:endParaRPr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CB179989-30E5-4427-855F-048DC433358F}"/>
              </a:ext>
            </a:extLst>
          </p:cNvPr>
          <p:cNvSpPr>
            <a:spLocks noGrp="1"/>
          </p:cNvSpPr>
          <p:nvPr/>
        </p:nvSpPr>
        <p:spPr>
          <a:xfrm>
            <a:off x="4023360" y="1783080"/>
            <a:ext cx="7345375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sz="16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Governments need room to protect essential interests when the danger is real and time-sensitive.</a:t>
            </a:r>
            <a:endParaRPr sz="16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D0510778-0AD0-40B7-80D8-31EBB64E1420}"/>
              </a:ext>
            </a:extLst>
          </p:cNvPr>
          <p:cNvSpPr>
            <a:spLocks noGrp="1"/>
          </p:cNvSpPr>
          <p:nvPr/>
        </p:nvSpPr>
        <p:spPr>
          <a:xfrm>
            <a:off x="548640" y="2807208"/>
            <a:ext cx="11094415" cy="1024128"/>
          </a:xfrm>
          <a:prstGeom prst="roundRect">
            <a:avLst>
              <a:gd name="adj" fmla="val 5357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E4A3012-4E05-49E7-A9F0-DAAB8503C35F}"/>
              </a:ext>
            </a:extLst>
          </p:cNvPr>
          <p:cNvSpPr>
            <a:spLocks noGrp="1"/>
          </p:cNvSpPr>
          <p:nvPr/>
        </p:nvSpPr>
        <p:spPr>
          <a:xfrm>
            <a:off x="914400" y="2898648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b="1" dirty="0">
                <a:solidFill>
                  <a:srgbClr val="EB811B"/>
                </a:solidFill>
                <a:latin typeface="Cambria"/>
                <a:ea typeface="Cambria"/>
                <a:cs typeface="Cambria"/>
              </a:rPr>
              <a:t>Credibility</a:t>
            </a:r>
            <a:endParaRPr sz="2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90233085-6D86-489B-B0C8-25A552537CCA}"/>
              </a:ext>
            </a:extLst>
          </p:cNvPr>
          <p:cNvSpPr>
            <a:spLocks noGrp="1"/>
          </p:cNvSpPr>
          <p:nvPr/>
        </p:nvSpPr>
        <p:spPr>
          <a:xfrm>
            <a:off x="4023360" y="2898648"/>
            <a:ext cx="7345375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sz="16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If every commercial friction is </a:t>
            </a:r>
            <a:r>
              <a:rPr sz="1600" dirty="0" err="1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securitised</a:t>
            </a:r>
            <a:r>
              <a:rPr sz="16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, commitments lose meaning and retaliation becomes rational.</a:t>
            </a:r>
            <a:endParaRPr sz="16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A21FFCFE-80AF-4522-87F0-FDE6531F5087}"/>
              </a:ext>
            </a:extLst>
          </p:cNvPr>
          <p:cNvSpPr>
            <a:spLocks noGrp="1"/>
          </p:cNvSpPr>
          <p:nvPr/>
        </p:nvSpPr>
        <p:spPr>
          <a:xfrm>
            <a:off x="548640" y="3922776"/>
            <a:ext cx="11094415" cy="1024128"/>
          </a:xfrm>
          <a:prstGeom prst="roundRect">
            <a:avLst>
              <a:gd name="adj" fmla="val 5357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153488D0-AA9F-49BE-89FB-7D858CFFD5AD}"/>
              </a:ext>
            </a:extLst>
          </p:cNvPr>
          <p:cNvSpPr>
            <a:spLocks noGrp="1"/>
          </p:cNvSpPr>
          <p:nvPr/>
        </p:nvSpPr>
        <p:spPr>
          <a:xfrm>
            <a:off x="914400" y="4014216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b="1" dirty="0">
                <a:solidFill>
                  <a:srgbClr val="EB811B"/>
                </a:solidFill>
                <a:latin typeface="Cambria"/>
                <a:ea typeface="Cambria"/>
                <a:cs typeface="Cambria"/>
              </a:rPr>
              <a:t>Discipline</a:t>
            </a:r>
            <a:endParaRPr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3ECC260-F9DA-4BC7-AD50-B082C31DDAE9}"/>
              </a:ext>
            </a:extLst>
          </p:cNvPr>
          <p:cNvSpPr>
            <a:spLocks noGrp="1"/>
          </p:cNvSpPr>
          <p:nvPr/>
        </p:nvSpPr>
        <p:spPr>
          <a:xfrm>
            <a:off x="4023360" y="4014216"/>
            <a:ext cx="7345375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sz="16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Evidence, proportionality, and review distinguish security policy from opportunistic protectionism.</a:t>
            </a:r>
            <a:endParaRPr sz="16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5CB6CC15-5B44-4F4B-AC1F-B17D2060CDEC}"/>
              </a:ext>
            </a:extLst>
          </p:cNvPr>
          <p:cNvSpPr>
            <a:spLocks noGrp="1"/>
          </p:cNvSpPr>
          <p:nvPr/>
        </p:nvSpPr>
        <p:spPr>
          <a:xfrm>
            <a:off x="548640" y="5038344"/>
            <a:ext cx="11094415" cy="1024128"/>
          </a:xfrm>
          <a:prstGeom prst="roundRect">
            <a:avLst>
              <a:gd name="adj" fmla="val 5357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20336760-D447-4C5B-ACF7-BB499A82264C}"/>
              </a:ext>
            </a:extLst>
          </p:cNvPr>
          <p:cNvSpPr>
            <a:spLocks noGrp="1"/>
          </p:cNvSpPr>
          <p:nvPr/>
        </p:nvSpPr>
        <p:spPr>
          <a:xfrm>
            <a:off x="914400" y="5129784"/>
            <a:ext cx="2926080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2000" b="1" dirty="0">
                <a:solidFill>
                  <a:srgbClr val="EB811B"/>
                </a:solidFill>
                <a:latin typeface="Cambria"/>
                <a:ea typeface="Cambria"/>
                <a:cs typeface="Cambria"/>
              </a:rPr>
              <a:t>The dilemma</a:t>
            </a:r>
            <a:endParaRPr sz="2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F4DA344-77AD-4A76-85BA-1A969D2328BA}"/>
              </a:ext>
            </a:extLst>
          </p:cNvPr>
          <p:cNvSpPr>
            <a:spLocks noGrp="1"/>
          </p:cNvSpPr>
          <p:nvPr/>
        </p:nvSpPr>
        <p:spPr>
          <a:xfrm>
            <a:off x="4023360" y="5129784"/>
            <a:ext cx="7345375" cy="8229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5000"/>
              </a:lnSpc>
              <a:buNone/>
            </a:pPr>
            <a:r>
              <a:rPr sz="16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Rules must be strong enough to constrain abuse, but flexible enough to survive genuine geopolitical shocks.</a:t>
            </a:r>
            <a:endParaRPr sz="16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5ED3813-C87B-4932-A3CD-03E70C79351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DC9C7607-4BA3-B4DC-A00F-2E67A9FCFF7E}" type="slidenum">
              <a:rPr b="0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29730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F4C4339-09D6-4040-8FBE-DF397CBA5D3E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States respond to risk by balancing, bandwagoning, or hedging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7505401-6E94-4F43-8394-AAC4D4FC3D53}"/>
              </a:ext>
            </a:extLst>
          </p:cNvPr>
          <p:cNvSpPr>
            <a:spLocks noGrp="1"/>
          </p:cNvSpPr>
          <p:nvPr/>
        </p:nvSpPr>
        <p:spPr>
          <a:xfrm>
            <a:off x="548640" y="122785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lang="en-US" sz="24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IR</a:t>
            </a:r>
            <a:r>
              <a:rPr sz="240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 strategies of allocation under uncertainty.</a:t>
            </a:r>
            <a:endParaRPr sz="24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D8C9487-315B-4A72-8BE0-458B6800589B}"/>
              </a:ext>
            </a:extLst>
          </p:cNvPr>
          <p:cNvSpPr>
            <a:spLocks noGrp="1"/>
          </p:cNvSpPr>
          <p:nvPr/>
        </p:nvSpPr>
        <p:spPr>
          <a:xfrm>
            <a:off x="548640" y="1920240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B9946C38-191D-4885-881A-9F6DFAAAD675}"/>
              </a:ext>
            </a:extLst>
          </p:cNvPr>
          <p:cNvSpPr>
            <a:spLocks noGrp="1"/>
          </p:cNvSpPr>
          <p:nvPr/>
        </p:nvSpPr>
        <p:spPr>
          <a:xfrm>
            <a:off x="896112" y="2240280"/>
            <a:ext cx="475488" cy="475488"/>
          </a:xfrm>
          <a:prstGeom prst="ellipse">
            <a:avLst/>
          </a:prstGeom>
          <a:solidFill>
            <a:srgbClr val="EB811B"/>
          </a:solidFill>
        </p:spPr>
        <p:txBody>
          <a:bodyPr/>
          <a:lstStyle/>
          <a:p>
            <a:endParaRPr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72FAB53-90AC-46F3-B67F-BDA43A94833E}"/>
              </a:ext>
            </a:extLst>
          </p:cNvPr>
          <p:cNvSpPr>
            <a:spLocks noGrp="1"/>
          </p:cNvSpPr>
          <p:nvPr/>
        </p:nvSpPr>
        <p:spPr>
          <a:xfrm>
            <a:off x="896112" y="22402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1</a:t>
            </a:r>
            <a:endParaRPr sz="17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0CCCD536-4F09-49EC-A9B0-7D921B383183}"/>
              </a:ext>
            </a:extLst>
          </p:cNvPr>
          <p:cNvSpPr>
            <a:spLocks noGrp="1"/>
          </p:cNvSpPr>
          <p:nvPr/>
        </p:nvSpPr>
        <p:spPr>
          <a:xfrm>
            <a:off x="896112" y="2926080"/>
            <a:ext cx="2642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Balancing</a:t>
            </a:r>
            <a:endParaRPr sz="240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B4912A76-25B8-47B0-9022-31B4D57A376A}"/>
              </a:ext>
            </a:extLst>
          </p:cNvPr>
          <p:cNvSpPr>
            <a:spLocks noGrp="1"/>
          </p:cNvSpPr>
          <p:nvPr/>
        </p:nvSpPr>
        <p:spPr>
          <a:xfrm>
            <a:off x="896112" y="3520440"/>
            <a:ext cx="2642616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Shift away from a risky power; coordinate with others to strengthen resilience and bargaining power.</a:t>
            </a:r>
            <a:endParaRPr sz="20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64613D8E-1A0C-45B5-AD6E-1AACD5560B95}"/>
              </a:ext>
            </a:extLst>
          </p:cNvPr>
          <p:cNvSpPr>
            <a:spLocks noGrp="1"/>
          </p:cNvSpPr>
          <p:nvPr/>
        </p:nvSpPr>
        <p:spPr>
          <a:xfrm>
            <a:off x="4206240" y="1920240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1F6B2842-8BEF-487B-A535-E6E3110BF7A3}"/>
              </a:ext>
            </a:extLst>
          </p:cNvPr>
          <p:cNvSpPr>
            <a:spLocks noGrp="1"/>
          </p:cNvSpPr>
          <p:nvPr/>
        </p:nvSpPr>
        <p:spPr>
          <a:xfrm>
            <a:off x="4553712" y="2240280"/>
            <a:ext cx="475488" cy="475488"/>
          </a:xfrm>
          <a:prstGeom prst="ellipse">
            <a:avLst/>
          </a:prstGeom>
          <a:solidFill>
            <a:srgbClr val="EB811B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696F1CA-7AA1-4A86-9299-D0C3A85EBDD5}"/>
              </a:ext>
            </a:extLst>
          </p:cNvPr>
          <p:cNvSpPr>
            <a:spLocks noGrp="1"/>
          </p:cNvSpPr>
          <p:nvPr/>
        </p:nvSpPr>
        <p:spPr>
          <a:xfrm>
            <a:off x="4553712" y="22402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2</a:t>
            </a:r>
            <a:endParaRPr sz="17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D9744BF9-F67F-4568-9B7A-79D9315718CF}"/>
              </a:ext>
            </a:extLst>
          </p:cNvPr>
          <p:cNvSpPr>
            <a:spLocks noGrp="1"/>
          </p:cNvSpPr>
          <p:nvPr/>
        </p:nvSpPr>
        <p:spPr>
          <a:xfrm>
            <a:off x="4553712" y="2926080"/>
            <a:ext cx="2642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400" b="1" dirty="0" err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Bandwagoning</a:t>
            </a:r>
            <a:endParaRPr sz="24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D5424A66-42C0-4048-92A6-8AF3DCD90553}"/>
              </a:ext>
            </a:extLst>
          </p:cNvPr>
          <p:cNvSpPr>
            <a:spLocks noGrp="1"/>
          </p:cNvSpPr>
          <p:nvPr/>
        </p:nvSpPr>
        <p:spPr>
          <a:xfrm>
            <a:off x="4553712" y="3520440"/>
            <a:ext cx="2642616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Align with the stronger power to share gains or avoid punishment—despite doubts about reliability.</a:t>
            </a:r>
            <a:endParaRPr sz="20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3EF78FF6-1291-4BF0-AD67-944D3A86C027}"/>
              </a:ext>
            </a:extLst>
          </p:cNvPr>
          <p:cNvSpPr>
            <a:spLocks noGrp="1"/>
          </p:cNvSpPr>
          <p:nvPr/>
        </p:nvSpPr>
        <p:spPr>
          <a:xfrm>
            <a:off x="7863840" y="1920240"/>
            <a:ext cx="3337560" cy="3611880"/>
          </a:xfrm>
          <a:prstGeom prst="roundRect">
            <a:avLst>
              <a:gd name="adj" fmla="val 1644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FECFB0E1-DED9-4B10-A25F-0410413BCAFF}"/>
              </a:ext>
            </a:extLst>
          </p:cNvPr>
          <p:cNvSpPr>
            <a:spLocks noGrp="1"/>
          </p:cNvSpPr>
          <p:nvPr/>
        </p:nvSpPr>
        <p:spPr>
          <a:xfrm>
            <a:off x="8211312" y="2240280"/>
            <a:ext cx="475488" cy="475488"/>
          </a:xfrm>
          <a:prstGeom prst="ellipse">
            <a:avLst/>
          </a:prstGeom>
          <a:solidFill>
            <a:srgbClr val="EB811B"/>
          </a:solidFill>
        </p:spPr>
        <p:txBody>
          <a:bodyPr/>
          <a:lstStyle/>
          <a:p>
            <a:endParaRPr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CF51BC7E-2D5B-4515-99D1-B6A214883C74}"/>
              </a:ext>
            </a:extLst>
          </p:cNvPr>
          <p:cNvSpPr>
            <a:spLocks noGrp="1"/>
          </p:cNvSpPr>
          <p:nvPr/>
        </p:nvSpPr>
        <p:spPr>
          <a:xfrm>
            <a:off x="8211312" y="2240280"/>
            <a:ext cx="475488" cy="47548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ctr">
              <a:buNone/>
            </a:pPr>
            <a:r>
              <a:rPr sz="17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3</a:t>
            </a:r>
            <a:endParaRPr sz="17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60236F3-5D11-4104-B64E-A30DA60F8D97}"/>
              </a:ext>
            </a:extLst>
          </p:cNvPr>
          <p:cNvSpPr>
            <a:spLocks noGrp="1"/>
          </p:cNvSpPr>
          <p:nvPr/>
        </p:nvSpPr>
        <p:spPr>
          <a:xfrm>
            <a:off x="8211312" y="2926080"/>
            <a:ext cx="2642616" cy="5029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2400" b="1" dirty="0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Hedging</a:t>
            </a:r>
            <a:endParaRPr sz="24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3B3A9AC3-715E-4AB0-9154-D2F7D8E8D807}"/>
              </a:ext>
            </a:extLst>
          </p:cNvPr>
          <p:cNvSpPr>
            <a:spLocks noGrp="1"/>
          </p:cNvSpPr>
          <p:nvPr/>
        </p:nvSpPr>
        <p:spPr>
          <a:xfrm>
            <a:off x="8211312" y="3520440"/>
            <a:ext cx="2642616" cy="18288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sz="2000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Spread commitments across rivals, suppliers, and institutions to preserve options and reduce exposure.</a:t>
            </a:r>
            <a:endParaRPr sz="2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A5261D6-D969-49F1-A2A6-D7D2103901F8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327921A4-25C4-3DB4-06B1-32693CEE2241}" type="slidenum">
              <a:rPr b="0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311329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B8A08B-135E-4AB9-AD63-02514733756D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A policy portfolio should fit the vulnerability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3D0C43F-CD93-4D64-91A2-317B906891BE}"/>
              </a:ext>
            </a:extLst>
          </p:cNvPr>
          <p:cNvSpPr>
            <a:spLocks noGrp="1"/>
          </p:cNvSpPr>
          <p:nvPr/>
        </p:nvSpPr>
        <p:spPr>
          <a:xfrm>
            <a:off x="548640" y="1078992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50" i="1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Different instruments solve different problems—and impose different costs.</a:t>
            </a:r>
            <a:endParaRPr sz="145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24D4FBFF-E4C6-44BC-AF30-7A416A64541C}"/>
              </a:ext>
            </a:extLst>
          </p:cNvPr>
          <p:cNvSpPr>
            <a:spLocks noGrp="1"/>
          </p:cNvSpPr>
          <p:nvPr/>
        </p:nvSpPr>
        <p:spPr>
          <a:xfrm>
            <a:off x="548640" y="1645920"/>
            <a:ext cx="11094415" cy="649224"/>
          </a:xfrm>
          <a:prstGeom prst="rect">
            <a:avLst/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282FB4E-A86D-4CD8-B5EC-85D034290EF5}"/>
              </a:ext>
            </a:extLst>
          </p:cNvPr>
          <p:cNvSpPr>
            <a:spLocks noGrp="1"/>
          </p:cNvSpPr>
          <p:nvPr/>
        </p:nvSpPr>
        <p:spPr>
          <a:xfrm>
            <a:off x="822960" y="171907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 b="1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Diversify suppliers</a:t>
            </a:r>
            <a:endParaRPr sz="135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08E6EAE-40BF-441B-93A9-E43406798264}"/>
              </a:ext>
            </a:extLst>
          </p:cNvPr>
          <p:cNvSpPr>
            <a:spLocks noGrp="1"/>
          </p:cNvSpPr>
          <p:nvPr/>
        </p:nvSpPr>
        <p:spPr>
          <a:xfrm>
            <a:off x="5303520" y="1719072"/>
            <a:ext cx="6613855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Reduce single-point exposure through commercial and diplomatic partnerships.</a:t>
            </a:r>
            <a:endParaRPr sz="130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3CC70C0B-E4A3-429E-864D-861C22832514}"/>
              </a:ext>
            </a:extLst>
          </p:cNvPr>
          <p:cNvSpPr>
            <a:spLocks noGrp="1"/>
          </p:cNvSpPr>
          <p:nvPr/>
        </p:nvSpPr>
        <p:spPr>
          <a:xfrm>
            <a:off x="548640" y="2331720"/>
            <a:ext cx="11094415" cy="649224"/>
          </a:xfrm>
          <a:prstGeom prst="rect">
            <a:avLst/>
          </a:prstGeom>
          <a:solidFill>
            <a:srgbClr val="FAFAFA"/>
          </a:solidFill>
        </p:spPr>
        <p:txBody>
          <a:bodyPr/>
          <a:lstStyle/>
          <a:p>
            <a:endParaRPr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6A407F30-B186-4CC6-886B-31184178362F}"/>
              </a:ext>
            </a:extLst>
          </p:cNvPr>
          <p:cNvSpPr>
            <a:spLocks noGrp="1"/>
          </p:cNvSpPr>
          <p:nvPr/>
        </p:nvSpPr>
        <p:spPr>
          <a:xfrm>
            <a:off x="822960" y="240487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 b="1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Strategic reserves</a:t>
            </a:r>
            <a:endParaRPr sz="135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0EC6F36E-6409-4D23-9B3A-E07D394691D4}"/>
              </a:ext>
            </a:extLst>
          </p:cNvPr>
          <p:cNvSpPr>
            <a:spLocks noGrp="1"/>
          </p:cNvSpPr>
          <p:nvPr/>
        </p:nvSpPr>
        <p:spPr>
          <a:xfrm>
            <a:off x="5303520" y="2404872"/>
            <a:ext cx="6613855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Buy time during temporary disruption; costly if used as a substitute for strategy.</a:t>
            </a:r>
            <a:endParaRPr sz="130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B5FACCE8-8A41-4A6D-B0D8-7B38181CD501}"/>
              </a:ext>
            </a:extLst>
          </p:cNvPr>
          <p:cNvSpPr>
            <a:spLocks noGrp="1"/>
          </p:cNvSpPr>
          <p:nvPr/>
        </p:nvSpPr>
        <p:spPr>
          <a:xfrm>
            <a:off x="548640" y="3017520"/>
            <a:ext cx="11094415" cy="649224"/>
          </a:xfrm>
          <a:prstGeom prst="rect">
            <a:avLst/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9B6B6190-163D-4BBB-B728-EFBC31CBE2F6}"/>
              </a:ext>
            </a:extLst>
          </p:cNvPr>
          <p:cNvSpPr>
            <a:spLocks noGrp="1"/>
          </p:cNvSpPr>
          <p:nvPr/>
        </p:nvSpPr>
        <p:spPr>
          <a:xfrm>
            <a:off x="822960" y="309067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 b="1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Domestic capability</a:t>
            </a:r>
            <a:endParaRPr sz="135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09836AF-6ABA-40FB-9C52-1B9CFE65B293}"/>
              </a:ext>
            </a:extLst>
          </p:cNvPr>
          <p:cNvSpPr>
            <a:spLocks noGrp="1"/>
          </p:cNvSpPr>
          <p:nvPr/>
        </p:nvSpPr>
        <p:spPr>
          <a:xfrm>
            <a:off x="5303520" y="3090672"/>
            <a:ext cx="6613855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Build selected processing, innovation, and workforce capacity where bottlenecks are durable.</a:t>
            </a:r>
            <a:endParaRPr sz="130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AC3FF594-955C-4449-BD92-4FB08C396FB3}"/>
              </a:ext>
            </a:extLst>
          </p:cNvPr>
          <p:cNvSpPr>
            <a:spLocks noGrp="1"/>
          </p:cNvSpPr>
          <p:nvPr/>
        </p:nvSpPr>
        <p:spPr>
          <a:xfrm>
            <a:off x="548640" y="3703320"/>
            <a:ext cx="11094415" cy="649224"/>
          </a:xfrm>
          <a:prstGeom prst="rect">
            <a:avLst/>
          </a:prstGeom>
          <a:solidFill>
            <a:srgbClr val="FAFAFA"/>
          </a:solidFill>
        </p:spPr>
        <p:txBody>
          <a:bodyPr/>
          <a:lstStyle/>
          <a:p>
            <a:endParaRPr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519E24F-6EFF-4F6B-A8B7-4FDF77CB7CBA}"/>
              </a:ext>
            </a:extLst>
          </p:cNvPr>
          <p:cNvSpPr>
            <a:spLocks noGrp="1"/>
          </p:cNvSpPr>
          <p:nvPr/>
        </p:nvSpPr>
        <p:spPr>
          <a:xfrm>
            <a:off x="822960" y="377647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 b="1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Recycling &amp; substitution</a:t>
            </a:r>
            <a:endParaRPr sz="135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7ACCCFC2-7863-42C1-885A-D784ECC67DB7}"/>
              </a:ext>
            </a:extLst>
          </p:cNvPr>
          <p:cNvSpPr>
            <a:spLocks noGrp="1"/>
          </p:cNvSpPr>
          <p:nvPr/>
        </p:nvSpPr>
        <p:spPr>
          <a:xfrm>
            <a:off x="5303520" y="3776472"/>
            <a:ext cx="6613855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Reduce primary-material dependence by redesigning products and recovering inputs.</a:t>
            </a:r>
            <a:endParaRPr sz="130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B5FA4BFE-190D-485B-81D9-6A4C817EB832}"/>
              </a:ext>
            </a:extLst>
          </p:cNvPr>
          <p:cNvSpPr>
            <a:spLocks noGrp="1"/>
          </p:cNvSpPr>
          <p:nvPr/>
        </p:nvSpPr>
        <p:spPr>
          <a:xfrm>
            <a:off x="548640" y="4389120"/>
            <a:ext cx="11094415" cy="649224"/>
          </a:xfrm>
          <a:prstGeom prst="rect">
            <a:avLst/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A2B61122-5091-41BE-A541-7EF86CBBEA4B}"/>
              </a:ext>
            </a:extLst>
          </p:cNvPr>
          <p:cNvSpPr>
            <a:spLocks noGrp="1"/>
          </p:cNvSpPr>
          <p:nvPr/>
        </p:nvSpPr>
        <p:spPr>
          <a:xfrm>
            <a:off x="822960" y="446227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 b="1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Investment screening</a:t>
            </a:r>
            <a:endParaRPr sz="135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6BCB32F7-987D-46E8-ACCF-9D13CD9C9016}"/>
              </a:ext>
            </a:extLst>
          </p:cNvPr>
          <p:cNvSpPr>
            <a:spLocks noGrp="1"/>
          </p:cNvSpPr>
          <p:nvPr/>
        </p:nvSpPr>
        <p:spPr>
          <a:xfrm>
            <a:off x="5303520" y="4462272"/>
            <a:ext cx="6613855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Protect sensitive assets and know-how without blocking productive capital indiscriminately.</a:t>
            </a:r>
            <a:endParaRPr sz="130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A9E25B8C-CF7C-4747-B0F7-DEEDEBF41167}"/>
              </a:ext>
            </a:extLst>
          </p:cNvPr>
          <p:cNvSpPr>
            <a:spLocks noGrp="1"/>
          </p:cNvSpPr>
          <p:nvPr/>
        </p:nvSpPr>
        <p:spPr>
          <a:xfrm>
            <a:off x="548640" y="5074920"/>
            <a:ext cx="11094415" cy="649224"/>
          </a:xfrm>
          <a:prstGeom prst="rect">
            <a:avLst/>
          </a:prstGeom>
          <a:solidFill>
            <a:srgbClr val="FAFAFA"/>
          </a:solidFill>
        </p:spPr>
        <p:txBody>
          <a:bodyPr/>
          <a:lstStyle/>
          <a:p>
            <a:endParaRPr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1A76D12C-5059-4C74-AEBC-A22AE490F924}"/>
              </a:ext>
            </a:extLst>
          </p:cNvPr>
          <p:cNvSpPr>
            <a:spLocks noGrp="1"/>
          </p:cNvSpPr>
          <p:nvPr/>
        </p:nvSpPr>
        <p:spPr>
          <a:xfrm>
            <a:off x="822960" y="514807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 b="1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Rules &amp; coordination</a:t>
            </a:r>
            <a:endParaRPr sz="135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E67432CC-1A00-4DB8-9D18-E56B0B606353}"/>
              </a:ext>
            </a:extLst>
          </p:cNvPr>
          <p:cNvSpPr>
            <a:spLocks noGrp="1"/>
          </p:cNvSpPr>
          <p:nvPr/>
        </p:nvSpPr>
        <p:spPr>
          <a:xfrm>
            <a:off x="5303520" y="5148072"/>
            <a:ext cx="6613855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Use standards, information-sharing, and credible commitments to make interdependence safer.</a:t>
            </a:r>
            <a:endParaRPr sz="1300"/>
          </a:p>
        </p:txBody>
      </p:sp>
      <p:sp>
        <p:nvSpPr>
          <p:cNvPr id="22" name="Shape 20">
            <a:extLst>
              <a:ext uri="{FF2B5EF4-FFF2-40B4-BE49-F238E27FC236}">
                <a16:creationId xmlns:a16="http://schemas.microsoft.com/office/drawing/2014/main" id="{E22E19B5-243A-4509-AAB2-245C84A9306A}"/>
              </a:ext>
            </a:extLst>
          </p:cNvPr>
          <p:cNvSpPr>
            <a:spLocks noGrp="1"/>
          </p:cNvSpPr>
          <p:nvPr/>
        </p:nvSpPr>
        <p:spPr>
          <a:xfrm>
            <a:off x="548640" y="5760720"/>
            <a:ext cx="11094415" cy="649224"/>
          </a:xfrm>
          <a:prstGeom prst="rect">
            <a:avLst/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716C319C-974E-4B5E-8E17-F0E2300152D4}"/>
              </a:ext>
            </a:extLst>
          </p:cNvPr>
          <p:cNvSpPr>
            <a:spLocks noGrp="1"/>
          </p:cNvSpPr>
          <p:nvPr/>
        </p:nvSpPr>
        <p:spPr>
          <a:xfrm>
            <a:off x="822960" y="5833872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50" b="1">
                <a:solidFill>
                  <a:srgbClr val="23373B"/>
                </a:solidFill>
                <a:latin typeface="Calibri"/>
                <a:ea typeface="Calibri"/>
                <a:cs typeface="Calibri"/>
              </a:rPr>
              <a:t>Use tests, not labels</a:t>
            </a:r>
            <a:endParaRPr sz="135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87C495E1-34C2-4650-8967-D7098E5B458B}"/>
              </a:ext>
            </a:extLst>
          </p:cNvPr>
          <p:cNvSpPr>
            <a:spLocks noGrp="1"/>
          </p:cNvSpPr>
          <p:nvPr/>
        </p:nvSpPr>
        <p:spPr>
          <a:xfrm>
            <a:off x="5303520" y="5833872"/>
            <a:ext cx="6613855" cy="5029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30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Ask: essential? concentrated? hard to replace? susceptible to coercion?</a:t>
            </a:r>
            <a:endParaRPr sz="13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18D77F5-4FAE-474C-AD6F-1BBDC81458F6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2DD23107-4986-8758-3A93-3D74F35908CC}" type="slidenum">
              <a:rPr b="0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18472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5189D4F-5EE6-457C-AF81-F126AABD5E4A}"/>
              </a:ext>
            </a:extLst>
          </p:cNvPr>
          <p:cNvSpPr>
            <a:spLocks noGrp="1"/>
          </p:cNvSpPr>
          <p:nvPr/>
        </p:nvSpPr>
        <p:spPr>
          <a:xfrm>
            <a:off x="548640" y="411480"/>
            <a:ext cx="11094415" cy="685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32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15-minute classroom exercise: build an economic-security response</a:t>
            </a:r>
            <a:endParaRPr sz="320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0C33D01-C0E1-4439-9A5C-7139FF690DBA}"/>
              </a:ext>
            </a:extLst>
          </p:cNvPr>
          <p:cNvSpPr>
            <a:spLocks noGrp="1"/>
          </p:cNvSpPr>
          <p:nvPr/>
        </p:nvSpPr>
        <p:spPr>
          <a:xfrm>
            <a:off x="548640" y="1153423"/>
            <a:ext cx="11094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450" i="1" dirty="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Teams: take the perspective of an ASEAN government facing a critical-supply disruption.</a:t>
            </a:r>
            <a:endParaRPr sz="145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4CBEA424-C9B7-4FEF-A0A7-8D4AE8F38E05}"/>
              </a:ext>
            </a:extLst>
          </p:cNvPr>
          <p:cNvSpPr>
            <a:spLocks noGrp="1"/>
          </p:cNvSpPr>
          <p:nvPr/>
        </p:nvSpPr>
        <p:spPr>
          <a:xfrm>
            <a:off x="548640" y="1691640"/>
            <a:ext cx="11094415" cy="795528"/>
          </a:xfrm>
          <a:prstGeom prst="roundRect">
            <a:avLst>
              <a:gd name="adj" fmla="val 6897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30DE50D-A344-4168-A510-B0C21C060880}"/>
              </a:ext>
            </a:extLst>
          </p:cNvPr>
          <p:cNvSpPr>
            <a:spLocks noGrp="1"/>
          </p:cNvSpPr>
          <p:nvPr/>
        </p:nvSpPr>
        <p:spPr>
          <a:xfrm>
            <a:off x="822960" y="1691640"/>
            <a:ext cx="1463040" cy="7955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 b="1">
                <a:solidFill>
                  <a:srgbClr val="EB811B"/>
                </a:solidFill>
                <a:latin typeface="Cambria"/>
                <a:ea typeface="Cambria"/>
                <a:cs typeface="Cambria"/>
              </a:rPr>
              <a:t>1. Diagnose</a:t>
            </a:r>
            <a:endParaRPr sz="160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82C48BE-3018-4CC3-89D6-B5EE734ED7CC}"/>
              </a:ext>
            </a:extLst>
          </p:cNvPr>
          <p:cNvSpPr>
            <a:spLocks noGrp="1"/>
          </p:cNvSpPr>
          <p:nvPr/>
        </p:nvSpPr>
        <p:spPr>
          <a:xfrm>
            <a:off x="2468880" y="176479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Name the dependency</a:t>
            </a:r>
            <a:endParaRPr sz="150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C3AC577-ABF0-47D7-9FC8-099E282C070F}"/>
              </a:ext>
            </a:extLst>
          </p:cNvPr>
          <p:cNvSpPr>
            <a:spLocks noGrp="1"/>
          </p:cNvSpPr>
          <p:nvPr/>
        </p:nvSpPr>
        <p:spPr>
          <a:xfrm>
            <a:off x="2468880" y="2112264"/>
            <a:ext cx="8899855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What is essential? How concentrated is supply? Is the shock accidental, commercial, or coercive?</a:t>
            </a:r>
            <a:endParaRPr sz="125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FD9DA680-45D6-4E8C-92BD-E3B2124C3D3E}"/>
              </a:ext>
            </a:extLst>
          </p:cNvPr>
          <p:cNvSpPr>
            <a:spLocks noGrp="1"/>
          </p:cNvSpPr>
          <p:nvPr/>
        </p:nvSpPr>
        <p:spPr>
          <a:xfrm>
            <a:off x="548640" y="2560320"/>
            <a:ext cx="11094415" cy="795528"/>
          </a:xfrm>
          <a:prstGeom prst="roundRect">
            <a:avLst>
              <a:gd name="adj" fmla="val 6897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43097DD2-B715-459F-9362-DCF29835E30B}"/>
              </a:ext>
            </a:extLst>
          </p:cNvPr>
          <p:cNvSpPr>
            <a:spLocks noGrp="1"/>
          </p:cNvSpPr>
          <p:nvPr/>
        </p:nvSpPr>
        <p:spPr>
          <a:xfrm>
            <a:off x="822960" y="2560320"/>
            <a:ext cx="1463040" cy="7955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 b="1">
                <a:solidFill>
                  <a:srgbClr val="EB811B"/>
                </a:solidFill>
                <a:latin typeface="Cambria"/>
                <a:ea typeface="Cambria"/>
                <a:cs typeface="Cambria"/>
              </a:rPr>
              <a:t>2. Choose</a:t>
            </a:r>
            <a:endParaRPr sz="16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8EA4BDA-6820-4FC2-8410-D796214209C0}"/>
              </a:ext>
            </a:extLst>
          </p:cNvPr>
          <p:cNvSpPr>
            <a:spLocks noGrp="1"/>
          </p:cNvSpPr>
          <p:nvPr/>
        </p:nvSpPr>
        <p:spPr>
          <a:xfrm>
            <a:off x="2468880" y="263347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Build a policy mix</a:t>
            </a:r>
            <a:endParaRPr sz="150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CFA1C6E9-B55A-4734-A817-974F9A456D47}"/>
              </a:ext>
            </a:extLst>
          </p:cNvPr>
          <p:cNvSpPr>
            <a:spLocks noGrp="1"/>
          </p:cNvSpPr>
          <p:nvPr/>
        </p:nvSpPr>
        <p:spPr>
          <a:xfrm>
            <a:off x="2468880" y="2980944"/>
            <a:ext cx="8899855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Select two instruments: diversification, reserve, domestic capability, recycling, screening, rules, or diplomacy.</a:t>
            </a:r>
            <a:endParaRPr sz="125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6084CAAE-757D-4A09-906B-806811F76F30}"/>
              </a:ext>
            </a:extLst>
          </p:cNvPr>
          <p:cNvSpPr>
            <a:spLocks noGrp="1"/>
          </p:cNvSpPr>
          <p:nvPr/>
        </p:nvSpPr>
        <p:spPr>
          <a:xfrm>
            <a:off x="548640" y="3429000"/>
            <a:ext cx="11094415" cy="795528"/>
          </a:xfrm>
          <a:prstGeom prst="roundRect">
            <a:avLst>
              <a:gd name="adj" fmla="val 6897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4CF6543D-D0F9-46A8-A38E-25654FD65330}"/>
              </a:ext>
            </a:extLst>
          </p:cNvPr>
          <p:cNvSpPr>
            <a:spLocks noGrp="1"/>
          </p:cNvSpPr>
          <p:nvPr/>
        </p:nvSpPr>
        <p:spPr>
          <a:xfrm>
            <a:off x="822960" y="3429000"/>
            <a:ext cx="1463040" cy="7955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 b="1">
                <a:solidFill>
                  <a:srgbClr val="EB811B"/>
                </a:solidFill>
                <a:latin typeface="Cambria"/>
                <a:ea typeface="Cambria"/>
                <a:cs typeface="Cambria"/>
              </a:rPr>
              <a:t>3. Position</a:t>
            </a:r>
            <a:endParaRPr sz="16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8536005-D3CC-46BF-8029-A3B8B03AF001}"/>
              </a:ext>
            </a:extLst>
          </p:cNvPr>
          <p:cNvSpPr>
            <a:spLocks noGrp="1"/>
          </p:cNvSpPr>
          <p:nvPr/>
        </p:nvSpPr>
        <p:spPr>
          <a:xfrm>
            <a:off x="2468880" y="350215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Set an external strategy</a:t>
            </a:r>
            <a:endParaRPr sz="150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21035676-BCB5-4D32-A38A-AC63AADB0C6D}"/>
              </a:ext>
            </a:extLst>
          </p:cNvPr>
          <p:cNvSpPr>
            <a:spLocks noGrp="1"/>
          </p:cNvSpPr>
          <p:nvPr/>
        </p:nvSpPr>
        <p:spPr>
          <a:xfrm>
            <a:off x="2468880" y="3849624"/>
            <a:ext cx="8899855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Will you balance, bandwagon, or hedge? Identify the trade-off in cost, autonomy, and resilience.</a:t>
            </a:r>
            <a:endParaRPr sz="125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E7D53BAE-D986-4F45-AE4E-72C010F26CEA}"/>
              </a:ext>
            </a:extLst>
          </p:cNvPr>
          <p:cNvSpPr>
            <a:spLocks noGrp="1"/>
          </p:cNvSpPr>
          <p:nvPr/>
        </p:nvSpPr>
        <p:spPr>
          <a:xfrm>
            <a:off x="548640" y="4297680"/>
            <a:ext cx="11094415" cy="795528"/>
          </a:xfrm>
          <a:prstGeom prst="roundRect">
            <a:avLst>
              <a:gd name="adj" fmla="val 6897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B3C976F7-9469-47F7-BB54-EFC1D8195366}"/>
              </a:ext>
            </a:extLst>
          </p:cNvPr>
          <p:cNvSpPr>
            <a:spLocks noGrp="1"/>
          </p:cNvSpPr>
          <p:nvPr/>
        </p:nvSpPr>
        <p:spPr>
          <a:xfrm>
            <a:off x="822960" y="4297680"/>
            <a:ext cx="1463040" cy="7955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 b="1">
                <a:solidFill>
                  <a:srgbClr val="EB811B"/>
                </a:solidFill>
                <a:latin typeface="Cambria"/>
                <a:ea typeface="Cambria"/>
                <a:cs typeface="Cambria"/>
              </a:rPr>
              <a:t>4. Defend</a:t>
            </a:r>
            <a:endParaRPr sz="16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E4F4A333-1E31-4B9D-AB47-BABD8E00C433}"/>
              </a:ext>
            </a:extLst>
          </p:cNvPr>
          <p:cNvSpPr>
            <a:spLocks noGrp="1"/>
          </p:cNvSpPr>
          <p:nvPr/>
        </p:nvSpPr>
        <p:spPr>
          <a:xfrm>
            <a:off x="2468880" y="437083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Explain the rule test</a:t>
            </a:r>
            <a:endParaRPr sz="150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7F0C1AE-C536-47E6-A90D-9F81C4B640BF}"/>
              </a:ext>
            </a:extLst>
          </p:cNvPr>
          <p:cNvSpPr>
            <a:spLocks noGrp="1"/>
          </p:cNvSpPr>
          <p:nvPr/>
        </p:nvSpPr>
        <p:spPr>
          <a:xfrm>
            <a:off x="2468880" y="4718304"/>
            <a:ext cx="8899855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Why is your response proportionate—and how will you stop it becoming permanent protectionism?</a:t>
            </a:r>
            <a:endParaRPr sz="1250"/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69103B96-1603-4321-BF47-1C1F716EC863}"/>
              </a:ext>
            </a:extLst>
          </p:cNvPr>
          <p:cNvSpPr>
            <a:spLocks noGrp="1"/>
          </p:cNvSpPr>
          <p:nvPr/>
        </p:nvSpPr>
        <p:spPr>
          <a:xfrm>
            <a:off x="548640" y="5166360"/>
            <a:ext cx="11094415" cy="795528"/>
          </a:xfrm>
          <a:prstGeom prst="roundRect">
            <a:avLst>
              <a:gd name="adj" fmla="val 6897"/>
            </a:avLst>
          </a:prstGeom>
          <a:solidFill>
            <a:srgbClr val="EDF0F0"/>
          </a:solidFill>
        </p:spPr>
        <p:txBody>
          <a:bodyPr/>
          <a:lstStyle/>
          <a:p>
            <a:endParaRPr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B71878A-2D2B-42D6-9457-E8EA656D6EDF}"/>
              </a:ext>
            </a:extLst>
          </p:cNvPr>
          <p:cNvSpPr>
            <a:spLocks noGrp="1"/>
          </p:cNvSpPr>
          <p:nvPr/>
        </p:nvSpPr>
        <p:spPr>
          <a:xfrm>
            <a:off x="822960" y="5166360"/>
            <a:ext cx="1463040" cy="79552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600" b="1">
                <a:solidFill>
                  <a:srgbClr val="EB811B"/>
                </a:solidFill>
                <a:latin typeface="Cambria"/>
                <a:ea typeface="Cambria"/>
                <a:cs typeface="Cambria"/>
              </a:rPr>
              <a:t>Report</a:t>
            </a:r>
            <a:endParaRPr sz="16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16A90DC2-30EA-492A-B96E-6493A585CE5B}"/>
              </a:ext>
            </a:extLst>
          </p:cNvPr>
          <p:cNvSpPr>
            <a:spLocks noGrp="1"/>
          </p:cNvSpPr>
          <p:nvPr/>
        </p:nvSpPr>
        <p:spPr>
          <a:xfrm>
            <a:off x="2468880" y="523951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buNone/>
            </a:pPr>
            <a:r>
              <a:rPr sz="1500" b="1">
                <a:solidFill>
                  <a:srgbClr val="23373B"/>
                </a:solidFill>
                <a:latin typeface="Cambria"/>
                <a:ea typeface="Cambria"/>
                <a:cs typeface="Cambria"/>
              </a:rPr>
              <a:t>One-minute briefing</a:t>
            </a:r>
            <a:endParaRPr sz="150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F8A5991-0F36-4EE7-969E-1324CBF779D0}"/>
              </a:ext>
            </a:extLst>
          </p:cNvPr>
          <p:cNvSpPr>
            <a:spLocks noGrp="1"/>
          </p:cNvSpPr>
          <p:nvPr/>
        </p:nvSpPr>
        <p:spPr>
          <a:xfrm>
            <a:off x="2468880" y="5586984"/>
            <a:ext cx="8899855" cy="3840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rgbClr val="4E5E61"/>
                </a:solidFill>
                <a:latin typeface="Calibri"/>
                <a:ea typeface="Calibri"/>
                <a:cs typeface="Calibri"/>
              </a:rPr>
              <a:t>State the risk, your chosen instruments, your strategy, and the cost you accept.</a:t>
            </a:r>
            <a:endParaRPr sz="125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A4E5165A-0834-431A-99B4-D146692A669C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4E5E6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B1C6C81E-38B9-7560-621D-5A151A79DF9B}" type="slidenum">
              <a:rPr b="0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549419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BE48FF3-F2B1-497E-B0F2-C7F26E2AF2BA}"/>
              </a:ext>
            </a:extLst>
          </p:cNvPr>
          <p:cNvSpPr>
            <a:spLocks noGrp="1"/>
          </p:cNvSpPr>
          <p:nvPr/>
        </p:nvSpPr>
        <p:spPr>
          <a:xfrm>
            <a:off x="548640" y="685800"/>
            <a:ext cx="11094415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buNone/>
            </a:pPr>
            <a:r>
              <a:rPr sz="33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Economic security is the practice of keeping interdependence beneficial.</a:t>
            </a:r>
            <a:endParaRPr sz="3300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3DF8DDF-510F-4FC4-99A7-E9886F2E0DC1}"/>
              </a:ext>
            </a:extLst>
          </p:cNvPr>
          <p:cNvSpPr>
            <a:spLocks noGrp="1"/>
          </p:cNvSpPr>
          <p:nvPr/>
        </p:nvSpPr>
        <p:spPr>
          <a:xfrm>
            <a:off x="548640" y="1828800"/>
            <a:ext cx="1508760" cy="0"/>
          </a:xfrm>
          <a:prstGeom prst="line">
            <a:avLst/>
          </a:prstGeom>
          <a:noFill/>
          <a:ln w="38100">
            <a:solidFill>
              <a:srgbClr val="EB811B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B386BFE-7F0A-4900-8CB5-CEBAFA25686C}"/>
              </a:ext>
            </a:extLst>
          </p:cNvPr>
          <p:cNvSpPr>
            <a:spLocks noGrp="1"/>
          </p:cNvSpPr>
          <p:nvPr/>
        </p:nvSpPr>
        <p:spPr>
          <a:xfrm>
            <a:off x="548640" y="210312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dirty="0">
                <a:solidFill>
                  <a:srgbClr val="EB811B"/>
                </a:solidFill>
                <a:latin typeface="Calibri"/>
                <a:ea typeface="Calibri"/>
                <a:cs typeface="Calibri"/>
              </a:rPr>
              <a:t>The starting point: Open markets can generate prosperity, innovation, and access to essential goods.</a:t>
            </a:r>
            <a:endParaRPr sz="2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9ACD452-F6AF-4911-9B21-24CDA1291166}"/>
              </a:ext>
            </a:extLst>
          </p:cNvPr>
          <p:cNvSpPr>
            <a:spLocks noGrp="1"/>
          </p:cNvSpPr>
          <p:nvPr/>
        </p:nvSpPr>
        <p:spPr>
          <a:xfrm>
            <a:off x="548640" y="306324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dirty="0">
                <a:solidFill>
                  <a:srgbClr val="EB811B"/>
                </a:solidFill>
                <a:latin typeface="Calibri"/>
                <a:ea typeface="Calibri"/>
                <a:cs typeface="Calibri"/>
              </a:rPr>
              <a:t>The risk: Concentrated, hard-to-replace dependencies can make that prosperity vulnerable to shocks and coercion.</a:t>
            </a:r>
            <a:endParaRPr sz="2000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5C5A1FD4-8C6D-48A3-8B84-0317593629E6}"/>
              </a:ext>
            </a:extLst>
          </p:cNvPr>
          <p:cNvSpPr>
            <a:spLocks noGrp="1"/>
          </p:cNvSpPr>
          <p:nvPr/>
        </p:nvSpPr>
        <p:spPr>
          <a:xfrm>
            <a:off x="548640" y="402336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dirty="0">
                <a:solidFill>
                  <a:srgbClr val="EB811B"/>
                </a:solidFill>
                <a:latin typeface="Calibri"/>
                <a:ea typeface="Calibri"/>
                <a:cs typeface="Calibri"/>
              </a:rPr>
              <a:t>The task: Build proportionate resilience—through markets, policy, and diplomacy—without treating every dependency as a threat.</a:t>
            </a:r>
            <a:endParaRPr sz="20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18B7DD4D-D295-415D-99AA-673E8EEF2FCD}"/>
              </a:ext>
            </a:extLst>
          </p:cNvPr>
          <p:cNvSpPr>
            <a:spLocks noGrp="1"/>
          </p:cNvSpPr>
          <p:nvPr/>
        </p:nvSpPr>
        <p:spPr>
          <a:xfrm>
            <a:off x="548640" y="4983480"/>
            <a:ext cx="11094415" cy="9601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sz="2000" b="1" dirty="0">
                <a:solidFill>
                  <a:srgbClr val="EB811B"/>
                </a:solidFill>
                <a:latin typeface="Calibri"/>
                <a:ea typeface="Calibri"/>
                <a:cs typeface="Calibri"/>
              </a:rPr>
              <a:t>For ASEAN: Economic diplomacy is the craft of preserving options: diversify relationships, strengthen regional capacity, and keep rules credible.</a:t>
            </a:r>
            <a:endParaRPr sz="2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CA74A819-ECF1-4C3F-8C7B-7827247BBF21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094415" y="6400800"/>
            <a:ext cx="548640" cy="320040"/>
          </a:xfrm>
          <a:prstGeom prst="rect">
            <a:avLst/>
          </a:prstGeom>
        </p:spPr>
        <p:txBody>
          <a:bodyPr/>
          <a:lstStyle>
            <a:lvl1pPr>
              <a:buNone/>
              <a:defRPr sz="1050">
                <a:solidFill>
                  <a:srgbClr val="B9BFC1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>
              <a:buNone/>
            </a:pPr>
            <a:fld id="{CCF91274-D221-1BB4-3BF9-836E3AD31EBE}" type="slidenum">
              <a:rPr b="0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4357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1645</Words>
  <Application>Microsoft Macintosh PowerPoint</Application>
  <DocSecurity>0</DocSecurity>
  <PresentationFormat>Widescreen</PresentationFormat>
  <Paragraphs>217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Danny Quah</cp:lastModifiedBy>
  <cp:revision>17</cp:revision>
  <dcterms:created xsi:type="dcterms:W3CDTF">2026-08-30T07:51:44Z</dcterms:created>
  <dcterms:modified xsi:type="dcterms:W3CDTF">2026-08-30T09:58:25Z</dcterms:modified>
</cp:coreProperties>
</file>