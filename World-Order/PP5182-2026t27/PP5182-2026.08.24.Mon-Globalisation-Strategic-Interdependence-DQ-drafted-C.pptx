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8" r:id="rId15"/>
    <p:sldId id="279" r:id="rId16"/>
    <p:sldId id="269" r:id="rId17"/>
    <p:sldId id="270" r:id="rId18"/>
    <p:sldId id="271" r:id="rId19"/>
    <p:sldId id="272" r:id="rId20"/>
    <p:sldId id="273" r:id="rId21"/>
    <p:sldId id="274" r:id="rId22"/>
    <p:sldId id="275" r:id="rId23"/>
    <p:sldId id="276" r:id="rId24"/>
    <p:sldId id="277"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990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MASTER">
    <p:bg>
      <p:bgPr>
        <a:solidFill>
          <a:srgbClr val="23373B"/>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23373B"/>
        </a:solidFill>
        <a:effectLst/>
      </p:bgPr>
    </p:bg>
    <p:spTree>
      <p:nvGrpSpPr>
        <p:cNvPr id="1" name=""/>
        <p:cNvGrpSpPr/>
        <p:nvPr/>
      </p:nvGrpSpPr>
      <p:grpSpPr>
        <a:xfrm>
          <a:off x="0" y="0"/>
          <a:ext cx="0" cy="0"/>
          <a:chOff x="0" y="0"/>
          <a:chExt cx="0" cy="0"/>
        </a:xfrm>
      </p:grpSpPr>
      <p:sp>
        <p:nvSpPr>
          <p:cNvPr id="2" name="Text 0"/>
          <p:cNvSpPr/>
          <p:nvPr/>
        </p:nvSpPr>
        <p:spPr>
          <a:xfrm>
            <a:off x="548640" y="6400800"/>
            <a:ext cx="7315200" cy="320040"/>
          </a:xfrm>
          <a:prstGeom prst="rect">
            <a:avLst/>
          </a:prstGeom>
          <a:noFill/>
          <a:ln/>
        </p:spPr>
        <p:txBody>
          <a:bodyPr wrap="square" lIns="0" tIns="0" rIns="0" bIns="0" rtlCol="0" anchor="ctr"/>
          <a:lstStyle/>
          <a:p>
            <a:pPr marL="0" indent="0" algn="l">
              <a:buNone/>
            </a:pPr>
            <a:r>
              <a:rPr lang="en-US" sz="1050" dirty="0">
                <a:solidFill>
                  <a:srgbClr val="B9BFC1"/>
                </a:solidFill>
                <a:latin typeface="Calibri" pitchFamily="34" charset="0"/>
                <a:ea typeface="Calibri" pitchFamily="34" charset="-122"/>
                <a:cs typeface="Calibri" pitchFamily="34" charset="-120"/>
              </a:rPr>
              <a:t>PP5182 </a:t>
            </a:r>
            <a:r>
              <a:rPr lang="en-US" sz="1050" dirty="0" err="1">
                <a:solidFill>
                  <a:srgbClr val="B9BFC1"/>
                </a:solidFill>
                <a:latin typeface="Calibri" pitchFamily="34" charset="0"/>
                <a:ea typeface="Calibri" pitchFamily="34" charset="-122"/>
                <a:cs typeface="Calibri" pitchFamily="34" charset="-120"/>
              </a:rPr>
              <a:t>Globalisation</a:t>
            </a:r>
            <a:r>
              <a:rPr lang="en-US" sz="1050" dirty="0">
                <a:solidFill>
                  <a:srgbClr val="B9BFC1"/>
                </a:solidFill>
                <a:latin typeface="Calibri" pitchFamily="34" charset="0"/>
                <a:ea typeface="Calibri" pitchFamily="34" charset="-122"/>
                <a:cs typeface="Calibri" pitchFamily="34" charset="-120"/>
              </a:rPr>
              <a:t> to Strategic Interdependence, 3S  |  Danny Quah</a:t>
            </a:r>
            <a:endParaRPr lang="en-US" sz="105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B9BFC1"/>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48640" y="6400800"/>
            <a:ext cx="7315200" cy="320040"/>
          </a:xfrm>
          <a:prstGeom prst="rect">
            <a:avLst/>
          </a:prstGeom>
          <a:noFill/>
          <a:ln/>
        </p:spPr>
        <p:txBody>
          <a:bodyPr wrap="square" lIns="0" tIns="0" rIns="0" bIns="0" rtlCol="0" anchor="ctr"/>
          <a:lstStyle/>
          <a:p>
            <a:pPr marL="0" indent="0" algn="l">
              <a:buNone/>
            </a:pPr>
            <a:r>
              <a:rPr lang="en-US" sz="1050" dirty="0">
                <a:solidFill>
                  <a:srgbClr val="4E5E61"/>
                </a:solidFill>
                <a:latin typeface="Calibri" pitchFamily="34" charset="0"/>
                <a:ea typeface="Calibri" pitchFamily="34" charset="-122"/>
                <a:cs typeface="Calibri" pitchFamily="34" charset="-120"/>
              </a:rPr>
              <a:t>PP5182 </a:t>
            </a:r>
            <a:r>
              <a:rPr lang="en-US" sz="1050" dirty="0" err="1">
                <a:solidFill>
                  <a:srgbClr val="4E5E61"/>
                </a:solidFill>
                <a:latin typeface="Calibri" pitchFamily="34" charset="0"/>
                <a:ea typeface="Calibri" pitchFamily="34" charset="-122"/>
                <a:cs typeface="Calibri" pitchFamily="34" charset="-120"/>
              </a:rPr>
              <a:t>Globalisation</a:t>
            </a:r>
            <a:r>
              <a:rPr lang="en-US" sz="1050" dirty="0">
                <a:solidFill>
                  <a:srgbClr val="4E5E61"/>
                </a:solidFill>
                <a:latin typeface="Calibri" pitchFamily="34" charset="0"/>
                <a:ea typeface="Calibri" pitchFamily="34" charset="-122"/>
                <a:cs typeface="Calibri" pitchFamily="34" charset="-120"/>
              </a:rPr>
              <a:t> to Strategic Interdependence, 3S  |  Danny Quah</a:t>
            </a:r>
            <a:endParaRPr lang="en-US" sz="105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4E5E61"/>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HITE_MASTER">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00800"/>
            <a:ext cx="7315200" cy="320040"/>
          </a:xfrm>
          <a:prstGeom prst="rect">
            <a:avLst/>
          </a:prstGeom>
          <a:noFill/>
          <a:ln/>
        </p:spPr>
        <p:txBody>
          <a:bodyPr wrap="square" lIns="0" tIns="0" rIns="0" bIns="0" rtlCol="0" anchor="ctr"/>
          <a:lstStyle/>
          <a:p>
            <a:pPr marL="0" indent="0" algn="l">
              <a:buNone/>
            </a:pPr>
            <a:r>
              <a:rPr lang="en-US" sz="1050" dirty="0">
                <a:solidFill>
                  <a:srgbClr val="4E5E61"/>
                </a:solidFill>
                <a:latin typeface="Calibri" pitchFamily="34" charset="0"/>
                <a:ea typeface="Calibri" pitchFamily="34" charset="-122"/>
                <a:cs typeface="Calibri" pitchFamily="34" charset="-120"/>
              </a:rPr>
              <a:t>PP5182 Geoeconomics  |  Danny Quah</a:t>
            </a:r>
            <a:endParaRPr lang="en-US" sz="105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4E5E61"/>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B9BFC1"/>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2377440"/>
            <a:ext cx="9601200" cy="100584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PP5182 </a:t>
            </a:r>
            <a:r>
              <a:rPr lang="en-US" sz="4000" b="1" dirty="0" err="1">
                <a:solidFill>
                  <a:srgbClr val="FFFFFF"/>
                </a:solidFill>
                <a:latin typeface="Cambria" pitchFamily="34" charset="0"/>
                <a:ea typeface="Cambria" pitchFamily="34" charset="-122"/>
                <a:cs typeface="Cambria" pitchFamily="34" charset="-120"/>
              </a:rPr>
              <a:t>Globalisation</a:t>
            </a:r>
            <a:r>
              <a:rPr lang="en-US" sz="4000" b="1" dirty="0">
                <a:solidFill>
                  <a:srgbClr val="FFFFFF"/>
                </a:solidFill>
                <a:latin typeface="Cambria" pitchFamily="34" charset="0"/>
                <a:ea typeface="Cambria" pitchFamily="34" charset="-122"/>
                <a:cs typeface="Cambria" pitchFamily="34" charset="-120"/>
              </a:rPr>
              <a:t> to Strategic Interdependence, 3S</a:t>
            </a:r>
            <a:endParaRPr lang="en-US" sz="4000" dirty="0"/>
          </a:p>
        </p:txBody>
      </p:sp>
      <p:sp>
        <p:nvSpPr>
          <p:cNvPr id="4" name="Shape 2"/>
          <p:cNvSpPr/>
          <p:nvPr/>
        </p:nvSpPr>
        <p:spPr>
          <a:xfrm>
            <a:off x="548640" y="4133088"/>
            <a:ext cx="1508760" cy="0"/>
          </a:xfrm>
          <a:prstGeom prst="line">
            <a:avLst/>
          </a:prstGeom>
          <a:noFill/>
          <a:ln w="38100">
            <a:solidFill>
              <a:srgbClr val="EB811B"/>
            </a:solidFill>
            <a:prstDash val="solid"/>
          </a:ln>
        </p:spPr>
        <p:txBody>
          <a:bodyPr/>
          <a:lstStyle/>
          <a:p>
            <a:endParaRPr lang="en-US"/>
          </a:p>
        </p:txBody>
      </p:sp>
      <p:sp>
        <p:nvSpPr>
          <p:cNvPr id="5" name="Text 3"/>
          <p:cNvSpPr/>
          <p:nvPr/>
        </p:nvSpPr>
        <p:spPr>
          <a:xfrm>
            <a:off x="548640" y="4407408"/>
            <a:ext cx="731520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Danny Quah</a:t>
            </a:r>
            <a:endParaRPr lang="en-US" sz="1400" dirty="0"/>
          </a:p>
        </p:txBody>
      </p:sp>
      <p:sp>
        <p:nvSpPr>
          <p:cNvPr id="6" name="Text 4"/>
          <p:cNvSpPr/>
          <p:nvPr/>
        </p:nvSpPr>
        <p:spPr>
          <a:xfrm>
            <a:off x="548640" y="4736592"/>
            <a:ext cx="8229600" cy="502920"/>
          </a:xfrm>
          <a:prstGeom prst="rect">
            <a:avLst/>
          </a:prstGeom>
          <a:noFill/>
          <a:ln/>
        </p:spPr>
        <p:txBody>
          <a:bodyPr wrap="square" lIns="0" tIns="0" rIns="0" bIns="0" rtlCol="0" anchor="ctr"/>
          <a:lstStyle/>
          <a:p>
            <a:pPr marL="0" indent="0" algn="l">
              <a:lnSpc>
                <a:spcPct val="120000"/>
              </a:lnSpc>
              <a:buNone/>
            </a:pPr>
            <a:r>
              <a:rPr lang="en-US" sz="1250" dirty="0">
                <a:solidFill>
                  <a:srgbClr val="B9BFC1"/>
                </a:solidFill>
                <a:latin typeface="Calibri" pitchFamily="34" charset="0"/>
                <a:ea typeface="Calibri" pitchFamily="34" charset="-122"/>
                <a:cs typeface="Calibri" pitchFamily="34" charset="-120"/>
              </a:rPr>
              <a:t>Li Ka Shing Professor in Economics, Lee Kuan Yew School of Public Policy, NUS</a:t>
            </a:r>
            <a:endParaRPr lang="en-US" sz="1250" dirty="0"/>
          </a:p>
          <a:p>
            <a:pPr marL="0" indent="0" algn="l">
              <a:lnSpc>
                <a:spcPct val="120000"/>
              </a:lnSpc>
              <a:buNone/>
            </a:pPr>
            <a:r>
              <a:rPr lang="en-US" sz="1250" dirty="0">
                <a:solidFill>
                  <a:srgbClr val="B9BFC1"/>
                </a:solidFill>
                <a:latin typeface="Calibri" pitchFamily="34" charset="0"/>
                <a:ea typeface="Calibri" pitchFamily="34" charset="-122"/>
                <a:cs typeface="Calibri" pitchFamily="34" charset="-120"/>
              </a:rPr>
              <a:t>2026.08.24.Mon</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148840"/>
            <a:ext cx="9601200" cy="365760"/>
          </a:xfrm>
          <a:prstGeom prst="rect">
            <a:avLst/>
          </a:prstGeom>
          <a:noFill/>
          <a:ln/>
        </p:spPr>
        <p:txBody>
          <a:bodyPr wrap="square" lIns="0" tIns="0" rIns="0" bIns="0" rtlCol="0" anchor="ctr"/>
          <a:lstStyle/>
          <a:p>
            <a:pPr marL="0" indent="0" algn="l">
              <a:buNone/>
            </a:pPr>
            <a:r>
              <a:rPr lang="en-US" sz="1300" b="1" kern="0" spc="200" dirty="0">
                <a:solidFill>
                  <a:srgbClr val="EB811B"/>
                </a:solidFill>
                <a:latin typeface="Calibri" pitchFamily="34" charset="0"/>
                <a:ea typeface="Calibri" pitchFamily="34" charset="-122"/>
                <a:cs typeface="Calibri" pitchFamily="34" charset="-120"/>
              </a:rPr>
              <a:t>ONE</a:t>
            </a:r>
            <a:endParaRPr lang="en-US" sz="1300" dirty="0"/>
          </a:p>
        </p:txBody>
      </p:sp>
      <p:sp>
        <p:nvSpPr>
          <p:cNvPr id="3" name="Text 1"/>
          <p:cNvSpPr/>
          <p:nvPr/>
        </p:nvSpPr>
        <p:spPr>
          <a:xfrm>
            <a:off x="548640" y="2560320"/>
            <a:ext cx="10058400" cy="1463040"/>
          </a:xfrm>
          <a:prstGeom prst="rect">
            <a:avLst/>
          </a:prstGeom>
          <a:noFill/>
          <a:ln/>
        </p:spPr>
        <p:txBody>
          <a:bodyPr wrap="square" lIns="0" tIns="0" rIns="0" bIns="0" rtlCol="0" anchor="t"/>
          <a:lstStyle/>
          <a:p>
            <a:pPr marL="0" indent="0" algn="l">
              <a:buNone/>
            </a:pPr>
            <a:r>
              <a:rPr lang="en-US" sz="3600" b="1" dirty="0">
                <a:solidFill>
                  <a:srgbClr val="FFFFFF"/>
                </a:solidFill>
                <a:latin typeface="Cambria" pitchFamily="34" charset="0"/>
                <a:ea typeface="Cambria" pitchFamily="34" charset="-122"/>
                <a:cs typeface="Cambria" pitchFamily="34" charset="-120"/>
              </a:rPr>
              <a:t>Globalisation</a:t>
            </a:r>
            <a:endParaRPr lang="en-US" sz="3600" dirty="0"/>
          </a:p>
        </p:txBody>
      </p:sp>
      <p:sp>
        <p:nvSpPr>
          <p:cNvPr id="4" name="Shape 2"/>
          <p:cNvSpPr/>
          <p:nvPr/>
        </p:nvSpPr>
        <p:spPr>
          <a:xfrm>
            <a:off x="548640" y="3822192"/>
            <a:ext cx="1508760" cy="0"/>
          </a:xfrm>
          <a:prstGeom prst="line">
            <a:avLst/>
          </a:prstGeom>
          <a:noFill/>
          <a:ln w="38100">
            <a:solidFill>
              <a:srgbClr val="EB811B"/>
            </a:solidFill>
            <a:prstDash val="solid"/>
          </a:ln>
        </p:spPr>
        <p:txBody>
          <a:bodyPr/>
          <a:lstStyle/>
          <a:p>
            <a:endParaRPr lang="en-US"/>
          </a:p>
        </p:txBody>
      </p:sp>
      <p:sp>
        <p:nvSpPr>
          <p:cNvPr id="5" name="Text 3"/>
          <p:cNvSpPr/>
          <p:nvPr/>
        </p:nvSpPr>
        <p:spPr>
          <a:xfrm>
            <a:off x="548640" y="4023360"/>
            <a:ext cx="8686800" cy="731520"/>
          </a:xfrm>
          <a:prstGeom prst="rect">
            <a:avLst/>
          </a:prstGeom>
          <a:noFill/>
          <a:ln/>
        </p:spPr>
        <p:txBody>
          <a:bodyPr wrap="square" lIns="0" tIns="0" rIns="0" bIns="0" rtlCol="0" anchor="ctr"/>
          <a:lstStyle/>
          <a:p>
            <a:pPr marL="0" indent="0" algn="l">
              <a:buNone/>
            </a:pPr>
            <a:r>
              <a:rPr lang="en-US" sz="1500" i="1" dirty="0">
                <a:solidFill>
                  <a:srgbClr val="B9BFC1"/>
                </a:solidFill>
                <a:latin typeface="Calibri" pitchFamily="34" charset="0"/>
                <a:ea typeface="Calibri" pitchFamily="34" charset="-122"/>
                <a:cs typeface="Calibri" pitchFamily="34" charset="-120"/>
              </a:rPr>
              <a:t>The postwar consensus: efficiency, comparative advantage, political convergence.</a:t>
            </a:r>
            <a:endParaRPr lang="en-US" sz="150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B9BFC1"/>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Free Trade as Cold-War Strategy</a:t>
            </a:r>
            <a:endParaRPr lang="en-US" sz="3200" dirty="0"/>
          </a:p>
        </p:txBody>
      </p:sp>
      <p:sp>
        <p:nvSpPr>
          <p:cNvPr id="3" name="Text 1"/>
          <p:cNvSpPr/>
          <p:nvPr/>
        </p:nvSpPr>
        <p:spPr>
          <a:xfrm>
            <a:off x="548640" y="1078992"/>
            <a:ext cx="11094415" cy="365760"/>
          </a:xfrm>
          <a:prstGeom prst="rect">
            <a:avLst/>
          </a:prstGeom>
          <a:noFill/>
          <a:ln/>
        </p:spPr>
        <p:txBody>
          <a:bodyPr wrap="square" lIns="0" tIns="0" rIns="0" bIns="0" rtlCol="0" anchor="ctr"/>
          <a:lstStyle/>
          <a:p>
            <a:pPr marL="0" indent="0" algn="l">
              <a:buNone/>
            </a:pPr>
            <a:r>
              <a:rPr lang="en-US" sz="1450" i="1" dirty="0">
                <a:solidFill>
                  <a:srgbClr val="4E5E61"/>
                </a:solidFill>
                <a:latin typeface="Calibri" pitchFamily="34" charset="0"/>
                <a:ea typeface="Calibri" pitchFamily="34" charset="-122"/>
                <a:cs typeface="Calibri" pitchFamily="34" charset="-120"/>
              </a:rPr>
              <a:t>The postwar architects saw open markets as ideological ammunition.</a:t>
            </a:r>
            <a:endParaRPr lang="en-US" sz="1450" dirty="0"/>
          </a:p>
        </p:txBody>
      </p:sp>
      <p:sp>
        <p:nvSpPr>
          <p:cNvPr id="4" name="Shape 2"/>
          <p:cNvSpPr/>
          <p:nvPr/>
        </p:nvSpPr>
        <p:spPr>
          <a:xfrm>
            <a:off x="548640" y="1737360"/>
            <a:ext cx="5166360" cy="3794760"/>
          </a:xfrm>
          <a:prstGeom prst="roundRect">
            <a:avLst>
              <a:gd name="adj" fmla="val 1446"/>
            </a:avLst>
          </a:prstGeom>
          <a:solidFill>
            <a:srgbClr val="EDF0F0"/>
          </a:solidFill>
          <a:ln/>
        </p:spPr>
        <p:txBody>
          <a:bodyPr/>
          <a:lstStyle/>
          <a:p>
            <a:endParaRPr lang="en-US"/>
          </a:p>
        </p:txBody>
      </p:sp>
      <p:sp>
        <p:nvSpPr>
          <p:cNvPr id="5" name="Shape 3"/>
          <p:cNvSpPr/>
          <p:nvPr/>
        </p:nvSpPr>
        <p:spPr>
          <a:xfrm>
            <a:off x="914400" y="2103120"/>
            <a:ext cx="640080" cy="0"/>
          </a:xfrm>
          <a:prstGeom prst="line">
            <a:avLst/>
          </a:prstGeom>
          <a:noFill/>
          <a:ln w="38100">
            <a:solidFill>
              <a:srgbClr val="EB811B"/>
            </a:solidFill>
            <a:prstDash val="solid"/>
          </a:ln>
        </p:spPr>
        <p:txBody>
          <a:bodyPr/>
          <a:lstStyle/>
          <a:p>
            <a:endParaRPr lang="en-US"/>
          </a:p>
        </p:txBody>
      </p:sp>
      <p:sp>
        <p:nvSpPr>
          <p:cNvPr id="6" name="Text 4"/>
          <p:cNvSpPr/>
          <p:nvPr/>
        </p:nvSpPr>
        <p:spPr>
          <a:xfrm>
            <a:off x="914400" y="2286000"/>
            <a:ext cx="4434840" cy="365760"/>
          </a:xfrm>
          <a:prstGeom prst="rect">
            <a:avLst/>
          </a:prstGeom>
          <a:noFill/>
          <a:ln/>
        </p:spPr>
        <p:txBody>
          <a:bodyPr wrap="square" lIns="0" tIns="0" rIns="0" bIns="0" rtlCol="0" anchor="ctr"/>
          <a:lstStyle/>
          <a:p>
            <a:pPr marL="0" indent="0" algn="l">
              <a:buNone/>
            </a:pPr>
            <a:r>
              <a:rPr lang="en-US" sz="1250" b="1" dirty="0">
                <a:solidFill>
                  <a:srgbClr val="23373B"/>
                </a:solidFill>
                <a:latin typeface="Calibri" pitchFamily="34" charset="0"/>
                <a:ea typeface="Calibri" pitchFamily="34" charset="-122"/>
                <a:cs typeface="Calibri" pitchFamily="34" charset="-120"/>
              </a:rPr>
              <a:t>Eisenhower administration, 1956</a:t>
            </a:r>
            <a:endParaRPr lang="en-US" sz="1250" dirty="0"/>
          </a:p>
        </p:txBody>
      </p:sp>
      <p:sp>
        <p:nvSpPr>
          <p:cNvPr id="7" name="Text 5"/>
          <p:cNvSpPr/>
          <p:nvPr/>
        </p:nvSpPr>
        <p:spPr>
          <a:xfrm>
            <a:off x="914400" y="2697480"/>
            <a:ext cx="4434840" cy="2468880"/>
          </a:xfrm>
          <a:prstGeom prst="rect">
            <a:avLst/>
          </a:prstGeom>
          <a:noFill/>
          <a:ln/>
        </p:spPr>
        <p:txBody>
          <a:bodyPr wrap="square" lIns="0" tIns="0" rIns="0" bIns="0" rtlCol="0" anchor="t"/>
          <a:lstStyle/>
          <a:p>
            <a:pPr marL="0" indent="0" algn="l">
              <a:lnSpc>
                <a:spcPct val="125000"/>
              </a:lnSpc>
              <a:buNone/>
            </a:pPr>
            <a:r>
              <a:rPr lang="en-US" sz="1650" i="1" dirty="0">
                <a:solidFill>
                  <a:srgbClr val="23373B"/>
                </a:solidFill>
                <a:latin typeface="Cambria" pitchFamily="34" charset="0"/>
                <a:ea typeface="Cambria" pitchFamily="34" charset="-122"/>
                <a:cs typeface="Cambria" pitchFamily="34" charset="-120"/>
              </a:rPr>
              <a:t>“Failure on the part of the US, the world’s greatest trading nation, to join in setting up this organization would cause great dismay and disappointment throughout the free world at a time when the Soviet Union is stepping up its foreign economic efforts.”</a:t>
            </a:r>
            <a:endParaRPr lang="en-US" sz="1650" dirty="0"/>
          </a:p>
        </p:txBody>
      </p:sp>
      <p:sp>
        <p:nvSpPr>
          <p:cNvPr id="8" name="Text 6"/>
          <p:cNvSpPr/>
          <p:nvPr/>
        </p:nvSpPr>
        <p:spPr>
          <a:xfrm>
            <a:off x="914400" y="5193792"/>
            <a:ext cx="4434840" cy="274320"/>
          </a:xfrm>
          <a:prstGeom prst="rect">
            <a:avLst/>
          </a:prstGeom>
          <a:noFill/>
          <a:ln/>
        </p:spPr>
        <p:txBody>
          <a:bodyPr wrap="square" lIns="0" tIns="0" rIns="0" bIns="0" rtlCol="0" anchor="ctr"/>
          <a:lstStyle/>
          <a:p>
            <a:pPr marL="0" indent="0" algn="l">
              <a:buNone/>
            </a:pPr>
            <a:r>
              <a:rPr lang="en-US" sz="1100" dirty="0">
                <a:solidFill>
                  <a:srgbClr val="4E5E61"/>
                </a:solidFill>
                <a:latin typeface="Calibri" pitchFamily="34" charset="0"/>
                <a:ea typeface="Calibri" pitchFamily="34" charset="-122"/>
                <a:cs typeface="Calibri" pitchFamily="34" charset="-120"/>
              </a:rPr>
              <a:t>On the Organization for Trade Cooperation / GATT</a:t>
            </a:r>
            <a:endParaRPr lang="en-US" sz="1100" dirty="0"/>
          </a:p>
        </p:txBody>
      </p:sp>
      <p:sp>
        <p:nvSpPr>
          <p:cNvPr id="9" name="Shape 7"/>
          <p:cNvSpPr/>
          <p:nvPr/>
        </p:nvSpPr>
        <p:spPr>
          <a:xfrm>
            <a:off x="6080760" y="1737360"/>
            <a:ext cx="5166360" cy="3794760"/>
          </a:xfrm>
          <a:prstGeom prst="roundRect">
            <a:avLst>
              <a:gd name="adj" fmla="val 1446"/>
            </a:avLst>
          </a:prstGeom>
          <a:solidFill>
            <a:srgbClr val="EDF0F0"/>
          </a:solidFill>
          <a:ln/>
        </p:spPr>
        <p:txBody>
          <a:bodyPr/>
          <a:lstStyle/>
          <a:p>
            <a:endParaRPr lang="en-US"/>
          </a:p>
        </p:txBody>
      </p:sp>
      <p:sp>
        <p:nvSpPr>
          <p:cNvPr id="10" name="Shape 8"/>
          <p:cNvSpPr/>
          <p:nvPr/>
        </p:nvSpPr>
        <p:spPr>
          <a:xfrm>
            <a:off x="6446520" y="2103120"/>
            <a:ext cx="640080" cy="0"/>
          </a:xfrm>
          <a:prstGeom prst="line">
            <a:avLst/>
          </a:prstGeom>
          <a:noFill/>
          <a:ln w="38100">
            <a:solidFill>
              <a:srgbClr val="EB811B"/>
            </a:solidFill>
            <a:prstDash val="solid"/>
          </a:ln>
        </p:spPr>
        <p:txBody>
          <a:bodyPr/>
          <a:lstStyle/>
          <a:p>
            <a:endParaRPr lang="en-US"/>
          </a:p>
        </p:txBody>
      </p:sp>
      <p:sp>
        <p:nvSpPr>
          <p:cNvPr id="11" name="Text 9"/>
          <p:cNvSpPr/>
          <p:nvPr/>
        </p:nvSpPr>
        <p:spPr>
          <a:xfrm>
            <a:off x="6446520" y="2286000"/>
            <a:ext cx="4434840" cy="365760"/>
          </a:xfrm>
          <a:prstGeom prst="rect">
            <a:avLst/>
          </a:prstGeom>
          <a:noFill/>
          <a:ln/>
        </p:spPr>
        <p:txBody>
          <a:bodyPr wrap="square" lIns="0" tIns="0" rIns="0" bIns="0" rtlCol="0" anchor="ctr"/>
          <a:lstStyle/>
          <a:p>
            <a:pPr marL="0" indent="0" algn="l">
              <a:buNone/>
            </a:pPr>
            <a:r>
              <a:rPr lang="en-US" sz="1250" b="1" dirty="0">
                <a:solidFill>
                  <a:srgbClr val="23373B"/>
                </a:solidFill>
                <a:latin typeface="Calibri" pitchFamily="34" charset="0"/>
                <a:ea typeface="Calibri" pitchFamily="34" charset="-122"/>
                <a:cs typeface="Calibri" pitchFamily="34" charset="-120"/>
              </a:rPr>
              <a:t>John F. Kennedy, Trade Expansion Act, 1962</a:t>
            </a:r>
            <a:endParaRPr lang="en-US" sz="1250" dirty="0"/>
          </a:p>
        </p:txBody>
      </p:sp>
      <p:sp>
        <p:nvSpPr>
          <p:cNvPr id="12" name="Text 10"/>
          <p:cNvSpPr/>
          <p:nvPr/>
        </p:nvSpPr>
        <p:spPr>
          <a:xfrm>
            <a:off x="6446520" y="2697480"/>
            <a:ext cx="4434840" cy="2468880"/>
          </a:xfrm>
          <a:prstGeom prst="rect">
            <a:avLst/>
          </a:prstGeom>
          <a:noFill/>
          <a:ln/>
        </p:spPr>
        <p:txBody>
          <a:bodyPr wrap="square" lIns="0" tIns="0" rIns="0" bIns="0" rtlCol="0" anchor="ctr"/>
          <a:lstStyle/>
          <a:p>
            <a:pPr marL="0" indent="0" algn="l">
              <a:lnSpc>
                <a:spcPct val="130000"/>
              </a:lnSpc>
              <a:buNone/>
            </a:pPr>
            <a:r>
              <a:rPr lang="en-US" sz="2000" i="1" dirty="0">
                <a:solidFill>
                  <a:srgbClr val="23373B"/>
                </a:solidFill>
                <a:latin typeface="Cambria" pitchFamily="34" charset="0"/>
                <a:ea typeface="Cambria" pitchFamily="34" charset="-122"/>
                <a:cs typeface="Cambria" pitchFamily="34" charset="-120"/>
              </a:rPr>
              <a:t>“A vital expanding economy in the free world is a strong counter to the threat of the world Communist movement.”</a:t>
            </a:r>
            <a:endParaRPr lang="en-US" sz="2000" dirty="0"/>
          </a:p>
        </p:txBody>
      </p:sp>
      <p:sp>
        <p:nvSpPr>
          <p:cNvPr id="13" name="Text 11"/>
          <p:cNvSpPr/>
          <p:nvPr/>
        </p:nvSpPr>
        <p:spPr>
          <a:xfrm>
            <a:off x="6446520" y="5193792"/>
            <a:ext cx="4434840" cy="274320"/>
          </a:xfrm>
          <a:prstGeom prst="rect">
            <a:avLst/>
          </a:prstGeom>
          <a:noFill/>
          <a:ln/>
        </p:spPr>
        <p:txBody>
          <a:bodyPr wrap="square" lIns="0" tIns="0" rIns="0" bIns="0" rtlCol="0" anchor="ctr"/>
          <a:lstStyle/>
          <a:p>
            <a:pPr marL="0" indent="0" algn="l">
              <a:buNone/>
            </a:pPr>
            <a:r>
              <a:rPr lang="en-US" sz="1100" i="1" dirty="0">
                <a:solidFill>
                  <a:srgbClr val="4E5E61"/>
                </a:solidFill>
                <a:latin typeface="Calibri" pitchFamily="34" charset="0"/>
                <a:ea typeface="Calibri" pitchFamily="34" charset="-122"/>
                <a:cs typeface="Calibri" pitchFamily="34" charset="-120"/>
              </a:rPr>
              <a:t>Free trade as containment strategy, not just economics.</a:t>
            </a:r>
            <a:endParaRPr lang="en-US" sz="110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4E5E61"/>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On the Free Market</a:t>
            </a:r>
            <a:endParaRPr lang="en-US" sz="3200" dirty="0"/>
          </a:p>
        </p:txBody>
      </p:sp>
      <p:sp>
        <p:nvSpPr>
          <p:cNvPr id="3" name="Text 1"/>
          <p:cNvSpPr/>
          <p:nvPr/>
        </p:nvSpPr>
        <p:spPr>
          <a:xfrm>
            <a:off x="548640" y="1078992"/>
            <a:ext cx="11094415" cy="365760"/>
          </a:xfrm>
          <a:prstGeom prst="rect">
            <a:avLst/>
          </a:prstGeom>
          <a:noFill/>
          <a:ln/>
        </p:spPr>
        <p:txBody>
          <a:bodyPr wrap="square" lIns="0" tIns="0" rIns="0" bIns="0" rtlCol="0" anchor="ctr"/>
          <a:lstStyle/>
          <a:p>
            <a:pPr marL="0" indent="0" algn="l">
              <a:buNone/>
            </a:pPr>
            <a:r>
              <a:rPr lang="en-US" sz="1450" i="1" dirty="0">
                <a:solidFill>
                  <a:srgbClr val="4E5E61"/>
                </a:solidFill>
                <a:latin typeface="Calibri" pitchFamily="34" charset="0"/>
                <a:ea typeface="Calibri" pitchFamily="34" charset="-122"/>
                <a:cs typeface="Calibri" pitchFamily="34" charset="-120"/>
              </a:rPr>
              <a:t>Milton Friedman, Capitalism and Freedom (1962)</a:t>
            </a:r>
            <a:endParaRPr lang="en-US" sz="1450" dirty="0"/>
          </a:p>
        </p:txBody>
      </p:sp>
      <p:sp>
        <p:nvSpPr>
          <p:cNvPr id="4" name="Shape 2"/>
          <p:cNvSpPr/>
          <p:nvPr/>
        </p:nvSpPr>
        <p:spPr>
          <a:xfrm>
            <a:off x="548640" y="1737360"/>
            <a:ext cx="11094415" cy="3840480"/>
          </a:xfrm>
          <a:prstGeom prst="roundRect">
            <a:avLst>
              <a:gd name="adj" fmla="val 1429"/>
            </a:avLst>
          </a:prstGeom>
          <a:solidFill>
            <a:srgbClr val="2F4246"/>
          </a:solidFill>
          <a:ln/>
        </p:spPr>
        <p:txBody>
          <a:bodyPr/>
          <a:lstStyle/>
          <a:p>
            <a:endParaRPr lang="en-US"/>
          </a:p>
        </p:txBody>
      </p:sp>
      <p:sp>
        <p:nvSpPr>
          <p:cNvPr id="5" name="Text 3"/>
          <p:cNvSpPr/>
          <p:nvPr/>
        </p:nvSpPr>
        <p:spPr>
          <a:xfrm>
            <a:off x="1143000" y="2057400"/>
            <a:ext cx="9905695" cy="3017520"/>
          </a:xfrm>
          <a:prstGeom prst="rect">
            <a:avLst/>
          </a:prstGeom>
          <a:noFill/>
          <a:ln/>
        </p:spPr>
        <p:txBody>
          <a:bodyPr wrap="square" lIns="0" tIns="0" rIns="0" bIns="0" rtlCol="0" anchor="ctr"/>
          <a:lstStyle/>
          <a:p>
            <a:pPr marL="0" indent="0" algn="l">
              <a:lnSpc>
                <a:spcPct val="125000"/>
              </a:lnSpc>
              <a:buNone/>
            </a:pPr>
            <a:r>
              <a:rPr lang="en-US" sz="2200" i="1" dirty="0">
                <a:solidFill>
                  <a:srgbClr val="FFFFFF"/>
                </a:solidFill>
                <a:latin typeface="Cambria" pitchFamily="34" charset="0"/>
                <a:ea typeface="Cambria" pitchFamily="34" charset="-122"/>
                <a:cs typeface="Cambria" pitchFamily="34" charset="-120"/>
              </a:rPr>
              <a:t>“Our tariffs hurt us as well as other countries. We would be benefited by dispensing with our tariffs even if other countries did not. We would of course be benefited even more if they reduce theirs but our benefiting does not require that they reduce tariffs. Self-interests coincide and do not conflict.”</a:t>
            </a:r>
            <a:endParaRPr lang="en-US" sz="2200" dirty="0"/>
          </a:p>
        </p:txBody>
      </p:sp>
      <p:sp>
        <p:nvSpPr>
          <p:cNvPr id="6" name="Shape 4"/>
          <p:cNvSpPr/>
          <p:nvPr/>
        </p:nvSpPr>
        <p:spPr>
          <a:xfrm>
            <a:off x="1143000" y="5074920"/>
            <a:ext cx="640080" cy="0"/>
          </a:xfrm>
          <a:prstGeom prst="line">
            <a:avLst/>
          </a:prstGeom>
          <a:noFill/>
          <a:ln w="31750">
            <a:solidFill>
              <a:srgbClr val="EB811B"/>
            </a:solidFill>
            <a:prstDash val="solid"/>
          </a:ln>
        </p:spPr>
        <p:txBody>
          <a:bodyPr/>
          <a:lstStyle/>
          <a:p>
            <a:endParaRPr lang="en-US"/>
          </a:p>
        </p:txBody>
      </p:sp>
      <p:sp>
        <p:nvSpPr>
          <p:cNvPr id="7" name="Text 5"/>
          <p:cNvSpPr/>
          <p:nvPr/>
        </p:nvSpPr>
        <p:spPr>
          <a:xfrm>
            <a:off x="1143000" y="5193792"/>
            <a:ext cx="9905695" cy="320040"/>
          </a:xfrm>
          <a:prstGeom prst="rect">
            <a:avLst/>
          </a:prstGeom>
          <a:noFill/>
          <a:ln/>
        </p:spPr>
        <p:txBody>
          <a:bodyPr wrap="square" lIns="0" tIns="0" rIns="0" bIns="0" rtlCol="0" anchor="ctr"/>
          <a:lstStyle/>
          <a:p>
            <a:pPr marL="0" indent="0" algn="l">
              <a:buNone/>
            </a:pPr>
            <a:r>
              <a:rPr lang="en-US" sz="1250" b="1" dirty="0">
                <a:solidFill>
                  <a:srgbClr val="B9BFC1"/>
                </a:solidFill>
                <a:latin typeface="Calibri" pitchFamily="34" charset="0"/>
                <a:ea typeface="Calibri" pitchFamily="34" charset="-122"/>
                <a:cs typeface="Calibri" pitchFamily="34" charset="-120"/>
              </a:rPr>
              <a:t>Milton Friedman, Capitalism and Freedom (1962)</a:t>
            </a:r>
            <a:endParaRPr lang="en-US" sz="125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4E5E61"/>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work2/reagan.png"/>
          <p:cNvPicPr>
            <a:picLocks noChangeAspect="1"/>
          </p:cNvPicPr>
          <p:nvPr/>
        </p:nvPicPr>
        <p:blipFill>
          <a:blip r:embed="rId3"/>
          <a:stretch>
            <a:fillRect/>
          </a:stretch>
        </p:blipFill>
        <p:spPr>
          <a:xfrm>
            <a:off x="548640" y="411480"/>
            <a:ext cx="5303520" cy="1947672"/>
          </a:xfrm>
          <a:prstGeom prst="rect">
            <a:avLst/>
          </a:prstGeom>
        </p:spPr>
      </p:pic>
      <p:sp>
        <p:nvSpPr>
          <p:cNvPr id="3" name="Shape 0"/>
          <p:cNvSpPr/>
          <p:nvPr/>
        </p:nvSpPr>
        <p:spPr>
          <a:xfrm>
            <a:off x="6267152" y="411480"/>
            <a:ext cx="5790895" cy="5943600"/>
          </a:xfrm>
          <a:prstGeom prst="roundRect">
            <a:avLst>
              <a:gd name="adj" fmla="val 1263"/>
            </a:avLst>
          </a:prstGeom>
          <a:solidFill>
            <a:srgbClr val="2F4246"/>
          </a:solidFill>
          <a:ln/>
        </p:spPr>
        <p:txBody>
          <a:bodyPr/>
          <a:lstStyle/>
          <a:p>
            <a:endParaRPr lang="en-US"/>
          </a:p>
        </p:txBody>
      </p:sp>
      <p:sp>
        <p:nvSpPr>
          <p:cNvPr id="4" name="Text 1"/>
          <p:cNvSpPr/>
          <p:nvPr/>
        </p:nvSpPr>
        <p:spPr>
          <a:xfrm>
            <a:off x="6537960" y="777240"/>
            <a:ext cx="5486400" cy="320040"/>
          </a:xfrm>
          <a:prstGeom prst="rect">
            <a:avLst/>
          </a:prstGeom>
          <a:noFill/>
          <a:ln/>
        </p:spPr>
        <p:txBody>
          <a:bodyPr wrap="square" lIns="0" tIns="0" rIns="0" bIns="0" rtlCol="0" anchor="ctr"/>
          <a:lstStyle/>
          <a:p>
            <a:pPr marL="0" indent="0" algn="l">
              <a:buNone/>
            </a:pPr>
            <a:r>
              <a:rPr lang="en-US" sz="1150" b="1" dirty="0">
                <a:solidFill>
                  <a:srgbClr val="EB811B"/>
                </a:solidFill>
                <a:latin typeface="Calibri" pitchFamily="34" charset="0"/>
                <a:ea typeface="Calibri" pitchFamily="34" charset="-122"/>
                <a:cs typeface="Calibri" pitchFamily="34" charset="-120"/>
              </a:rPr>
              <a:t>Ronald Reagan, 1988</a:t>
            </a:r>
            <a:endParaRPr lang="en-US" sz="1150" dirty="0"/>
          </a:p>
        </p:txBody>
      </p:sp>
      <p:sp>
        <p:nvSpPr>
          <p:cNvPr id="5" name="Text 2"/>
          <p:cNvSpPr/>
          <p:nvPr/>
        </p:nvSpPr>
        <p:spPr>
          <a:xfrm>
            <a:off x="6537960" y="1188720"/>
            <a:ext cx="5394960" cy="2011680"/>
          </a:xfrm>
          <a:prstGeom prst="rect">
            <a:avLst/>
          </a:prstGeom>
          <a:noFill/>
          <a:ln/>
        </p:spPr>
        <p:txBody>
          <a:bodyPr wrap="square" lIns="0" tIns="0" rIns="0" bIns="0" rtlCol="0" anchor="t"/>
          <a:lstStyle/>
          <a:p>
            <a:pPr marL="0" indent="0" algn="l">
              <a:lnSpc>
                <a:spcPct val="122000"/>
              </a:lnSpc>
              <a:buNone/>
            </a:pPr>
            <a:r>
              <a:rPr lang="en-US" sz="1600" i="1" dirty="0">
                <a:solidFill>
                  <a:srgbClr val="FFFFFF"/>
                </a:solidFill>
                <a:latin typeface="Cambria" pitchFamily="34" charset="0"/>
                <a:ea typeface="Cambria" pitchFamily="34" charset="-122"/>
                <a:cs typeface="Cambria" pitchFamily="34" charset="-120"/>
              </a:rPr>
              <a:t>“Take a moment to recognize that one of the key factors behind our nation’s great prosperity is the open trade policy that allows the American people to freely exchange goods and services with free people around the world.”</a:t>
            </a:r>
            <a:endParaRPr lang="en-US" sz="1600" dirty="0"/>
          </a:p>
        </p:txBody>
      </p:sp>
      <p:sp>
        <p:nvSpPr>
          <p:cNvPr id="6" name="Text 3"/>
          <p:cNvSpPr/>
          <p:nvPr/>
        </p:nvSpPr>
        <p:spPr>
          <a:xfrm>
            <a:off x="6537960" y="3291840"/>
            <a:ext cx="5394960" cy="1828800"/>
          </a:xfrm>
          <a:prstGeom prst="rect">
            <a:avLst/>
          </a:prstGeom>
          <a:noFill/>
          <a:ln/>
        </p:spPr>
        <p:txBody>
          <a:bodyPr wrap="square" lIns="0" tIns="0" rIns="0" bIns="0" rtlCol="0" anchor="t"/>
          <a:lstStyle/>
          <a:p>
            <a:pPr marL="0" indent="0" algn="l">
              <a:lnSpc>
                <a:spcPct val="122000"/>
              </a:lnSpc>
              <a:buNone/>
            </a:pPr>
            <a:r>
              <a:rPr lang="en-US" sz="1600" i="1" dirty="0">
                <a:solidFill>
                  <a:srgbClr val="FFFFFF"/>
                </a:solidFill>
                <a:latin typeface="Cambria" pitchFamily="34" charset="0"/>
                <a:ea typeface="Cambria" pitchFamily="34" charset="-122"/>
                <a:cs typeface="Cambria" pitchFamily="34" charset="-120"/>
              </a:rPr>
              <a:t>“We should beware of the demagogues who are ready to declare a trade war against our friends — weakening our economy, our national security, and the entire free world — all while cynically waving the American flag.”</a:t>
            </a:r>
            <a:endParaRPr lang="en-US" sz="1600" dirty="0"/>
          </a:p>
        </p:txBody>
      </p:sp>
      <p:sp>
        <p:nvSpPr>
          <p:cNvPr id="7" name="Shape 4"/>
          <p:cNvSpPr/>
          <p:nvPr/>
        </p:nvSpPr>
        <p:spPr>
          <a:xfrm>
            <a:off x="6537960" y="5166360"/>
            <a:ext cx="640080" cy="0"/>
          </a:xfrm>
          <a:prstGeom prst="line">
            <a:avLst/>
          </a:prstGeom>
          <a:noFill/>
          <a:ln w="31750">
            <a:solidFill>
              <a:srgbClr val="EB811B"/>
            </a:solidFill>
            <a:prstDash val="solid"/>
          </a:ln>
        </p:spPr>
        <p:txBody>
          <a:bodyPr/>
          <a:lstStyle/>
          <a:p>
            <a:endParaRPr lang="en-US"/>
          </a:p>
        </p:txBody>
      </p:sp>
      <p:sp>
        <p:nvSpPr>
          <p:cNvPr id="8" name="Text 5"/>
          <p:cNvSpPr/>
          <p:nvPr/>
        </p:nvSpPr>
        <p:spPr>
          <a:xfrm>
            <a:off x="6537960" y="5285232"/>
            <a:ext cx="5394960" cy="320040"/>
          </a:xfrm>
          <a:prstGeom prst="rect">
            <a:avLst/>
          </a:prstGeom>
          <a:noFill/>
          <a:ln/>
        </p:spPr>
        <p:txBody>
          <a:bodyPr wrap="square" lIns="0" tIns="0" rIns="0" bIns="0" rtlCol="0" anchor="ctr"/>
          <a:lstStyle/>
          <a:p>
            <a:pPr marL="0" indent="0" algn="l">
              <a:buNone/>
            </a:pPr>
            <a:r>
              <a:rPr lang="en-US" sz="1100" b="1" dirty="0">
                <a:solidFill>
                  <a:srgbClr val="B9BFC1"/>
                </a:solidFill>
                <a:latin typeface="Calibri" pitchFamily="34" charset="0"/>
                <a:ea typeface="Calibri" pitchFamily="34" charset="-122"/>
                <a:cs typeface="Calibri" pitchFamily="34" charset="-120"/>
              </a:rPr>
              <a:t>Radio Address to the Nation, Camp David, 26 November 1988</a:t>
            </a:r>
            <a:endParaRPr lang="en-US" sz="1100" dirty="0"/>
          </a:p>
        </p:txBody>
      </p:sp>
      <p:sp>
        <p:nvSpPr>
          <p:cNvPr id="9" name="Shape 6"/>
          <p:cNvSpPr/>
          <p:nvPr/>
        </p:nvSpPr>
        <p:spPr>
          <a:xfrm>
            <a:off x="548640" y="2514600"/>
            <a:ext cx="5303520" cy="3840480"/>
          </a:xfrm>
          <a:prstGeom prst="roundRect">
            <a:avLst>
              <a:gd name="adj" fmla="val 1429"/>
            </a:avLst>
          </a:prstGeom>
          <a:solidFill>
            <a:srgbClr val="EDF0F0"/>
          </a:solidFill>
          <a:ln/>
        </p:spPr>
        <p:txBody>
          <a:bodyPr/>
          <a:lstStyle/>
          <a:p>
            <a:endParaRPr lang="en-US"/>
          </a:p>
        </p:txBody>
      </p:sp>
      <p:sp>
        <p:nvSpPr>
          <p:cNvPr id="10" name="Text 7"/>
          <p:cNvSpPr/>
          <p:nvPr/>
        </p:nvSpPr>
        <p:spPr>
          <a:xfrm>
            <a:off x="868680" y="2743200"/>
            <a:ext cx="4663440" cy="2286000"/>
          </a:xfrm>
          <a:prstGeom prst="rect">
            <a:avLst/>
          </a:prstGeom>
          <a:noFill/>
          <a:ln/>
        </p:spPr>
        <p:txBody>
          <a:bodyPr wrap="square" lIns="0" tIns="0" rIns="0" bIns="0" rtlCol="0" anchor="t"/>
          <a:lstStyle/>
          <a:p>
            <a:pPr marL="0" indent="0" algn="l">
              <a:lnSpc>
                <a:spcPct val="125000"/>
              </a:lnSpc>
              <a:buNone/>
            </a:pPr>
            <a:r>
              <a:rPr lang="en-US" sz="1700" i="1" dirty="0">
                <a:solidFill>
                  <a:srgbClr val="23373B"/>
                </a:solidFill>
                <a:latin typeface="Cambria" pitchFamily="34" charset="0"/>
                <a:ea typeface="Cambria" pitchFamily="34" charset="-122"/>
                <a:cs typeface="Cambria" pitchFamily="34" charset="-120"/>
              </a:rPr>
              <a:t>The expansion of the international economy is not a foreign invasion; it is an American triumph, one we worked hard to achieve, and something central to our vision of a peaceful and prosperous world of freedom.</a:t>
            </a:r>
            <a:endParaRPr lang="en-US" sz="1700" dirty="0"/>
          </a:p>
        </p:txBody>
      </p:sp>
      <p:sp>
        <p:nvSpPr>
          <p:cNvPr id="11" name="Shape 8"/>
          <p:cNvSpPr/>
          <p:nvPr/>
        </p:nvSpPr>
        <p:spPr>
          <a:xfrm>
            <a:off x="868680" y="5120640"/>
            <a:ext cx="640080" cy="0"/>
          </a:xfrm>
          <a:prstGeom prst="line">
            <a:avLst/>
          </a:prstGeom>
          <a:noFill/>
          <a:ln w="31750">
            <a:solidFill>
              <a:srgbClr val="EB811B"/>
            </a:solidFill>
            <a:prstDash val="solid"/>
          </a:ln>
        </p:spPr>
        <p:txBody>
          <a:bodyPr/>
          <a:lstStyle/>
          <a:p>
            <a:endParaRPr lang="en-US"/>
          </a:p>
        </p:txBody>
      </p:sp>
      <p:sp>
        <p:nvSpPr>
          <p:cNvPr id="12" name="Text 9"/>
          <p:cNvSpPr/>
          <p:nvPr/>
        </p:nvSpPr>
        <p:spPr>
          <a:xfrm>
            <a:off x="868680" y="5257800"/>
            <a:ext cx="3657600" cy="274320"/>
          </a:xfrm>
          <a:prstGeom prst="rect">
            <a:avLst/>
          </a:prstGeom>
          <a:noFill/>
          <a:ln/>
        </p:spPr>
        <p:txBody>
          <a:bodyPr wrap="square" lIns="0" tIns="0" rIns="0" bIns="0" rtlCol="0" anchor="ctr"/>
          <a:lstStyle/>
          <a:p>
            <a:pPr marL="0" indent="0" algn="l">
              <a:buNone/>
            </a:pPr>
            <a:r>
              <a:rPr lang="en-US" sz="1150" b="1" dirty="0">
                <a:solidFill>
                  <a:srgbClr val="4E5E61"/>
                </a:solidFill>
                <a:latin typeface="Calibri" pitchFamily="34" charset="0"/>
                <a:ea typeface="Calibri" pitchFamily="34" charset="-122"/>
                <a:cs typeface="Calibri" pitchFamily="34" charset="-120"/>
              </a:rPr>
              <a:t>Reagan, 1988</a:t>
            </a:r>
            <a:endParaRPr lang="en-US" sz="115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4E5E61"/>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The New Mantra</a:t>
            </a:r>
            <a:endParaRPr lang="en-US" sz="3200" dirty="0"/>
          </a:p>
        </p:txBody>
      </p:sp>
      <p:sp>
        <p:nvSpPr>
          <p:cNvPr id="3" name="Text 1"/>
          <p:cNvSpPr/>
          <p:nvPr/>
        </p:nvSpPr>
        <p:spPr>
          <a:xfrm>
            <a:off x="548640" y="1078992"/>
            <a:ext cx="11094415" cy="365760"/>
          </a:xfrm>
          <a:prstGeom prst="rect">
            <a:avLst/>
          </a:prstGeom>
          <a:noFill/>
          <a:ln/>
        </p:spPr>
        <p:txBody>
          <a:bodyPr wrap="square" lIns="0" tIns="0" rIns="0" bIns="0" rtlCol="0" anchor="ctr"/>
          <a:lstStyle/>
          <a:p>
            <a:pPr marL="0" indent="0" algn="l">
              <a:buNone/>
            </a:pPr>
            <a:r>
              <a:rPr lang="en-US" sz="1450" i="1" dirty="0">
                <a:solidFill>
                  <a:srgbClr val="4E5E61"/>
                </a:solidFill>
                <a:latin typeface="Calibri" pitchFamily="34" charset="0"/>
                <a:ea typeface="Calibri" pitchFamily="34" charset="-122"/>
                <a:cs typeface="Calibri" pitchFamily="34" charset="-120"/>
              </a:rPr>
              <a:t>Efficiency. Comparative advantage. Political convergence.</a:t>
            </a:r>
            <a:endParaRPr lang="en-US" sz="1450" dirty="0"/>
          </a:p>
        </p:txBody>
      </p:sp>
      <p:sp>
        <p:nvSpPr>
          <p:cNvPr id="4" name="Shape 2"/>
          <p:cNvSpPr/>
          <p:nvPr/>
        </p:nvSpPr>
        <p:spPr>
          <a:xfrm>
            <a:off x="548640" y="1920240"/>
            <a:ext cx="3337560" cy="3611880"/>
          </a:xfrm>
          <a:prstGeom prst="roundRect">
            <a:avLst>
              <a:gd name="adj" fmla="val 1644"/>
            </a:avLst>
          </a:prstGeom>
          <a:solidFill>
            <a:srgbClr val="EDF0F0"/>
          </a:solidFill>
          <a:ln/>
        </p:spPr>
        <p:txBody>
          <a:bodyPr/>
          <a:lstStyle/>
          <a:p>
            <a:endParaRPr lang="en-US"/>
          </a:p>
        </p:txBody>
      </p:sp>
      <p:sp>
        <p:nvSpPr>
          <p:cNvPr id="5" name="Shape 3"/>
          <p:cNvSpPr/>
          <p:nvPr/>
        </p:nvSpPr>
        <p:spPr>
          <a:xfrm>
            <a:off x="896112" y="2240280"/>
            <a:ext cx="475488" cy="475488"/>
          </a:xfrm>
          <a:prstGeom prst="ellipse">
            <a:avLst/>
          </a:prstGeom>
          <a:solidFill>
            <a:srgbClr val="EB811B"/>
          </a:solidFill>
          <a:ln/>
        </p:spPr>
        <p:txBody>
          <a:bodyPr/>
          <a:lstStyle/>
          <a:p>
            <a:endParaRPr lang="en-US"/>
          </a:p>
        </p:txBody>
      </p:sp>
      <p:sp>
        <p:nvSpPr>
          <p:cNvPr id="6" name="Text 4"/>
          <p:cNvSpPr/>
          <p:nvPr/>
        </p:nvSpPr>
        <p:spPr>
          <a:xfrm>
            <a:off x="896112" y="2240280"/>
            <a:ext cx="475488" cy="475488"/>
          </a:xfrm>
          <a:prstGeom prst="rect">
            <a:avLst/>
          </a:prstGeom>
          <a:noFill/>
          <a:ln/>
        </p:spPr>
        <p:txBody>
          <a:bodyPr wrap="square" lIns="0" tIns="0" rIns="0" bIns="0" rtlCol="0" anchor="ctr"/>
          <a:lstStyle/>
          <a:p>
            <a:pPr marL="0" indent="0" algn="ctr">
              <a:buNone/>
            </a:pPr>
            <a:r>
              <a:rPr lang="en-US" sz="1700" b="1" dirty="0">
                <a:solidFill>
                  <a:srgbClr val="23373B"/>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896112" y="2926080"/>
            <a:ext cx="2642616" cy="502920"/>
          </a:xfrm>
          <a:prstGeom prst="rect">
            <a:avLst/>
          </a:prstGeom>
          <a:noFill/>
          <a:ln/>
        </p:spPr>
        <p:txBody>
          <a:bodyPr wrap="square" lIns="0" tIns="0" rIns="0" bIns="0" rtlCol="0" anchor="t"/>
          <a:lstStyle/>
          <a:p>
            <a:pPr marL="0" indent="0" algn="l">
              <a:buNone/>
            </a:pPr>
            <a:r>
              <a:rPr lang="en-US" sz="1900" b="1" dirty="0">
                <a:solidFill>
                  <a:srgbClr val="23373B"/>
                </a:solidFill>
                <a:latin typeface="Cambria" pitchFamily="34" charset="0"/>
                <a:ea typeface="Cambria" pitchFamily="34" charset="-122"/>
                <a:cs typeface="Cambria" pitchFamily="34" charset="-120"/>
              </a:rPr>
              <a:t>Efficiency</a:t>
            </a:r>
            <a:endParaRPr lang="en-US" sz="1900" dirty="0"/>
          </a:p>
        </p:txBody>
      </p:sp>
      <p:sp>
        <p:nvSpPr>
          <p:cNvPr id="8" name="Text 6"/>
          <p:cNvSpPr/>
          <p:nvPr/>
        </p:nvSpPr>
        <p:spPr>
          <a:xfrm>
            <a:off x="896112" y="3520440"/>
            <a:ext cx="2642616" cy="1828800"/>
          </a:xfrm>
          <a:prstGeom prst="rect">
            <a:avLst/>
          </a:prstGeom>
          <a:noFill/>
          <a:ln/>
        </p:spPr>
        <p:txBody>
          <a:bodyPr wrap="square" lIns="0" tIns="0" rIns="0" bIns="0" rtlCol="0" anchor="t"/>
          <a:lstStyle/>
          <a:p>
            <a:pPr marL="0" indent="0" algn="l">
              <a:lnSpc>
                <a:spcPct val="120000"/>
              </a:lnSpc>
              <a:buNone/>
            </a:pPr>
            <a:r>
              <a:rPr lang="en-US" sz="1350" dirty="0">
                <a:solidFill>
                  <a:srgbClr val="4E5E61"/>
                </a:solidFill>
                <a:latin typeface="Calibri" pitchFamily="34" charset="0"/>
                <a:ea typeface="Calibri" pitchFamily="34" charset="-122"/>
                <a:cs typeface="Calibri" pitchFamily="34" charset="-120"/>
              </a:rPr>
              <a:t>David Ricardo: Nations gain from specialisation. Each trades what it makes best, buys what it makes worst. The global pie grows.</a:t>
            </a:r>
            <a:endParaRPr lang="en-US" sz="1350" dirty="0"/>
          </a:p>
        </p:txBody>
      </p:sp>
      <p:sp>
        <p:nvSpPr>
          <p:cNvPr id="9" name="Shape 7"/>
          <p:cNvSpPr/>
          <p:nvPr/>
        </p:nvSpPr>
        <p:spPr>
          <a:xfrm>
            <a:off x="4206240" y="1920240"/>
            <a:ext cx="3337560" cy="3611880"/>
          </a:xfrm>
          <a:prstGeom prst="roundRect">
            <a:avLst>
              <a:gd name="adj" fmla="val 1644"/>
            </a:avLst>
          </a:prstGeom>
          <a:solidFill>
            <a:srgbClr val="EDF0F0"/>
          </a:solidFill>
          <a:ln/>
        </p:spPr>
        <p:txBody>
          <a:bodyPr/>
          <a:lstStyle/>
          <a:p>
            <a:endParaRPr lang="en-US"/>
          </a:p>
        </p:txBody>
      </p:sp>
      <p:sp>
        <p:nvSpPr>
          <p:cNvPr id="10" name="Shape 8"/>
          <p:cNvSpPr/>
          <p:nvPr/>
        </p:nvSpPr>
        <p:spPr>
          <a:xfrm>
            <a:off x="4553712" y="2240280"/>
            <a:ext cx="475488" cy="475488"/>
          </a:xfrm>
          <a:prstGeom prst="ellipse">
            <a:avLst/>
          </a:prstGeom>
          <a:solidFill>
            <a:srgbClr val="EB811B"/>
          </a:solidFill>
          <a:ln/>
        </p:spPr>
        <p:txBody>
          <a:bodyPr/>
          <a:lstStyle/>
          <a:p>
            <a:endParaRPr lang="en-US"/>
          </a:p>
        </p:txBody>
      </p:sp>
      <p:sp>
        <p:nvSpPr>
          <p:cNvPr id="11" name="Text 9"/>
          <p:cNvSpPr/>
          <p:nvPr/>
        </p:nvSpPr>
        <p:spPr>
          <a:xfrm>
            <a:off x="4553712" y="2240280"/>
            <a:ext cx="475488" cy="475488"/>
          </a:xfrm>
          <a:prstGeom prst="rect">
            <a:avLst/>
          </a:prstGeom>
          <a:noFill/>
          <a:ln/>
        </p:spPr>
        <p:txBody>
          <a:bodyPr wrap="square" lIns="0" tIns="0" rIns="0" bIns="0" rtlCol="0" anchor="ctr"/>
          <a:lstStyle/>
          <a:p>
            <a:pPr marL="0" indent="0" algn="ctr">
              <a:buNone/>
            </a:pPr>
            <a:r>
              <a:rPr lang="en-US" sz="1700" b="1" dirty="0">
                <a:solidFill>
                  <a:srgbClr val="23373B"/>
                </a:solidFill>
                <a:latin typeface="Cambria" pitchFamily="34" charset="0"/>
                <a:ea typeface="Cambria" pitchFamily="34" charset="-122"/>
                <a:cs typeface="Cambria" pitchFamily="34" charset="-120"/>
              </a:rPr>
              <a:t>2</a:t>
            </a:r>
            <a:endParaRPr lang="en-US" sz="1700" dirty="0"/>
          </a:p>
        </p:txBody>
      </p:sp>
      <p:sp>
        <p:nvSpPr>
          <p:cNvPr id="12" name="Text 10"/>
          <p:cNvSpPr/>
          <p:nvPr/>
        </p:nvSpPr>
        <p:spPr>
          <a:xfrm>
            <a:off x="4553712" y="2926080"/>
            <a:ext cx="2642616" cy="502920"/>
          </a:xfrm>
          <a:prstGeom prst="rect">
            <a:avLst/>
          </a:prstGeom>
          <a:noFill/>
          <a:ln/>
        </p:spPr>
        <p:txBody>
          <a:bodyPr wrap="square" lIns="0" tIns="0" rIns="0" bIns="0" rtlCol="0" anchor="t"/>
          <a:lstStyle/>
          <a:p>
            <a:pPr marL="0" indent="0" algn="l">
              <a:buNone/>
            </a:pPr>
            <a:r>
              <a:rPr lang="en-US" sz="1900" b="1" dirty="0">
                <a:solidFill>
                  <a:srgbClr val="23373B"/>
                </a:solidFill>
                <a:latin typeface="Cambria" pitchFamily="34" charset="0"/>
                <a:ea typeface="Cambria" pitchFamily="34" charset="-122"/>
                <a:cs typeface="Cambria" pitchFamily="34" charset="-120"/>
              </a:rPr>
              <a:t>Comparative Advantage</a:t>
            </a:r>
            <a:endParaRPr lang="en-US" sz="1900" dirty="0"/>
          </a:p>
        </p:txBody>
      </p:sp>
      <p:sp>
        <p:nvSpPr>
          <p:cNvPr id="13" name="Text 11"/>
          <p:cNvSpPr/>
          <p:nvPr/>
        </p:nvSpPr>
        <p:spPr>
          <a:xfrm>
            <a:off x="4553712" y="3520440"/>
            <a:ext cx="2642616" cy="1828800"/>
          </a:xfrm>
          <a:prstGeom prst="rect">
            <a:avLst/>
          </a:prstGeom>
          <a:noFill/>
          <a:ln/>
        </p:spPr>
        <p:txBody>
          <a:bodyPr wrap="square" lIns="0" tIns="0" rIns="0" bIns="0" rtlCol="0" anchor="t"/>
          <a:lstStyle/>
          <a:p>
            <a:pPr marL="0" indent="0" algn="l">
              <a:lnSpc>
                <a:spcPct val="120000"/>
              </a:lnSpc>
              <a:buNone/>
            </a:pPr>
            <a:r>
              <a:rPr lang="en-US" sz="1350" dirty="0">
                <a:solidFill>
                  <a:srgbClr val="4E5E61"/>
                </a:solidFill>
                <a:latin typeface="Calibri" pitchFamily="34" charset="0"/>
                <a:ea typeface="Calibri" pitchFamily="34" charset="-122"/>
                <a:cs typeface="Calibri" pitchFamily="34" charset="-120"/>
              </a:rPr>
              <a:t>Even if one country is better at everything, trade is still mutually beneficial — it’s relative, not absolute, cost that matters.</a:t>
            </a:r>
            <a:endParaRPr lang="en-US" sz="1350" dirty="0"/>
          </a:p>
        </p:txBody>
      </p:sp>
      <p:sp>
        <p:nvSpPr>
          <p:cNvPr id="14" name="Shape 12"/>
          <p:cNvSpPr/>
          <p:nvPr/>
        </p:nvSpPr>
        <p:spPr>
          <a:xfrm>
            <a:off x="7863840" y="1920240"/>
            <a:ext cx="3337560" cy="3611880"/>
          </a:xfrm>
          <a:prstGeom prst="roundRect">
            <a:avLst>
              <a:gd name="adj" fmla="val 1644"/>
            </a:avLst>
          </a:prstGeom>
          <a:solidFill>
            <a:srgbClr val="EDF0F0"/>
          </a:solidFill>
          <a:ln/>
        </p:spPr>
        <p:txBody>
          <a:bodyPr/>
          <a:lstStyle/>
          <a:p>
            <a:endParaRPr lang="en-US"/>
          </a:p>
        </p:txBody>
      </p:sp>
      <p:sp>
        <p:nvSpPr>
          <p:cNvPr id="15" name="Shape 13"/>
          <p:cNvSpPr/>
          <p:nvPr/>
        </p:nvSpPr>
        <p:spPr>
          <a:xfrm>
            <a:off x="8211312" y="2240280"/>
            <a:ext cx="475488" cy="475488"/>
          </a:xfrm>
          <a:prstGeom prst="ellipse">
            <a:avLst/>
          </a:prstGeom>
          <a:solidFill>
            <a:srgbClr val="EB811B"/>
          </a:solidFill>
          <a:ln/>
        </p:spPr>
        <p:txBody>
          <a:bodyPr/>
          <a:lstStyle/>
          <a:p>
            <a:endParaRPr lang="en-US"/>
          </a:p>
        </p:txBody>
      </p:sp>
      <p:sp>
        <p:nvSpPr>
          <p:cNvPr id="16" name="Text 14"/>
          <p:cNvSpPr/>
          <p:nvPr/>
        </p:nvSpPr>
        <p:spPr>
          <a:xfrm>
            <a:off x="8211312" y="2240280"/>
            <a:ext cx="475488" cy="475488"/>
          </a:xfrm>
          <a:prstGeom prst="rect">
            <a:avLst/>
          </a:prstGeom>
          <a:noFill/>
          <a:ln/>
        </p:spPr>
        <p:txBody>
          <a:bodyPr wrap="square" lIns="0" tIns="0" rIns="0" bIns="0" rtlCol="0" anchor="ctr"/>
          <a:lstStyle/>
          <a:p>
            <a:pPr marL="0" indent="0" algn="ctr">
              <a:buNone/>
            </a:pPr>
            <a:r>
              <a:rPr lang="en-US" sz="1700" b="1" dirty="0">
                <a:solidFill>
                  <a:srgbClr val="23373B"/>
                </a:solidFill>
                <a:latin typeface="Cambria" pitchFamily="34" charset="0"/>
                <a:ea typeface="Cambria" pitchFamily="34" charset="-122"/>
                <a:cs typeface="Cambria" pitchFamily="34" charset="-120"/>
              </a:rPr>
              <a:t>3</a:t>
            </a:r>
            <a:endParaRPr lang="en-US" sz="1700" dirty="0"/>
          </a:p>
        </p:txBody>
      </p:sp>
      <p:sp>
        <p:nvSpPr>
          <p:cNvPr id="17" name="Text 15"/>
          <p:cNvSpPr/>
          <p:nvPr/>
        </p:nvSpPr>
        <p:spPr>
          <a:xfrm>
            <a:off x="8211312" y="2926080"/>
            <a:ext cx="2642616" cy="502920"/>
          </a:xfrm>
          <a:prstGeom prst="rect">
            <a:avLst/>
          </a:prstGeom>
          <a:noFill/>
          <a:ln/>
        </p:spPr>
        <p:txBody>
          <a:bodyPr wrap="square" lIns="0" tIns="0" rIns="0" bIns="0" rtlCol="0" anchor="t"/>
          <a:lstStyle/>
          <a:p>
            <a:pPr marL="0" indent="0" algn="l">
              <a:buNone/>
            </a:pPr>
            <a:r>
              <a:rPr lang="en-US" sz="1900" b="1" dirty="0">
                <a:solidFill>
                  <a:srgbClr val="23373B"/>
                </a:solidFill>
                <a:latin typeface="Cambria" pitchFamily="34" charset="0"/>
                <a:ea typeface="Cambria" pitchFamily="34" charset="-122"/>
                <a:cs typeface="Cambria" pitchFamily="34" charset="-120"/>
              </a:rPr>
              <a:t>Political Convergence</a:t>
            </a:r>
            <a:endParaRPr lang="en-US" sz="1900" dirty="0"/>
          </a:p>
        </p:txBody>
      </p:sp>
      <p:sp>
        <p:nvSpPr>
          <p:cNvPr id="18" name="Text 16"/>
          <p:cNvSpPr/>
          <p:nvPr/>
        </p:nvSpPr>
        <p:spPr>
          <a:xfrm>
            <a:off x="8211312" y="3520440"/>
            <a:ext cx="2642616" cy="1828800"/>
          </a:xfrm>
          <a:prstGeom prst="rect">
            <a:avLst/>
          </a:prstGeom>
          <a:noFill/>
          <a:ln/>
        </p:spPr>
        <p:txBody>
          <a:bodyPr wrap="square" lIns="0" tIns="0" rIns="0" bIns="0" rtlCol="0" anchor="t"/>
          <a:lstStyle/>
          <a:p>
            <a:pPr marL="0" indent="0" algn="l">
              <a:lnSpc>
                <a:spcPct val="120000"/>
              </a:lnSpc>
              <a:buNone/>
            </a:pPr>
            <a:r>
              <a:rPr lang="en-US" sz="1350" dirty="0">
                <a:solidFill>
                  <a:srgbClr val="4E5E61"/>
                </a:solidFill>
                <a:latin typeface="Calibri" pitchFamily="34" charset="0"/>
                <a:ea typeface="Calibri" pitchFamily="34" charset="-122"/>
                <a:cs typeface="Calibri" pitchFamily="34" charset="-120"/>
              </a:rPr>
              <a:t>Rising prosperity produces liberal democracy. Open markets and open societies reinforce each other — the </a:t>
            </a:r>
            <a:r>
              <a:rPr lang="en-US" sz="1350" dirty="0" err="1">
                <a:solidFill>
                  <a:srgbClr val="4E5E61"/>
                </a:solidFill>
                <a:latin typeface="Calibri" pitchFamily="34" charset="0"/>
                <a:ea typeface="Calibri" pitchFamily="34" charset="-122"/>
                <a:cs typeface="Calibri" pitchFamily="34" charset="-120"/>
              </a:rPr>
              <a:t>Lipset</a:t>
            </a:r>
            <a:r>
              <a:rPr lang="en-US" sz="1350" dirty="0">
                <a:solidFill>
                  <a:srgbClr val="4E5E61"/>
                </a:solidFill>
                <a:latin typeface="Calibri" pitchFamily="34" charset="0"/>
                <a:ea typeface="Calibri" pitchFamily="34" charset="-122"/>
                <a:cs typeface="Calibri" pitchFamily="34" charset="-120"/>
              </a:rPr>
              <a:t>-Fukuyama-Clinton hypothesis.</a:t>
            </a:r>
            <a:endParaRPr lang="en-US" sz="135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4E5E61"/>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Prosperity, Democracy, History</a:t>
            </a:r>
            <a:endParaRPr lang="en-US" sz="3200" dirty="0"/>
          </a:p>
        </p:txBody>
      </p:sp>
      <p:sp>
        <p:nvSpPr>
          <p:cNvPr id="3" name="Text 1"/>
          <p:cNvSpPr/>
          <p:nvPr/>
        </p:nvSpPr>
        <p:spPr>
          <a:xfrm>
            <a:off x="548640" y="1078992"/>
            <a:ext cx="11094415" cy="365760"/>
          </a:xfrm>
          <a:prstGeom prst="rect">
            <a:avLst/>
          </a:prstGeom>
          <a:noFill/>
          <a:ln/>
        </p:spPr>
        <p:txBody>
          <a:bodyPr wrap="square" lIns="0" tIns="0" rIns="0" bIns="0" rtlCol="0" anchor="ctr"/>
          <a:lstStyle/>
          <a:p>
            <a:pPr marL="0" indent="0" algn="l">
              <a:buNone/>
            </a:pPr>
            <a:r>
              <a:rPr lang="en-US" sz="1450" i="1" dirty="0">
                <a:solidFill>
                  <a:srgbClr val="4E5E61"/>
                </a:solidFill>
                <a:latin typeface="Calibri" pitchFamily="34" charset="0"/>
                <a:ea typeface="Calibri" pitchFamily="34" charset="-122"/>
                <a:cs typeface="Calibri" pitchFamily="34" charset="-120"/>
              </a:rPr>
              <a:t>The political logic behind the globalisation consensus.</a:t>
            </a:r>
            <a:endParaRPr lang="en-US" sz="1450" dirty="0"/>
          </a:p>
        </p:txBody>
      </p:sp>
      <p:sp>
        <p:nvSpPr>
          <p:cNvPr id="4" name="Shape 2"/>
          <p:cNvSpPr/>
          <p:nvPr/>
        </p:nvSpPr>
        <p:spPr>
          <a:xfrm>
            <a:off x="548640" y="1691640"/>
            <a:ext cx="5166360" cy="3840480"/>
          </a:xfrm>
          <a:prstGeom prst="roundRect">
            <a:avLst>
              <a:gd name="adj" fmla="val 1429"/>
            </a:avLst>
          </a:prstGeom>
          <a:solidFill>
            <a:srgbClr val="EDF0F0"/>
          </a:solidFill>
          <a:ln/>
        </p:spPr>
        <p:txBody>
          <a:bodyPr/>
          <a:lstStyle/>
          <a:p>
            <a:endParaRPr lang="en-US"/>
          </a:p>
        </p:txBody>
      </p:sp>
      <p:sp>
        <p:nvSpPr>
          <p:cNvPr id="5" name="Shape 3"/>
          <p:cNvSpPr/>
          <p:nvPr/>
        </p:nvSpPr>
        <p:spPr>
          <a:xfrm>
            <a:off x="914400" y="2057400"/>
            <a:ext cx="640080" cy="0"/>
          </a:xfrm>
          <a:prstGeom prst="line">
            <a:avLst/>
          </a:prstGeom>
          <a:noFill/>
          <a:ln w="38100">
            <a:solidFill>
              <a:srgbClr val="EB811B"/>
            </a:solidFill>
            <a:prstDash val="solid"/>
          </a:ln>
        </p:spPr>
        <p:txBody>
          <a:bodyPr/>
          <a:lstStyle/>
          <a:p>
            <a:endParaRPr lang="en-US"/>
          </a:p>
        </p:txBody>
      </p:sp>
      <p:sp>
        <p:nvSpPr>
          <p:cNvPr id="6" name="Text 4"/>
          <p:cNvSpPr/>
          <p:nvPr/>
        </p:nvSpPr>
        <p:spPr>
          <a:xfrm>
            <a:off x="914400" y="2240280"/>
            <a:ext cx="4434840" cy="365760"/>
          </a:xfrm>
          <a:prstGeom prst="rect">
            <a:avLst/>
          </a:prstGeom>
          <a:noFill/>
          <a:ln/>
        </p:spPr>
        <p:txBody>
          <a:bodyPr wrap="square" lIns="0" tIns="0" rIns="0" bIns="0" rtlCol="0" anchor="ctr"/>
          <a:lstStyle/>
          <a:p>
            <a:pPr marL="0" indent="0" algn="l">
              <a:buNone/>
            </a:pPr>
            <a:r>
              <a:rPr lang="en-US" sz="1250" b="1" dirty="0">
                <a:solidFill>
                  <a:srgbClr val="23373B"/>
                </a:solidFill>
                <a:latin typeface="Calibri" pitchFamily="34" charset="0"/>
                <a:ea typeface="Calibri" pitchFamily="34" charset="-122"/>
                <a:cs typeface="Calibri" pitchFamily="34" charset="-120"/>
              </a:rPr>
              <a:t>Seymour Martin Lipset — Modernization Theory</a:t>
            </a:r>
            <a:endParaRPr lang="en-US" sz="1250" dirty="0"/>
          </a:p>
        </p:txBody>
      </p:sp>
      <p:sp>
        <p:nvSpPr>
          <p:cNvPr id="7" name="Text 5"/>
          <p:cNvSpPr/>
          <p:nvPr/>
        </p:nvSpPr>
        <p:spPr>
          <a:xfrm>
            <a:off x="914400" y="2697480"/>
            <a:ext cx="4434840" cy="2560320"/>
          </a:xfrm>
          <a:prstGeom prst="rect">
            <a:avLst/>
          </a:prstGeom>
          <a:noFill/>
          <a:ln/>
        </p:spPr>
        <p:txBody>
          <a:bodyPr wrap="square" lIns="0" tIns="0" rIns="0" bIns="0" rtlCol="0" anchor="ctr"/>
          <a:lstStyle/>
          <a:p>
            <a:pPr marL="0" indent="0" algn="l">
              <a:lnSpc>
                <a:spcPct val="130000"/>
              </a:lnSpc>
              <a:buNone/>
            </a:pPr>
            <a:r>
              <a:rPr lang="en-US" sz="2200" i="1" dirty="0">
                <a:solidFill>
                  <a:srgbClr val="23373B"/>
                </a:solidFill>
                <a:latin typeface="Cambria" pitchFamily="34" charset="0"/>
                <a:ea typeface="Cambria" pitchFamily="34" charset="-122"/>
                <a:cs typeface="Cambria" pitchFamily="34" charset="-120"/>
              </a:rPr>
              <a:t>“…the more well-to-do a nation, the greater the chances that it will sustain democracy.”</a:t>
            </a:r>
            <a:endParaRPr lang="en-US" sz="2200" dirty="0"/>
          </a:p>
        </p:txBody>
      </p:sp>
      <p:sp>
        <p:nvSpPr>
          <p:cNvPr id="8" name="Shape 6"/>
          <p:cNvSpPr/>
          <p:nvPr/>
        </p:nvSpPr>
        <p:spPr>
          <a:xfrm>
            <a:off x="6080760" y="1691640"/>
            <a:ext cx="5166360" cy="3840480"/>
          </a:xfrm>
          <a:prstGeom prst="roundRect">
            <a:avLst>
              <a:gd name="adj" fmla="val 1429"/>
            </a:avLst>
          </a:prstGeom>
          <a:solidFill>
            <a:srgbClr val="EDF0F0"/>
          </a:solidFill>
          <a:ln/>
        </p:spPr>
        <p:txBody>
          <a:bodyPr/>
          <a:lstStyle/>
          <a:p>
            <a:endParaRPr lang="en-US"/>
          </a:p>
        </p:txBody>
      </p:sp>
      <p:sp>
        <p:nvSpPr>
          <p:cNvPr id="9" name="Shape 7"/>
          <p:cNvSpPr/>
          <p:nvPr/>
        </p:nvSpPr>
        <p:spPr>
          <a:xfrm>
            <a:off x="6446520" y="2057400"/>
            <a:ext cx="640080" cy="0"/>
          </a:xfrm>
          <a:prstGeom prst="line">
            <a:avLst/>
          </a:prstGeom>
          <a:noFill/>
          <a:ln w="38100">
            <a:solidFill>
              <a:srgbClr val="EB811B"/>
            </a:solidFill>
            <a:prstDash val="solid"/>
          </a:ln>
        </p:spPr>
        <p:txBody>
          <a:bodyPr/>
          <a:lstStyle/>
          <a:p>
            <a:endParaRPr lang="en-US"/>
          </a:p>
        </p:txBody>
      </p:sp>
      <p:sp>
        <p:nvSpPr>
          <p:cNvPr id="10" name="Text 8"/>
          <p:cNvSpPr/>
          <p:nvPr/>
        </p:nvSpPr>
        <p:spPr>
          <a:xfrm>
            <a:off x="6446520" y="2240280"/>
            <a:ext cx="4434840" cy="365760"/>
          </a:xfrm>
          <a:prstGeom prst="rect">
            <a:avLst/>
          </a:prstGeom>
          <a:noFill/>
          <a:ln/>
        </p:spPr>
        <p:txBody>
          <a:bodyPr wrap="square" lIns="0" tIns="0" rIns="0" bIns="0" rtlCol="0" anchor="ctr"/>
          <a:lstStyle/>
          <a:p>
            <a:pPr marL="0" indent="0" algn="l">
              <a:buNone/>
            </a:pPr>
            <a:r>
              <a:rPr lang="en-US" sz="1250" b="1" dirty="0">
                <a:solidFill>
                  <a:srgbClr val="23373B"/>
                </a:solidFill>
                <a:latin typeface="Calibri" pitchFamily="34" charset="0"/>
                <a:ea typeface="Calibri" pitchFamily="34" charset="-122"/>
                <a:cs typeface="Calibri" pitchFamily="34" charset="-120"/>
              </a:rPr>
              <a:t>Francis Fukuyama, The End of History and the Last Man (1992)</a:t>
            </a:r>
            <a:endParaRPr lang="en-US" sz="1250" dirty="0"/>
          </a:p>
        </p:txBody>
      </p:sp>
      <p:sp>
        <p:nvSpPr>
          <p:cNvPr id="11" name="Text 9"/>
          <p:cNvSpPr/>
          <p:nvPr/>
        </p:nvSpPr>
        <p:spPr>
          <a:xfrm>
            <a:off x="6446520" y="2651760"/>
            <a:ext cx="4434840" cy="2606040"/>
          </a:xfrm>
          <a:prstGeom prst="rect">
            <a:avLst/>
          </a:prstGeom>
          <a:noFill/>
          <a:ln/>
        </p:spPr>
        <p:txBody>
          <a:bodyPr wrap="square" lIns="0" tIns="0" rIns="0" bIns="0" rtlCol="0" anchor="t"/>
          <a:lstStyle/>
          <a:p>
            <a:pPr marL="0" indent="0" algn="l">
              <a:lnSpc>
                <a:spcPct val="125000"/>
              </a:lnSpc>
              <a:buNone/>
            </a:pPr>
            <a:r>
              <a:rPr lang="en-US" sz="1550" i="1" dirty="0">
                <a:solidFill>
                  <a:srgbClr val="23373B"/>
                </a:solidFill>
                <a:latin typeface="Cambria" pitchFamily="34" charset="0"/>
                <a:ea typeface="Cambria" pitchFamily="34" charset="-122"/>
                <a:cs typeface="Cambria" pitchFamily="34" charset="-120"/>
              </a:rPr>
              <a:t>“a remarkable consensus concerning the legitimacy of liberal democracy as a system of government had emerged throughout the world” … “liberal democracy may constitute the ‘end point of mankind’s ideological evolution’ and the ‘final form of human government.’”</a:t>
            </a:r>
            <a:endParaRPr lang="en-US" sz="155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4E5E61"/>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The End of History</a:t>
            </a:r>
            <a:endParaRPr lang="en-US" sz="3200" dirty="0"/>
          </a:p>
        </p:txBody>
      </p:sp>
      <p:sp>
        <p:nvSpPr>
          <p:cNvPr id="3" name="Text 1"/>
          <p:cNvSpPr/>
          <p:nvPr/>
        </p:nvSpPr>
        <p:spPr>
          <a:xfrm>
            <a:off x="548640" y="1078992"/>
            <a:ext cx="11094415" cy="365760"/>
          </a:xfrm>
          <a:prstGeom prst="rect">
            <a:avLst/>
          </a:prstGeom>
          <a:noFill/>
          <a:ln/>
        </p:spPr>
        <p:txBody>
          <a:bodyPr wrap="square" lIns="0" tIns="0" rIns="0" bIns="0" rtlCol="0" anchor="ctr"/>
          <a:lstStyle/>
          <a:p>
            <a:pPr marL="0" indent="0" algn="l">
              <a:buNone/>
            </a:pPr>
            <a:r>
              <a:rPr lang="en-US" sz="1450" i="1" dirty="0">
                <a:solidFill>
                  <a:srgbClr val="4E5E61"/>
                </a:solidFill>
                <a:latin typeface="Calibri" pitchFamily="34" charset="0"/>
                <a:ea typeface="Calibri" pitchFamily="34" charset="-122"/>
                <a:cs typeface="Calibri" pitchFamily="34" charset="-120"/>
              </a:rPr>
              <a:t>Fukuyama’s full argument: markets and democracy together.</a:t>
            </a:r>
            <a:endParaRPr lang="en-US" sz="1450" dirty="0"/>
          </a:p>
        </p:txBody>
      </p:sp>
      <p:sp>
        <p:nvSpPr>
          <p:cNvPr id="4" name="Shape 2"/>
          <p:cNvSpPr/>
          <p:nvPr/>
        </p:nvSpPr>
        <p:spPr>
          <a:xfrm>
            <a:off x="548640" y="1691640"/>
            <a:ext cx="11094415" cy="3749040"/>
          </a:xfrm>
          <a:prstGeom prst="roundRect">
            <a:avLst>
              <a:gd name="adj" fmla="val 1463"/>
            </a:avLst>
          </a:prstGeom>
          <a:solidFill>
            <a:srgbClr val="2F4246"/>
          </a:solidFill>
          <a:ln/>
        </p:spPr>
        <p:txBody>
          <a:bodyPr/>
          <a:lstStyle/>
          <a:p>
            <a:endParaRPr lang="en-US"/>
          </a:p>
        </p:txBody>
      </p:sp>
      <p:sp>
        <p:nvSpPr>
          <p:cNvPr id="5" name="Text 3"/>
          <p:cNvSpPr/>
          <p:nvPr/>
        </p:nvSpPr>
        <p:spPr>
          <a:xfrm>
            <a:off x="1143000" y="2011680"/>
            <a:ext cx="9905695" cy="2926080"/>
          </a:xfrm>
          <a:prstGeom prst="rect">
            <a:avLst/>
          </a:prstGeom>
          <a:noFill/>
          <a:ln/>
        </p:spPr>
        <p:txBody>
          <a:bodyPr wrap="square" lIns="0" tIns="0" rIns="0" bIns="0" rtlCol="0" anchor="ctr"/>
          <a:lstStyle/>
          <a:p>
            <a:pPr marL="0" indent="0" algn="l">
              <a:lnSpc>
                <a:spcPct val="125000"/>
              </a:lnSpc>
              <a:buNone/>
            </a:pPr>
            <a:r>
              <a:rPr lang="en-US" sz="2200" i="1" dirty="0">
                <a:solidFill>
                  <a:srgbClr val="FFFFFF"/>
                </a:solidFill>
                <a:latin typeface="Cambria" pitchFamily="34" charset="0"/>
                <a:ea typeface="Cambria" pitchFamily="34" charset="-122"/>
                <a:cs typeface="Cambria" pitchFamily="34" charset="-120"/>
              </a:rPr>
              <a:t>“liberal democracy remains the only coherent political aspiration that spans different regions and cultures around the globe” … “liberal principles in economics — the ‘free market’ — have spread, and have succeeded in producing unprecedented levels of material prosperity, both in industrially developed countries and in countries that had been, at the close of World War II, part of the impoverished Third World.”</a:t>
            </a:r>
            <a:endParaRPr lang="en-US" sz="2200" dirty="0"/>
          </a:p>
        </p:txBody>
      </p:sp>
      <p:sp>
        <p:nvSpPr>
          <p:cNvPr id="6" name="Shape 4"/>
          <p:cNvSpPr/>
          <p:nvPr/>
        </p:nvSpPr>
        <p:spPr>
          <a:xfrm>
            <a:off x="1143000" y="4937760"/>
            <a:ext cx="640080" cy="0"/>
          </a:xfrm>
          <a:prstGeom prst="line">
            <a:avLst/>
          </a:prstGeom>
          <a:noFill/>
          <a:ln w="31750">
            <a:solidFill>
              <a:srgbClr val="EB811B"/>
            </a:solidFill>
            <a:prstDash val="solid"/>
          </a:ln>
        </p:spPr>
        <p:txBody>
          <a:bodyPr/>
          <a:lstStyle/>
          <a:p>
            <a:endParaRPr lang="en-US"/>
          </a:p>
        </p:txBody>
      </p:sp>
      <p:sp>
        <p:nvSpPr>
          <p:cNvPr id="7" name="Text 5"/>
          <p:cNvSpPr/>
          <p:nvPr/>
        </p:nvSpPr>
        <p:spPr>
          <a:xfrm>
            <a:off x="1143000" y="5056632"/>
            <a:ext cx="9905695" cy="320040"/>
          </a:xfrm>
          <a:prstGeom prst="rect">
            <a:avLst/>
          </a:prstGeom>
          <a:noFill/>
          <a:ln/>
        </p:spPr>
        <p:txBody>
          <a:bodyPr wrap="square" lIns="0" tIns="0" rIns="0" bIns="0" rtlCol="0" anchor="ctr"/>
          <a:lstStyle/>
          <a:p>
            <a:pPr marL="0" indent="0" algn="l">
              <a:buNone/>
            </a:pPr>
            <a:r>
              <a:rPr lang="en-US" sz="1250" b="1" dirty="0">
                <a:solidFill>
                  <a:srgbClr val="B9BFC1"/>
                </a:solidFill>
                <a:latin typeface="Calibri" pitchFamily="34" charset="0"/>
                <a:ea typeface="Calibri" pitchFamily="34" charset="-122"/>
                <a:cs typeface="Calibri" pitchFamily="34" charset="-120"/>
              </a:rPr>
              <a:t>Francis Fukuyama, The End of History and the Last Man (1992)</a:t>
            </a:r>
            <a:endParaRPr lang="en-US" sz="1250" dirty="0"/>
          </a:p>
        </p:txBody>
      </p:sp>
      <p:sp>
        <p:nvSpPr>
          <p:cNvPr id="8" name="Text 6"/>
          <p:cNvSpPr/>
          <p:nvPr/>
        </p:nvSpPr>
        <p:spPr>
          <a:xfrm>
            <a:off x="548640" y="5596128"/>
            <a:ext cx="11094415" cy="502920"/>
          </a:xfrm>
          <a:prstGeom prst="rect">
            <a:avLst/>
          </a:prstGeom>
          <a:noFill/>
          <a:ln/>
        </p:spPr>
        <p:txBody>
          <a:bodyPr wrap="square" lIns="0" tIns="0" rIns="0" bIns="0" rtlCol="0" anchor="ctr"/>
          <a:lstStyle/>
          <a:p>
            <a:pPr marL="0" indent="0" algn="l">
              <a:buNone/>
            </a:pPr>
            <a:r>
              <a:rPr lang="en-US" sz="1400" i="1" dirty="0">
                <a:solidFill>
                  <a:srgbClr val="4E5E61"/>
                </a:solidFill>
                <a:latin typeface="Calibri" pitchFamily="34" charset="0"/>
                <a:ea typeface="Calibri" pitchFamily="34" charset="-122"/>
                <a:cs typeface="Calibri" pitchFamily="34" charset="-120"/>
              </a:rPr>
              <a:t>The consensus: open markets produce prosperity; prosperity produces democracy; democracy produces peace.</a:t>
            </a:r>
            <a:endParaRPr lang="en-US" sz="140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4E5E61"/>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On China’s Accession to the WTO</a:t>
            </a:r>
            <a:endParaRPr lang="en-US" sz="3200" dirty="0"/>
          </a:p>
        </p:txBody>
      </p:sp>
      <p:sp>
        <p:nvSpPr>
          <p:cNvPr id="3" name="Text 1"/>
          <p:cNvSpPr/>
          <p:nvPr/>
        </p:nvSpPr>
        <p:spPr>
          <a:xfrm>
            <a:off x="548640" y="1078992"/>
            <a:ext cx="11094415" cy="365760"/>
          </a:xfrm>
          <a:prstGeom prst="rect">
            <a:avLst/>
          </a:prstGeom>
          <a:noFill/>
          <a:ln/>
        </p:spPr>
        <p:txBody>
          <a:bodyPr wrap="square" lIns="0" tIns="0" rIns="0" bIns="0" rtlCol="0" anchor="ctr"/>
          <a:lstStyle/>
          <a:p>
            <a:pPr marL="0" indent="0" algn="l">
              <a:buNone/>
            </a:pPr>
            <a:r>
              <a:rPr lang="en-US" sz="1450" i="1" dirty="0">
                <a:solidFill>
                  <a:srgbClr val="4E5E61"/>
                </a:solidFill>
                <a:latin typeface="Calibri" pitchFamily="34" charset="0"/>
                <a:ea typeface="Calibri" pitchFamily="34" charset="-122"/>
                <a:cs typeface="Calibri" pitchFamily="34" charset="-120"/>
              </a:rPr>
              <a:t>Bill Clinton, March 2000</a:t>
            </a:r>
            <a:endParaRPr lang="en-US" sz="1450" dirty="0"/>
          </a:p>
        </p:txBody>
      </p:sp>
      <p:sp>
        <p:nvSpPr>
          <p:cNvPr id="4" name="Shape 2"/>
          <p:cNvSpPr/>
          <p:nvPr/>
        </p:nvSpPr>
        <p:spPr>
          <a:xfrm>
            <a:off x="548640" y="1691640"/>
            <a:ext cx="5166360" cy="3840480"/>
          </a:xfrm>
          <a:prstGeom prst="roundRect">
            <a:avLst>
              <a:gd name="adj" fmla="val 1429"/>
            </a:avLst>
          </a:prstGeom>
          <a:solidFill>
            <a:srgbClr val="EDF0F0"/>
          </a:solidFill>
          <a:ln/>
        </p:spPr>
        <p:txBody>
          <a:bodyPr/>
          <a:lstStyle/>
          <a:p>
            <a:endParaRPr lang="en-US"/>
          </a:p>
        </p:txBody>
      </p:sp>
      <p:sp>
        <p:nvSpPr>
          <p:cNvPr id="5" name="Shape 3"/>
          <p:cNvSpPr/>
          <p:nvPr/>
        </p:nvSpPr>
        <p:spPr>
          <a:xfrm>
            <a:off x="914400" y="2011680"/>
            <a:ext cx="640080" cy="0"/>
          </a:xfrm>
          <a:prstGeom prst="line">
            <a:avLst/>
          </a:prstGeom>
          <a:noFill/>
          <a:ln w="38100">
            <a:solidFill>
              <a:srgbClr val="EB811B"/>
            </a:solidFill>
            <a:prstDash val="solid"/>
          </a:ln>
        </p:spPr>
        <p:txBody>
          <a:bodyPr/>
          <a:lstStyle/>
          <a:p>
            <a:endParaRPr lang="en-US"/>
          </a:p>
        </p:txBody>
      </p:sp>
      <p:sp>
        <p:nvSpPr>
          <p:cNvPr id="6" name="Text 4"/>
          <p:cNvSpPr/>
          <p:nvPr/>
        </p:nvSpPr>
        <p:spPr>
          <a:xfrm>
            <a:off x="914400" y="2194560"/>
            <a:ext cx="4434840" cy="3108960"/>
          </a:xfrm>
          <a:prstGeom prst="rect">
            <a:avLst/>
          </a:prstGeom>
          <a:noFill/>
          <a:ln/>
        </p:spPr>
        <p:txBody>
          <a:bodyPr wrap="square" lIns="0" tIns="0" rIns="0" bIns="0" rtlCol="0" anchor="t"/>
          <a:lstStyle/>
          <a:p>
            <a:pPr marL="0" indent="0" algn="l">
              <a:lnSpc>
                <a:spcPct val="125000"/>
              </a:lnSpc>
              <a:buNone/>
            </a:pPr>
            <a:r>
              <a:rPr lang="en-US" sz="1650" i="1" dirty="0">
                <a:solidFill>
                  <a:srgbClr val="23373B"/>
                </a:solidFill>
                <a:latin typeface="Cambria" pitchFamily="34" charset="0"/>
                <a:ea typeface="Cambria" pitchFamily="34" charset="-122"/>
                <a:cs typeface="Cambria" pitchFamily="34" charset="-120"/>
              </a:rPr>
              <a:t>“China is a growing threat to Taiwan and its neighbors — we shouldn’t strengthen it. Or China violates labor rights and human rights — we shouldn’t reward it. Or China is a dangerous proliferator — we shouldn’t empower it. … The question is not whether we approve or disapprove of China’s practices. The question is what’s the smartest thing to do.”</a:t>
            </a:r>
            <a:endParaRPr lang="en-US" sz="1650" dirty="0"/>
          </a:p>
        </p:txBody>
      </p:sp>
      <p:sp>
        <p:nvSpPr>
          <p:cNvPr id="7" name="Shape 5"/>
          <p:cNvSpPr/>
          <p:nvPr/>
        </p:nvSpPr>
        <p:spPr>
          <a:xfrm>
            <a:off x="6080760" y="1691640"/>
            <a:ext cx="5166360" cy="3840480"/>
          </a:xfrm>
          <a:prstGeom prst="roundRect">
            <a:avLst>
              <a:gd name="adj" fmla="val 1429"/>
            </a:avLst>
          </a:prstGeom>
          <a:solidFill>
            <a:srgbClr val="EDF0F0"/>
          </a:solidFill>
          <a:ln/>
        </p:spPr>
        <p:txBody>
          <a:bodyPr/>
          <a:lstStyle/>
          <a:p>
            <a:endParaRPr lang="en-US"/>
          </a:p>
        </p:txBody>
      </p:sp>
      <p:sp>
        <p:nvSpPr>
          <p:cNvPr id="8" name="Shape 6"/>
          <p:cNvSpPr/>
          <p:nvPr/>
        </p:nvSpPr>
        <p:spPr>
          <a:xfrm>
            <a:off x="6446520" y="2011680"/>
            <a:ext cx="640080" cy="0"/>
          </a:xfrm>
          <a:prstGeom prst="line">
            <a:avLst/>
          </a:prstGeom>
          <a:noFill/>
          <a:ln w="38100">
            <a:solidFill>
              <a:srgbClr val="EB811B"/>
            </a:solidFill>
            <a:prstDash val="solid"/>
          </a:ln>
        </p:spPr>
        <p:txBody>
          <a:bodyPr/>
          <a:lstStyle/>
          <a:p>
            <a:endParaRPr lang="en-US"/>
          </a:p>
        </p:txBody>
      </p:sp>
      <p:sp>
        <p:nvSpPr>
          <p:cNvPr id="9" name="Text 7"/>
          <p:cNvSpPr/>
          <p:nvPr/>
        </p:nvSpPr>
        <p:spPr>
          <a:xfrm>
            <a:off x="6446520" y="2194560"/>
            <a:ext cx="4434840" cy="3108960"/>
          </a:xfrm>
          <a:prstGeom prst="rect">
            <a:avLst/>
          </a:prstGeom>
          <a:noFill/>
          <a:ln/>
        </p:spPr>
        <p:txBody>
          <a:bodyPr wrap="square" lIns="0" tIns="0" rIns="0" bIns="0" rtlCol="0" anchor="t"/>
          <a:lstStyle/>
          <a:p>
            <a:pPr marL="0" indent="0" algn="l">
              <a:lnSpc>
                <a:spcPct val="125000"/>
              </a:lnSpc>
              <a:buNone/>
            </a:pPr>
            <a:r>
              <a:rPr lang="en-US" sz="1650" i="1" dirty="0">
                <a:solidFill>
                  <a:srgbClr val="23373B"/>
                </a:solidFill>
                <a:latin typeface="Cambria" pitchFamily="34" charset="0"/>
                <a:ea typeface="Cambria" pitchFamily="34" charset="-122"/>
                <a:cs typeface="Cambria" pitchFamily="34" charset="-120"/>
              </a:rPr>
              <a:t>“We know how much the Internet has changed America, and we are already an open society. Imagine how much it could change China. Now there’s no question China has been trying to crack down on the Internet. Good luck! That’s sort of like trying to nail Jell-O to the wall.”</a:t>
            </a:r>
            <a:endParaRPr lang="en-US" sz="1650" dirty="0"/>
          </a:p>
        </p:txBody>
      </p:sp>
      <p:sp>
        <p:nvSpPr>
          <p:cNvPr id="10" name="Text 8"/>
          <p:cNvSpPr/>
          <p:nvPr/>
        </p:nvSpPr>
        <p:spPr>
          <a:xfrm>
            <a:off x="548640" y="5669280"/>
            <a:ext cx="11094415" cy="320040"/>
          </a:xfrm>
          <a:prstGeom prst="rect">
            <a:avLst/>
          </a:prstGeom>
          <a:noFill/>
          <a:ln/>
        </p:spPr>
        <p:txBody>
          <a:bodyPr wrap="square" lIns="0" tIns="0" rIns="0" bIns="0" rtlCol="0" anchor="ctr"/>
          <a:lstStyle/>
          <a:p>
            <a:pPr marL="0" indent="0" algn="l">
              <a:buNone/>
            </a:pPr>
            <a:r>
              <a:rPr lang="en-US" sz="1150" b="1" dirty="0">
                <a:solidFill>
                  <a:srgbClr val="4E5E61"/>
                </a:solidFill>
                <a:latin typeface="Calibri" pitchFamily="34" charset="0"/>
                <a:ea typeface="Calibri" pitchFamily="34" charset="-122"/>
                <a:cs typeface="Calibri" pitchFamily="34" charset="-120"/>
              </a:rPr>
              <a:t>Bill Clinton, “Trade Is the Smart Thing to Do,” New York Times, March 2000</a:t>
            </a:r>
            <a:endParaRPr lang="en-US" sz="115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4E5E61"/>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Deviation Needs Justification</a:t>
            </a:r>
            <a:endParaRPr lang="en-US" sz="3200" dirty="0"/>
          </a:p>
        </p:txBody>
      </p:sp>
      <p:sp>
        <p:nvSpPr>
          <p:cNvPr id="3" name="Text 1"/>
          <p:cNvSpPr/>
          <p:nvPr/>
        </p:nvSpPr>
        <p:spPr>
          <a:xfrm>
            <a:off x="548640" y="1078992"/>
            <a:ext cx="11094415" cy="365760"/>
          </a:xfrm>
          <a:prstGeom prst="rect">
            <a:avLst/>
          </a:prstGeom>
          <a:noFill/>
          <a:ln/>
        </p:spPr>
        <p:txBody>
          <a:bodyPr wrap="square" lIns="0" tIns="0" rIns="0" bIns="0" rtlCol="0" anchor="ctr"/>
          <a:lstStyle/>
          <a:p>
            <a:pPr marL="0" indent="0" algn="l">
              <a:buNone/>
            </a:pPr>
            <a:r>
              <a:rPr lang="en-US" sz="1450" i="1" dirty="0">
                <a:solidFill>
                  <a:srgbClr val="4E5E61"/>
                </a:solidFill>
                <a:latin typeface="Calibri" pitchFamily="34" charset="0"/>
                <a:ea typeface="Calibri" pitchFamily="34" charset="-122"/>
                <a:cs typeface="Calibri" pitchFamily="34" charset="-120"/>
              </a:rPr>
              <a:t>The free-trade presumption held — but margins kept shifting.</a:t>
            </a:r>
            <a:endParaRPr lang="en-US" sz="1450" dirty="0"/>
          </a:p>
        </p:txBody>
      </p:sp>
      <p:sp>
        <p:nvSpPr>
          <p:cNvPr id="4" name="Shape 2"/>
          <p:cNvSpPr/>
          <p:nvPr/>
        </p:nvSpPr>
        <p:spPr>
          <a:xfrm>
            <a:off x="548640" y="1691640"/>
            <a:ext cx="11094415" cy="1024128"/>
          </a:xfrm>
          <a:prstGeom prst="roundRect">
            <a:avLst>
              <a:gd name="adj" fmla="val 5357"/>
            </a:avLst>
          </a:prstGeom>
          <a:solidFill>
            <a:srgbClr val="EDF0F0"/>
          </a:solidFill>
          <a:ln/>
        </p:spPr>
        <p:txBody>
          <a:bodyPr/>
          <a:lstStyle/>
          <a:p>
            <a:endParaRPr lang="en-US"/>
          </a:p>
        </p:txBody>
      </p:sp>
      <p:sp>
        <p:nvSpPr>
          <p:cNvPr id="5" name="Text 3"/>
          <p:cNvSpPr/>
          <p:nvPr/>
        </p:nvSpPr>
        <p:spPr>
          <a:xfrm>
            <a:off x="914400" y="1783080"/>
            <a:ext cx="2926080" cy="822960"/>
          </a:xfrm>
          <a:prstGeom prst="rect">
            <a:avLst/>
          </a:prstGeom>
          <a:noFill/>
          <a:ln/>
        </p:spPr>
        <p:txBody>
          <a:bodyPr wrap="square" lIns="0" tIns="0" rIns="0" bIns="0" rtlCol="0" anchor="ctr"/>
          <a:lstStyle/>
          <a:p>
            <a:pPr marL="0" indent="0" algn="l">
              <a:buNone/>
            </a:pPr>
            <a:r>
              <a:rPr lang="en-US" sz="1600" b="1" dirty="0">
                <a:solidFill>
                  <a:srgbClr val="EB811B"/>
                </a:solidFill>
                <a:latin typeface="Cambria" pitchFamily="34" charset="0"/>
                <a:ea typeface="Cambria" pitchFamily="34" charset="-122"/>
                <a:cs typeface="Cambria" pitchFamily="34" charset="-120"/>
              </a:rPr>
              <a:t>National security:</a:t>
            </a:r>
            <a:endParaRPr lang="en-US" sz="1600" dirty="0"/>
          </a:p>
        </p:txBody>
      </p:sp>
      <p:sp>
        <p:nvSpPr>
          <p:cNvPr id="6" name="Text 4"/>
          <p:cNvSpPr/>
          <p:nvPr/>
        </p:nvSpPr>
        <p:spPr>
          <a:xfrm>
            <a:off x="4023360" y="1783080"/>
            <a:ext cx="7345375" cy="822960"/>
          </a:xfrm>
          <a:prstGeom prst="rect">
            <a:avLst/>
          </a:prstGeom>
          <a:noFill/>
          <a:ln/>
        </p:spPr>
        <p:txBody>
          <a:bodyPr wrap="square" lIns="0" tIns="0" rIns="0" bIns="0" rtlCol="0" anchor="ctr"/>
          <a:lstStyle/>
          <a:p>
            <a:pPr marL="0" indent="0" algn="l">
              <a:lnSpc>
                <a:spcPct val="115000"/>
              </a:lnSpc>
              <a:buNone/>
            </a:pPr>
            <a:r>
              <a:rPr lang="en-US" sz="1450" dirty="0">
                <a:solidFill>
                  <a:srgbClr val="4E5E61"/>
                </a:solidFill>
                <a:latin typeface="Calibri" pitchFamily="34" charset="0"/>
                <a:ea typeface="Calibri" pitchFamily="34" charset="-122"/>
                <a:cs typeface="Calibri" pitchFamily="34" charset="-120"/>
              </a:rPr>
              <a:t>Strategic industries, dual-use technologies, critical infrastructure — where commercial logic yields to security logic.</a:t>
            </a:r>
            <a:endParaRPr lang="en-US" sz="1450" dirty="0"/>
          </a:p>
        </p:txBody>
      </p:sp>
      <p:sp>
        <p:nvSpPr>
          <p:cNvPr id="7" name="Shape 5"/>
          <p:cNvSpPr/>
          <p:nvPr/>
        </p:nvSpPr>
        <p:spPr>
          <a:xfrm>
            <a:off x="548640" y="2807208"/>
            <a:ext cx="11094415" cy="1024128"/>
          </a:xfrm>
          <a:prstGeom prst="roundRect">
            <a:avLst>
              <a:gd name="adj" fmla="val 5357"/>
            </a:avLst>
          </a:prstGeom>
          <a:solidFill>
            <a:srgbClr val="EDF0F0"/>
          </a:solidFill>
          <a:ln/>
        </p:spPr>
        <p:txBody>
          <a:bodyPr/>
          <a:lstStyle/>
          <a:p>
            <a:endParaRPr lang="en-US"/>
          </a:p>
        </p:txBody>
      </p:sp>
      <p:sp>
        <p:nvSpPr>
          <p:cNvPr id="8" name="Text 6"/>
          <p:cNvSpPr/>
          <p:nvPr/>
        </p:nvSpPr>
        <p:spPr>
          <a:xfrm>
            <a:off x="914400" y="2898648"/>
            <a:ext cx="2926080" cy="822960"/>
          </a:xfrm>
          <a:prstGeom prst="rect">
            <a:avLst/>
          </a:prstGeom>
          <a:noFill/>
          <a:ln/>
        </p:spPr>
        <p:txBody>
          <a:bodyPr wrap="square" lIns="0" tIns="0" rIns="0" bIns="0" rtlCol="0" anchor="ctr"/>
          <a:lstStyle/>
          <a:p>
            <a:pPr marL="0" indent="0" algn="l">
              <a:buNone/>
            </a:pPr>
            <a:r>
              <a:rPr lang="en-US" sz="1600" b="1" dirty="0">
                <a:solidFill>
                  <a:srgbClr val="EB811B"/>
                </a:solidFill>
                <a:latin typeface="Cambria" pitchFamily="34" charset="0"/>
                <a:ea typeface="Cambria" pitchFamily="34" charset="-122"/>
                <a:cs typeface="Cambria" pitchFamily="34" charset="-120"/>
              </a:rPr>
              <a:t>Level playing field:</a:t>
            </a:r>
            <a:endParaRPr lang="en-US" sz="1600" dirty="0"/>
          </a:p>
        </p:txBody>
      </p:sp>
      <p:sp>
        <p:nvSpPr>
          <p:cNvPr id="9" name="Text 7"/>
          <p:cNvSpPr/>
          <p:nvPr/>
        </p:nvSpPr>
        <p:spPr>
          <a:xfrm>
            <a:off x="4023360" y="2898648"/>
            <a:ext cx="7345375" cy="822960"/>
          </a:xfrm>
          <a:prstGeom prst="rect">
            <a:avLst/>
          </a:prstGeom>
          <a:noFill/>
          <a:ln/>
        </p:spPr>
        <p:txBody>
          <a:bodyPr wrap="square" lIns="0" tIns="0" rIns="0" bIns="0" rtlCol="0" anchor="ctr"/>
          <a:lstStyle/>
          <a:p>
            <a:pPr marL="0" indent="0" algn="l">
              <a:lnSpc>
                <a:spcPct val="115000"/>
              </a:lnSpc>
              <a:buNone/>
            </a:pPr>
            <a:r>
              <a:rPr lang="en-US" sz="1450" dirty="0">
                <a:solidFill>
                  <a:srgbClr val="4E5E61"/>
                </a:solidFill>
                <a:latin typeface="Calibri" pitchFamily="34" charset="0"/>
                <a:ea typeface="Calibri" pitchFamily="34" charset="-122"/>
                <a:cs typeface="Calibri" pitchFamily="34" charset="-120"/>
              </a:rPr>
              <a:t>Foreign subsidies, dumping, currency manipulation — countering others’ distortions with your own.</a:t>
            </a:r>
            <a:endParaRPr lang="en-US" sz="1450" dirty="0"/>
          </a:p>
        </p:txBody>
      </p:sp>
      <p:sp>
        <p:nvSpPr>
          <p:cNvPr id="10" name="Shape 8"/>
          <p:cNvSpPr/>
          <p:nvPr/>
        </p:nvSpPr>
        <p:spPr>
          <a:xfrm>
            <a:off x="548640" y="3922776"/>
            <a:ext cx="11094415" cy="1024128"/>
          </a:xfrm>
          <a:prstGeom prst="roundRect">
            <a:avLst>
              <a:gd name="adj" fmla="val 5357"/>
            </a:avLst>
          </a:prstGeom>
          <a:solidFill>
            <a:srgbClr val="EDF0F0"/>
          </a:solidFill>
          <a:ln/>
        </p:spPr>
        <p:txBody>
          <a:bodyPr/>
          <a:lstStyle/>
          <a:p>
            <a:endParaRPr lang="en-US"/>
          </a:p>
        </p:txBody>
      </p:sp>
      <p:sp>
        <p:nvSpPr>
          <p:cNvPr id="11" name="Text 9"/>
          <p:cNvSpPr/>
          <p:nvPr/>
        </p:nvSpPr>
        <p:spPr>
          <a:xfrm>
            <a:off x="914400" y="4014216"/>
            <a:ext cx="2926080" cy="822960"/>
          </a:xfrm>
          <a:prstGeom prst="rect">
            <a:avLst/>
          </a:prstGeom>
          <a:noFill/>
          <a:ln/>
        </p:spPr>
        <p:txBody>
          <a:bodyPr wrap="square" lIns="0" tIns="0" rIns="0" bIns="0" rtlCol="0" anchor="ctr"/>
          <a:lstStyle/>
          <a:p>
            <a:pPr marL="0" indent="0" algn="l">
              <a:buNone/>
            </a:pPr>
            <a:r>
              <a:rPr lang="en-US" sz="1600" b="1" dirty="0">
                <a:solidFill>
                  <a:srgbClr val="EB811B"/>
                </a:solidFill>
                <a:latin typeface="Cambria" pitchFamily="34" charset="0"/>
                <a:ea typeface="Cambria" pitchFamily="34" charset="-122"/>
                <a:cs typeface="Cambria" pitchFamily="34" charset="-120"/>
              </a:rPr>
              <a:t>Dynamic comparative advantage:</a:t>
            </a:r>
            <a:endParaRPr lang="en-US" sz="1600" dirty="0"/>
          </a:p>
        </p:txBody>
      </p:sp>
      <p:sp>
        <p:nvSpPr>
          <p:cNvPr id="12" name="Text 10"/>
          <p:cNvSpPr/>
          <p:nvPr/>
        </p:nvSpPr>
        <p:spPr>
          <a:xfrm>
            <a:off x="4023360" y="4014216"/>
            <a:ext cx="7345375" cy="822960"/>
          </a:xfrm>
          <a:prstGeom prst="rect">
            <a:avLst/>
          </a:prstGeom>
          <a:noFill/>
          <a:ln/>
        </p:spPr>
        <p:txBody>
          <a:bodyPr wrap="square" lIns="0" tIns="0" rIns="0" bIns="0" rtlCol="0" anchor="ctr"/>
          <a:lstStyle/>
          <a:p>
            <a:pPr marL="0" indent="0" algn="l">
              <a:lnSpc>
                <a:spcPct val="115000"/>
              </a:lnSpc>
              <a:buNone/>
            </a:pPr>
            <a:r>
              <a:rPr lang="en-US" sz="1450" dirty="0">
                <a:solidFill>
                  <a:srgbClr val="4E5E61"/>
                </a:solidFill>
                <a:latin typeface="Calibri" pitchFamily="34" charset="0"/>
                <a:ea typeface="Calibri" pitchFamily="34" charset="-122"/>
                <a:cs typeface="Calibri" pitchFamily="34" charset="-120"/>
              </a:rPr>
              <a:t>Infant-industry arguments: protect today’s loser to create tomorrow’s winner (Hamilton, again).</a:t>
            </a:r>
            <a:endParaRPr lang="en-US" sz="1450" dirty="0"/>
          </a:p>
        </p:txBody>
      </p:sp>
      <p:sp>
        <p:nvSpPr>
          <p:cNvPr id="13" name="Shape 11"/>
          <p:cNvSpPr/>
          <p:nvPr/>
        </p:nvSpPr>
        <p:spPr>
          <a:xfrm>
            <a:off x="548640" y="5038344"/>
            <a:ext cx="11094415" cy="1024128"/>
          </a:xfrm>
          <a:prstGeom prst="roundRect">
            <a:avLst>
              <a:gd name="adj" fmla="val 5357"/>
            </a:avLst>
          </a:prstGeom>
          <a:solidFill>
            <a:srgbClr val="EDF0F0"/>
          </a:solidFill>
          <a:ln/>
        </p:spPr>
        <p:txBody>
          <a:bodyPr/>
          <a:lstStyle/>
          <a:p>
            <a:endParaRPr lang="en-US"/>
          </a:p>
        </p:txBody>
      </p:sp>
      <p:sp>
        <p:nvSpPr>
          <p:cNvPr id="14" name="Text 12"/>
          <p:cNvSpPr/>
          <p:nvPr/>
        </p:nvSpPr>
        <p:spPr>
          <a:xfrm>
            <a:off x="914400" y="5129784"/>
            <a:ext cx="2926080" cy="822960"/>
          </a:xfrm>
          <a:prstGeom prst="rect">
            <a:avLst/>
          </a:prstGeom>
          <a:noFill/>
          <a:ln/>
        </p:spPr>
        <p:txBody>
          <a:bodyPr wrap="square" lIns="0" tIns="0" rIns="0" bIns="0" rtlCol="0" anchor="ctr"/>
          <a:lstStyle/>
          <a:p>
            <a:pPr marL="0" indent="0" algn="l">
              <a:buNone/>
            </a:pPr>
            <a:r>
              <a:rPr lang="en-US" sz="1600" b="1" dirty="0">
                <a:solidFill>
                  <a:srgbClr val="EB811B"/>
                </a:solidFill>
                <a:latin typeface="Cambria" pitchFamily="34" charset="0"/>
                <a:ea typeface="Cambria" pitchFamily="34" charset="-122"/>
                <a:cs typeface="Cambria" pitchFamily="34" charset="-120"/>
              </a:rPr>
              <a:t>Critical technologies:</a:t>
            </a:r>
            <a:endParaRPr lang="en-US" sz="1600" dirty="0"/>
          </a:p>
        </p:txBody>
      </p:sp>
      <p:sp>
        <p:nvSpPr>
          <p:cNvPr id="15" name="Text 13"/>
          <p:cNvSpPr/>
          <p:nvPr/>
        </p:nvSpPr>
        <p:spPr>
          <a:xfrm>
            <a:off x="4023360" y="5129784"/>
            <a:ext cx="7345375" cy="822960"/>
          </a:xfrm>
          <a:prstGeom prst="rect">
            <a:avLst/>
          </a:prstGeom>
          <a:noFill/>
          <a:ln/>
        </p:spPr>
        <p:txBody>
          <a:bodyPr wrap="square" lIns="0" tIns="0" rIns="0" bIns="0" rtlCol="0" anchor="ctr"/>
          <a:lstStyle/>
          <a:p>
            <a:pPr marL="0" indent="0" algn="l">
              <a:lnSpc>
                <a:spcPct val="115000"/>
              </a:lnSpc>
              <a:buNone/>
            </a:pPr>
            <a:r>
              <a:rPr lang="en-US" sz="1450" dirty="0">
                <a:solidFill>
                  <a:srgbClr val="4E5E61"/>
                </a:solidFill>
                <a:latin typeface="Calibri" pitchFamily="34" charset="0"/>
                <a:ea typeface="Calibri" pitchFamily="34" charset="-122"/>
                <a:cs typeface="Calibri" pitchFamily="34" charset="-120"/>
              </a:rPr>
              <a:t>AI, semiconductors, biotech — “technologies of the future” blur economic and strategic categories.</a:t>
            </a:r>
            <a:endParaRPr lang="en-US" sz="145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4E5E61"/>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148840"/>
            <a:ext cx="9601200" cy="365760"/>
          </a:xfrm>
          <a:prstGeom prst="rect">
            <a:avLst/>
          </a:prstGeom>
          <a:noFill/>
          <a:ln/>
        </p:spPr>
        <p:txBody>
          <a:bodyPr wrap="square" lIns="0" tIns="0" rIns="0" bIns="0" rtlCol="0" anchor="ctr"/>
          <a:lstStyle/>
          <a:p>
            <a:pPr marL="0" indent="0" algn="l">
              <a:buNone/>
            </a:pPr>
            <a:r>
              <a:rPr lang="en-US" sz="1300" b="1" kern="0" spc="200" dirty="0">
                <a:solidFill>
                  <a:srgbClr val="EB811B"/>
                </a:solidFill>
                <a:latin typeface="Calibri" pitchFamily="34" charset="0"/>
                <a:ea typeface="Calibri" pitchFamily="34" charset="-122"/>
                <a:cs typeface="Calibri" pitchFamily="34" charset="-120"/>
              </a:rPr>
              <a:t>TWO</a:t>
            </a:r>
            <a:endParaRPr lang="en-US" sz="1300" dirty="0"/>
          </a:p>
        </p:txBody>
      </p:sp>
      <p:sp>
        <p:nvSpPr>
          <p:cNvPr id="3" name="Text 1"/>
          <p:cNvSpPr/>
          <p:nvPr/>
        </p:nvSpPr>
        <p:spPr>
          <a:xfrm>
            <a:off x="548640" y="2560320"/>
            <a:ext cx="10058400" cy="1463040"/>
          </a:xfrm>
          <a:prstGeom prst="rect">
            <a:avLst/>
          </a:prstGeom>
          <a:noFill/>
          <a:ln/>
        </p:spPr>
        <p:txBody>
          <a:bodyPr wrap="square" lIns="0" tIns="0" rIns="0" bIns="0" rtlCol="0" anchor="t"/>
          <a:lstStyle/>
          <a:p>
            <a:pPr marL="0" indent="0" algn="l">
              <a:buNone/>
            </a:pPr>
            <a:r>
              <a:rPr lang="en-US" sz="3600" b="1" dirty="0">
                <a:solidFill>
                  <a:srgbClr val="FFFFFF"/>
                </a:solidFill>
                <a:latin typeface="Cambria" pitchFamily="34" charset="0"/>
                <a:ea typeface="Cambria" pitchFamily="34" charset="-122"/>
                <a:cs typeface="Cambria" pitchFamily="34" charset="-120"/>
              </a:rPr>
              <a:t>Strategic Interdependence</a:t>
            </a:r>
            <a:endParaRPr lang="en-US" sz="3600" dirty="0"/>
          </a:p>
        </p:txBody>
      </p:sp>
      <p:sp>
        <p:nvSpPr>
          <p:cNvPr id="4" name="Shape 2"/>
          <p:cNvSpPr/>
          <p:nvPr/>
        </p:nvSpPr>
        <p:spPr>
          <a:xfrm>
            <a:off x="548640" y="3822192"/>
            <a:ext cx="1508760" cy="0"/>
          </a:xfrm>
          <a:prstGeom prst="line">
            <a:avLst/>
          </a:prstGeom>
          <a:noFill/>
          <a:ln w="38100">
            <a:solidFill>
              <a:srgbClr val="EB811B"/>
            </a:solidFill>
            <a:prstDash val="solid"/>
          </a:ln>
        </p:spPr>
        <p:txBody>
          <a:bodyPr/>
          <a:lstStyle/>
          <a:p>
            <a:endParaRPr lang="en-US"/>
          </a:p>
        </p:txBody>
      </p:sp>
      <p:sp>
        <p:nvSpPr>
          <p:cNvPr id="5" name="Text 3"/>
          <p:cNvSpPr/>
          <p:nvPr/>
        </p:nvSpPr>
        <p:spPr>
          <a:xfrm>
            <a:off x="548640" y="4023360"/>
            <a:ext cx="8686800" cy="731520"/>
          </a:xfrm>
          <a:prstGeom prst="rect">
            <a:avLst/>
          </a:prstGeom>
          <a:noFill/>
          <a:ln/>
        </p:spPr>
        <p:txBody>
          <a:bodyPr wrap="square" lIns="0" tIns="0" rIns="0" bIns="0" rtlCol="0" anchor="ctr"/>
          <a:lstStyle/>
          <a:p>
            <a:pPr marL="0" indent="0" algn="l">
              <a:buNone/>
            </a:pPr>
            <a:r>
              <a:rPr lang="en-US" sz="1500" i="1" dirty="0">
                <a:solidFill>
                  <a:srgbClr val="B9BFC1"/>
                </a:solidFill>
                <a:latin typeface="Calibri" pitchFamily="34" charset="0"/>
                <a:ea typeface="Calibri" pitchFamily="34" charset="-122"/>
                <a:cs typeface="Calibri" pitchFamily="34" charset="-120"/>
              </a:rPr>
              <a:t>Win-win to zero-sum: when mutual advantage becomes leverage.</a:t>
            </a:r>
            <a:endParaRPr lang="en-US" sz="150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B9BFC1"/>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The Traditional Great-Power View</a:t>
            </a:r>
            <a:endParaRPr lang="en-US" sz="3200" dirty="0"/>
          </a:p>
        </p:txBody>
      </p:sp>
      <p:sp>
        <p:nvSpPr>
          <p:cNvPr id="3" name="Text 1"/>
          <p:cNvSpPr/>
          <p:nvPr/>
        </p:nvSpPr>
        <p:spPr>
          <a:xfrm>
            <a:off x="548640" y="1078992"/>
            <a:ext cx="11094415" cy="365760"/>
          </a:xfrm>
          <a:prstGeom prst="rect">
            <a:avLst/>
          </a:prstGeom>
          <a:noFill/>
          <a:ln/>
        </p:spPr>
        <p:txBody>
          <a:bodyPr wrap="square" lIns="0" tIns="0" rIns="0" bIns="0" rtlCol="0" anchor="ctr"/>
          <a:lstStyle/>
          <a:p>
            <a:pPr marL="0" indent="0" algn="l">
              <a:buNone/>
            </a:pPr>
            <a:r>
              <a:rPr lang="en-US" sz="1450" i="1" dirty="0">
                <a:solidFill>
                  <a:srgbClr val="4E5E61"/>
                </a:solidFill>
                <a:latin typeface="Calibri" pitchFamily="34" charset="0"/>
                <a:ea typeface="Calibri" pitchFamily="34" charset="-122"/>
                <a:cs typeface="Calibri" pitchFamily="34" charset="-120"/>
              </a:rPr>
              <a:t>Mill-Bickerdike: the optimal tariff for a large economy.</a:t>
            </a:r>
            <a:endParaRPr lang="en-US" sz="1450" dirty="0"/>
          </a:p>
        </p:txBody>
      </p:sp>
      <p:sp>
        <p:nvSpPr>
          <p:cNvPr id="4" name="Shape 2"/>
          <p:cNvSpPr/>
          <p:nvPr/>
        </p:nvSpPr>
        <p:spPr>
          <a:xfrm>
            <a:off x="548640" y="1691640"/>
            <a:ext cx="5166360" cy="2011680"/>
          </a:xfrm>
          <a:prstGeom prst="roundRect">
            <a:avLst>
              <a:gd name="adj" fmla="val 2727"/>
            </a:avLst>
          </a:prstGeom>
          <a:solidFill>
            <a:srgbClr val="EDF0F0"/>
          </a:solidFill>
          <a:ln/>
        </p:spPr>
        <p:txBody>
          <a:bodyPr/>
          <a:lstStyle/>
          <a:p>
            <a:endParaRPr lang="en-US"/>
          </a:p>
        </p:txBody>
      </p:sp>
      <p:sp>
        <p:nvSpPr>
          <p:cNvPr id="5" name="Shape 3"/>
          <p:cNvSpPr/>
          <p:nvPr/>
        </p:nvSpPr>
        <p:spPr>
          <a:xfrm>
            <a:off x="896112" y="1947672"/>
            <a:ext cx="438912" cy="438912"/>
          </a:xfrm>
          <a:prstGeom prst="ellipse">
            <a:avLst/>
          </a:prstGeom>
          <a:solidFill>
            <a:srgbClr val="EB811B"/>
          </a:solidFill>
          <a:ln/>
        </p:spPr>
        <p:txBody>
          <a:bodyPr/>
          <a:lstStyle/>
          <a:p>
            <a:endParaRPr lang="en-US"/>
          </a:p>
        </p:txBody>
      </p:sp>
      <p:sp>
        <p:nvSpPr>
          <p:cNvPr id="6" name="Text 4"/>
          <p:cNvSpPr/>
          <p:nvPr/>
        </p:nvSpPr>
        <p:spPr>
          <a:xfrm>
            <a:off x="896112" y="1947672"/>
            <a:ext cx="438912" cy="438912"/>
          </a:xfrm>
          <a:prstGeom prst="rect">
            <a:avLst/>
          </a:prstGeom>
          <a:noFill/>
          <a:ln/>
        </p:spPr>
        <p:txBody>
          <a:bodyPr wrap="square" lIns="0" tIns="0" rIns="0" bIns="0" rtlCol="0" anchor="ctr"/>
          <a:lstStyle/>
          <a:p>
            <a:pPr marL="0" indent="0" algn="ctr">
              <a:buNone/>
            </a:pPr>
            <a:r>
              <a:rPr lang="en-US" sz="1500" b="1" dirty="0">
                <a:solidFill>
                  <a:srgbClr val="23373B"/>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896112" y="2514600"/>
            <a:ext cx="4471416" cy="411480"/>
          </a:xfrm>
          <a:prstGeom prst="rect">
            <a:avLst/>
          </a:prstGeom>
          <a:noFill/>
          <a:ln/>
        </p:spPr>
        <p:txBody>
          <a:bodyPr wrap="square" lIns="0" tIns="0" rIns="0" bIns="0" rtlCol="0" anchor="ctr"/>
          <a:lstStyle/>
          <a:p>
            <a:pPr marL="0" indent="0" algn="l">
              <a:buNone/>
            </a:pPr>
            <a:r>
              <a:rPr lang="en-US" sz="1600" b="1" dirty="0">
                <a:solidFill>
                  <a:srgbClr val="23373B"/>
                </a:solidFill>
                <a:latin typeface="Cambria" pitchFamily="34" charset="0"/>
                <a:ea typeface="Cambria" pitchFamily="34" charset="-122"/>
                <a:cs typeface="Cambria" pitchFamily="34" charset="-120"/>
              </a:rPr>
              <a:t>Terms of Trade</a:t>
            </a:r>
            <a:endParaRPr lang="en-US" sz="1600" dirty="0"/>
          </a:p>
        </p:txBody>
      </p:sp>
      <p:sp>
        <p:nvSpPr>
          <p:cNvPr id="8" name="Text 6"/>
          <p:cNvSpPr/>
          <p:nvPr/>
        </p:nvSpPr>
        <p:spPr>
          <a:xfrm>
            <a:off x="896112" y="2971800"/>
            <a:ext cx="4471416" cy="640080"/>
          </a:xfrm>
          <a:prstGeom prst="rect">
            <a:avLst/>
          </a:prstGeom>
          <a:noFill/>
          <a:ln/>
        </p:spPr>
        <p:txBody>
          <a:bodyPr wrap="square" lIns="0" tIns="0" rIns="0" bIns="0" rtlCol="0" anchor="t"/>
          <a:lstStyle/>
          <a:p>
            <a:pPr marL="0" indent="0" algn="l">
              <a:lnSpc>
                <a:spcPct val="115000"/>
              </a:lnSpc>
              <a:buNone/>
            </a:pPr>
            <a:r>
              <a:rPr lang="en-US" sz="1250" dirty="0">
                <a:solidFill>
                  <a:srgbClr val="4E5E61"/>
                </a:solidFill>
                <a:latin typeface="Calibri" pitchFamily="34" charset="0"/>
                <a:ea typeface="Calibri" pitchFamily="34" charset="-122"/>
                <a:cs typeface="Calibri" pitchFamily="34" charset="-120"/>
              </a:rPr>
              <a:t>How much you get from what you sell, relative to how much you pay for what you buy. Tariffs can shift this in your favour.</a:t>
            </a:r>
            <a:endParaRPr lang="en-US" sz="1250" dirty="0"/>
          </a:p>
        </p:txBody>
      </p:sp>
      <p:sp>
        <p:nvSpPr>
          <p:cNvPr id="9" name="Shape 7"/>
          <p:cNvSpPr/>
          <p:nvPr/>
        </p:nvSpPr>
        <p:spPr>
          <a:xfrm>
            <a:off x="6080760" y="1691640"/>
            <a:ext cx="5166360" cy="2011680"/>
          </a:xfrm>
          <a:prstGeom prst="roundRect">
            <a:avLst>
              <a:gd name="adj" fmla="val 2727"/>
            </a:avLst>
          </a:prstGeom>
          <a:solidFill>
            <a:srgbClr val="EDF0F0"/>
          </a:solidFill>
          <a:ln/>
        </p:spPr>
        <p:txBody>
          <a:bodyPr/>
          <a:lstStyle/>
          <a:p>
            <a:endParaRPr lang="en-US"/>
          </a:p>
        </p:txBody>
      </p:sp>
      <p:sp>
        <p:nvSpPr>
          <p:cNvPr id="10" name="Shape 8"/>
          <p:cNvSpPr/>
          <p:nvPr/>
        </p:nvSpPr>
        <p:spPr>
          <a:xfrm>
            <a:off x="6428232" y="1947672"/>
            <a:ext cx="438912" cy="438912"/>
          </a:xfrm>
          <a:prstGeom prst="ellipse">
            <a:avLst/>
          </a:prstGeom>
          <a:solidFill>
            <a:srgbClr val="EB811B"/>
          </a:solidFill>
          <a:ln/>
        </p:spPr>
        <p:txBody>
          <a:bodyPr/>
          <a:lstStyle/>
          <a:p>
            <a:endParaRPr lang="en-US"/>
          </a:p>
        </p:txBody>
      </p:sp>
      <p:sp>
        <p:nvSpPr>
          <p:cNvPr id="11" name="Text 9"/>
          <p:cNvSpPr/>
          <p:nvPr/>
        </p:nvSpPr>
        <p:spPr>
          <a:xfrm>
            <a:off x="6428232" y="1947672"/>
            <a:ext cx="438912" cy="438912"/>
          </a:xfrm>
          <a:prstGeom prst="rect">
            <a:avLst/>
          </a:prstGeom>
          <a:noFill/>
          <a:ln/>
        </p:spPr>
        <p:txBody>
          <a:bodyPr wrap="square" lIns="0" tIns="0" rIns="0" bIns="0" rtlCol="0" anchor="ctr"/>
          <a:lstStyle/>
          <a:p>
            <a:pPr marL="0" indent="0" algn="ctr">
              <a:buNone/>
            </a:pPr>
            <a:r>
              <a:rPr lang="en-US" sz="1500" b="1" dirty="0">
                <a:solidFill>
                  <a:srgbClr val="23373B"/>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6428232" y="2514600"/>
            <a:ext cx="4471416" cy="411480"/>
          </a:xfrm>
          <a:prstGeom prst="rect">
            <a:avLst/>
          </a:prstGeom>
          <a:noFill/>
          <a:ln/>
        </p:spPr>
        <p:txBody>
          <a:bodyPr wrap="square" lIns="0" tIns="0" rIns="0" bIns="0" rtlCol="0" anchor="ctr"/>
          <a:lstStyle/>
          <a:p>
            <a:pPr marL="0" indent="0" algn="l">
              <a:buNone/>
            </a:pPr>
            <a:r>
              <a:rPr lang="en-US" sz="1600" b="1" dirty="0">
                <a:solidFill>
                  <a:srgbClr val="23373B"/>
                </a:solidFill>
                <a:latin typeface="Cambria" pitchFamily="34" charset="0"/>
                <a:ea typeface="Cambria" pitchFamily="34" charset="-122"/>
                <a:cs typeface="Cambria" pitchFamily="34" charset="-120"/>
              </a:rPr>
              <a:t>The Large-Country Advantage</a:t>
            </a:r>
            <a:endParaRPr lang="en-US" sz="1600" dirty="0"/>
          </a:p>
        </p:txBody>
      </p:sp>
      <p:sp>
        <p:nvSpPr>
          <p:cNvPr id="13" name="Text 11"/>
          <p:cNvSpPr/>
          <p:nvPr/>
        </p:nvSpPr>
        <p:spPr>
          <a:xfrm>
            <a:off x="6428232" y="2971800"/>
            <a:ext cx="4471416" cy="640080"/>
          </a:xfrm>
          <a:prstGeom prst="rect">
            <a:avLst/>
          </a:prstGeom>
          <a:noFill/>
          <a:ln/>
        </p:spPr>
        <p:txBody>
          <a:bodyPr wrap="square" lIns="0" tIns="0" rIns="0" bIns="0" rtlCol="0" anchor="t"/>
          <a:lstStyle/>
          <a:p>
            <a:pPr marL="0" indent="0" algn="l">
              <a:lnSpc>
                <a:spcPct val="115000"/>
              </a:lnSpc>
              <a:buNone/>
            </a:pPr>
            <a:r>
              <a:rPr lang="en-US" sz="1250" dirty="0">
                <a:solidFill>
                  <a:srgbClr val="4E5E61"/>
                </a:solidFill>
                <a:latin typeface="Calibri" pitchFamily="34" charset="0"/>
                <a:ea typeface="Calibri" pitchFamily="34" charset="-122"/>
                <a:cs typeface="Calibri" pitchFamily="34" charset="-120"/>
              </a:rPr>
              <a:t>Big importers can depress world prices by restricting demand. Small countries can’t; they face the full domestic cost of the tariff.</a:t>
            </a:r>
            <a:endParaRPr lang="en-US" sz="1250" dirty="0"/>
          </a:p>
        </p:txBody>
      </p:sp>
      <p:sp>
        <p:nvSpPr>
          <p:cNvPr id="14" name="Shape 12"/>
          <p:cNvSpPr/>
          <p:nvPr/>
        </p:nvSpPr>
        <p:spPr>
          <a:xfrm>
            <a:off x="548640" y="3840480"/>
            <a:ext cx="5166360" cy="2011680"/>
          </a:xfrm>
          <a:prstGeom prst="roundRect">
            <a:avLst>
              <a:gd name="adj" fmla="val 2727"/>
            </a:avLst>
          </a:prstGeom>
          <a:solidFill>
            <a:srgbClr val="EDF0F0"/>
          </a:solidFill>
          <a:ln/>
        </p:spPr>
        <p:txBody>
          <a:bodyPr/>
          <a:lstStyle/>
          <a:p>
            <a:endParaRPr lang="en-US"/>
          </a:p>
        </p:txBody>
      </p:sp>
      <p:sp>
        <p:nvSpPr>
          <p:cNvPr id="15" name="Shape 13"/>
          <p:cNvSpPr/>
          <p:nvPr/>
        </p:nvSpPr>
        <p:spPr>
          <a:xfrm>
            <a:off x="896112" y="4096512"/>
            <a:ext cx="438912" cy="438912"/>
          </a:xfrm>
          <a:prstGeom prst="ellipse">
            <a:avLst/>
          </a:prstGeom>
          <a:solidFill>
            <a:srgbClr val="EB811B"/>
          </a:solidFill>
          <a:ln/>
        </p:spPr>
        <p:txBody>
          <a:bodyPr/>
          <a:lstStyle/>
          <a:p>
            <a:endParaRPr lang="en-US"/>
          </a:p>
        </p:txBody>
      </p:sp>
      <p:sp>
        <p:nvSpPr>
          <p:cNvPr id="16" name="Text 14"/>
          <p:cNvSpPr/>
          <p:nvPr/>
        </p:nvSpPr>
        <p:spPr>
          <a:xfrm>
            <a:off x="896112" y="4096512"/>
            <a:ext cx="438912" cy="438912"/>
          </a:xfrm>
          <a:prstGeom prst="rect">
            <a:avLst/>
          </a:prstGeom>
          <a:noFill/>
          <a:ln/>
        </p:spPr>
        <p:txBody>
          <a:bodyPr wrap="square" lIns="0" tIns="0" rIns="0" bIns="0" rtlCol="0" anchor="ctr"/>
          <a:lstStyle/>
          <a:p>
            <a:pPr marL="0" indent="0" algn="ctr">
              <a:buNone/>
            </a:pPr>
            <a:r>
              <a:rPr lang="en-US" sz="1500" b="1" dirty="0">
                <a:solidFill>
                  <a:srgbClr val="23373B"/>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896112" y="4663440"/>
            <a:ext cx="4471416" cy="411480"/>
          </a:xfrm>
          <a:prstGeom prst="rect">
            <a:avLst/>
          </a:prstGeom>
          <a:noFill/>
          <a:ln/>
        </p:spPr>
        <p:txBody>
          <a:bodyPr wrap="square" lIns="0" tIns="0" rIns="0" bIns="0" rtlCol="0" anchor="ctr"/>
          <a:lstStyle/>
          <a:p>
            <a:pPr marL="0" indent="0" algn="l">
              <a:buNone/>
            </a:pPr>
            <a:r>
              <a:rPr lang="en-US" sz="1600" b="1" dirty="0">
                <a:solidFill>
                  <a:srgbClr val="23373B"/>
                </a:solidFill>
                <a:latin typeface="Cambria" pitchFamily="34" charset="0"/>
                <a:ea typeface="Cambria" pitchFamily="34" charset="-122"/>
                <a:cs typeface="Cambria" pitchFamily="34" charset="-120"/>
              </a:rPr>
              <a:t>The Optimal Tariff Formula</a:t>
            </a:r>
            <a:endParaRPr lang="en-US" sz="1600" dirty="0"/>
          </a:p>
        </p:txBody>
      </p:sp>
      <p:sp>
        <p:nvSpPr>
          <p:cNvPr id="18" name="Text 16"/>
          <p:cNvSpPr/>
          <p:nvPr/>
        </p:nvSpPr>
        <p:spPr>
          <a:xfrm>
            <a:off x="896112" y="5120640"/>
            <a:ext cx="4471416" cy="640080"/>
          </a:xfrm>
          <a:prstGeom prst="rect">
            <a:avLst/>
          </a:prstGeom>
          <a:noFill/>
          <a:ln/>
        </p:spPr>
        <p:txBody>
          <a:bodyPr wrap="square" lIns="0" tIns="0" rIns="0" bIns="0" rtlCol="0" anchor="t"/>
          <a:lstStyle/>
          <a:p>
            <a:pPr marL="0" indent="0" algn="l">
              <a:lnSpc>
                <a:spcPct val="115000"/>
              </a:lnSpc>
              <a:buNone/>
            </a:pPr>
            <a:r>
              <a:rPr lang="en-US" sz="1250" dirty="0">
                <a:solidFill>
                  <a:srgbClr val="4E5E61"/>
                </a:solidFill>
                <a:latin typeface="Calibri" pitchFamily="34" charset="0"/>
                <a:ea typeface="Calibri" pitchFamily="34" charset="-122"/>
                <a:cs typeface="Calibri" pitchFamily="34" charset="-120"/>
              </a:rPr>
              <a:t>Inversely proportional to foreign export supply elasticity. Inelastic supply → large terms-of-trade gain, small domestic distortion.</a:t>
            </a:r>
            <a:endParaRPr lang="en-US" sz="1250" dirty="0"/>
          </a:p>
        </p:txBody>
      </p:sp>
      <p:sp>
        <p:nvSpPr>
          <p:cNvPr id="19" name="Shape 17"/>
          <p:cNvSpPr/>
          <p:nvPr/>
        </p:nvSpPr>
        <p:spPr>
          <a:xfrm>
            <a:off x="6080760" y="3840480"/>
            <a:ext cx="5166360" cy="2011680"/>
          </a:xfrm>
          <a:prstGeom prst="roundRect">
            <a:avLst>
              <a:gd name="adj" fmla="val 2727"/>
            </a:avLst>
          </a:prstGeom>
          <a:solidFill>
            <a:srgbClr val="EDF0F0"/>
          </a:solidFill>
          <a:ln/>
        </p:spPr>
        <p:txBody>
          <a:bodyPr/>
          <a:lstStyle/>
          <a:p>
            <a:endParaRPr lang="en-US"/>
          </a:p>
        </p:txBody>
      </p:sp>
      <p:sp>
        <p:nvSpPr>
          <p:cNvPr id="20" name="Shape 18"/>
          <p:cNvSpPr/>
          <p:nvPr/>
        </p:nvSpPr>
        <p:spPr>
          <a:xfrm>
            <a:off x="6428232" y="4096512"/>
            <a:ext cx="438912" cy="438912"/>
          </a:xfrm>
          <a:prstGeom prst="ellipse">
            <a:avLst/>
          </a:prstGeom>
          <a:solidFill>
            <a:srgbClr val="EB811B"/>
          </a:solidFill>
          <a:ln/>
        </p:spPr>
        <p:txBody>
          <a:bodyPr/>
          <a:lstStyle/>
          <a:p>
            <a:endParaRPr lang="en-US"/>
          </a:p>
        </p:txBody>
      </p:sp>
      <p:sp>
        <p:nvSpPr>
          <p:cNvPr id="21" name="Text 19"/>
          <p:cNvSpPr/>
          <p:nvPr/>
        </p:nvSpPr>
        <p:spPr>
          <a:xfrm>
            <a:off x="6428232" y="4096512"/>
            <a:ext cx="438912" cy="438912"/>
          </a:xfrm>
          <a:prstGeom prst="rect">
            <a:avLst/>
          </a:prstGeom>
          <a:noFill/>
          <a:ln/>
        </p:spPr>
        <p:txBody>
          <a:bodyPr wrap="square" lIns="0" tIns="0" rIns="0" bIns="0" rtlCol="0" anchor="ctr"/>
          <a:lstStyle/>
          <a:p>
            <a:pPr marL="0" indent="0" algn="ctr">
              <a:buNone/>
            </a:pPr>
            <a:r>
              <a:rPr lang="en-US" sz="1500" b="1" dirty="0">
                <a:solidFill>
                  <a:srgbClr val="23373B"/>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6428232" y="4663440"/>
            <a:ext cx="4471416" cy="411480"/>
          </a:xfrm>
          <a:prstGeom prst="rect">
            <a:avLst/>
          </a:prstGeom>
          <a:noFill/>
          <a:ln/>
        </p:spPr>
        <p:txBody>
          <a:bodyPr wrap="square" lIns="0" tIns="0" rIns="0" bIns="0" rtlCol="0" anchor="ctr"/>
          <a:lstStyle/>
          <a:p>
            <a:pPr marL="0" indent="0" algn="l">
              <a:buNone/>
            </a:pPr>
            <a:r>
              <a:rPr lang="en-US" sz="1600" b="1" dirty="0">
                <a:solidFill>
                  <a:srgbClr val="23373B"/>
                </a:solidFill>
                <a:latin typeface="Cambria" pitchFamily="34" charset="0"/>
                <a:ea typeface="Cambria" pitchFamily="34" charset="-122"/>
                <a:cs typeface="Cambria" pitchFamily="34" charset="-120"/>
              </a:rPr>
              <a:t>Deadweight Loss</a:t>
            </a:r>
            <a:endParaRPr lang="en-US" sz="1600" dirty="0"/>
          </a:p>
        </p:txBody>
      </p:sp>
      <p:sp>
        <p:nvSpPr>
          <p:cNvPr id="23" name="Text 21"/>
          <p:cNvSpPr/>
          <p:nvPr/>
        </p:nvSpPr>
        <p:spPr>
          <a:xfrm>
            <a:off x="6428232" y="5120640"/>
            <a:ext cx="4471416" cy="640080"/>
          </a:xfrm>
          <a:prstGeom prst="rect">
            <a:avLst/>
          </a:prstGeom>
          <a:noFill/>
          <a:ln/>
        </p:spPr>
        <p:txBody>
          <a:bodyPr wrap="square" lIns="0" tIns="0" rIns="0" bIns="0" rtlCol="0" anchor="t"/>
          <a:lstStyle/>
          <a:p>
            <a:pPr marL="0" indent="0" algn="l">
              <a:lnSpc>
                <a:spcPct val="115000"/>
              </a:lnSpc>
              <a:buNone/>
            </a:pPr>
            <a:r>
              <a:rPr lang="en-US" sz="1250" dirty="0">
                <a:solidFill>
                  <a:srgbClr val="4E5E61"/>
                </a:solidFill>
                <a:latin typeface="Calibri" pitchFamily="34" charset="0"/>
                <a:ea typeface="Calibri" pitchFamily="34" charset="-122"/>
                <a:cs typeface="Calibri" pitchFamily="34" charset="-120"/>
              </a:rPr>
              <a:t>Tariffs also distort domestic consumer and producer choices — the net gain requires that terms-of-trade gains exceed these losses.</a:t>
            </a:r>
            <a:endParaRPr lang="en-US" sz="125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4E5E61"/>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The Toolkit of Economic Statecraft</a:t>
            </a:r>
            <a:endParaRPr lang="en-US" sz="3200" dirty="0"/>
          </a:p>
        </p:txBody>
      </p:sp>
      <p:sp>
        <p:nvSpPr>
          <p:cNvPr id="3" name="Text 1"/>
          <p:cNvSpPr/>
          <p:nvPr/>
        </p:nvSpPr>
        <p:spPr>
          <a:xfrm>
            <a:off x="548640" y="1078992"/>
            <a:ext cx="11094415" cy="365760"/>
          </a:xfrm>
          <a:prstGeom prst="rect">
            <a:avLst/>
          </a:prstGeom>
          <a:noFill/>
          <a:ln/>
        </p:spPr>
        <p:txBody>
          <a:bodyPr wrap="square" lIns="0" tIns="0" rIns="0" bIns="0" rtlCol="0" anchor="ctr"/>
          <a:lstStyle/>
          <a:p>
            <a:pPr marL="0" indent="0" algn="l">
              <a:buNone/>
            </a:pPr>
            <a:r>
              <a:rPr lang="en-US" sz="1450" i="1" dirty="0">
                <a:solidFill>
                  <a:srgbClr val="4E5E61"/>
                </a:solidFill>
                <a:latin typeface="Calibri" pitchFamily="34" charset="0"/>
                <a:ea typeface="Calibri" pitchFamily="34" charset="-122"/>
                <a:cs typeface="Calibri" pitchFamily="34" charset="-120"/>
              </a:rPr>
              <a:t>Tariffs are just one instrument. The full set is wider and less visible.</a:t>
            </a:r>
            <a:endParaRPr lang="en-US" sz="1450" dirty="0"/>
          </a:p>
        </p:txBody>
      </p:sp>
      <p:sp>
        <p:nvSpPr>
          <p:cNvPr id="4" name="Shape 2"/>
          <p:cNvSpPr/>
          <p:nvPr/>
        </p:nvSpPr>
        <p:spPr>
          <a:xfrm>
            <a:off x="548640" y="1645920"/>
            <a:ext cx="11094415" cy="649224"/>
          </a:xfrm>
          <a:prstGeom prst="rect">
            <a:avLst/>
          </a:prstGeom>
          <a:solidFill>
            <a:srgbClr val="EDF0F0"/>
          </a:solidFill>
          <a:ln/>
        </p:spPr>
        <p:txBody>
          <a:bodyPr/>
          <a:lstStyle/>
          <a:p>
            <a:endParaRPr lang="en-US"/>
          </a:p>
        </p:txBody>
      </p:sp>
      <p:sp>
        <p:nvSpPr>
          <p:cNvPr id="5" name="Text 3"/>
          <p:cNvSpPr/>
          <p:nvPr/>
        </p:nvSpPr>
        <p:spPr>
          <a:xfrm>
            <a:off x="822960" y="1719072"/>
            <a:ext cx="4206240" cy="502920"/>
          </a:xfrm>
          <a:prstGeom prst="rect">
            <a:avLst/>
          </a:prstGeom>
          <a:noFill/>
          <a:ln/>
        </p:spPr>
        <p:txBody>
          <a:bodyPr wrap="square" lIns="0" tIns="0" rIns="0" bIns="0" rtlCol="0" anchor="ctr"/>
          <a:lstStyle/>
          <a:p>
            <a:pPr marL="0" indent="0" algn="l">
              <a:buNone/>
            </a:pPr>
            <a:r>
              <a:rPr lang="en-US" sz="1350" b="1" dirty="0">
                <a:solidFill>
                  <a:srgbClr val="23373B"/>
                </a:solidFill>
                <a:latin typeface="Calibri" pitchFamily="34" charset="0"/>
                <a:ea typeface="Calibri" pitchFamily="34" charset="-122"/>
                <a:cs typeface="Calibri" pitchFamily="34" charset="-120"/>
              </a:rPr>
              <a:t>Tariffs, quotas, import bans</a:t>
            </a:r>
            <a:endParaRPr lang="en-US" sz="1350" dirty="0"/>
          </a:p>
        </p:txBody>
      </p:sp>
      <p:sp>
        <p:nvSpPr>
          <p:cNvPr id="6" name="Text 4"/>
          <p:cNvSpPr/>
          <p:nvPr/>
        </p:nvSpPr>
        <p:spPr>
          <a:xfrm>
            <a:off x="5303520" y="1719072"/>
            <a:ext cx="6613855" cy="502920"/>
          </a:xfrm>
          <a:prstGeom prst="rect">
            <a:avLst/>
          </a:prstGeom>
          <a:noFill/>
          <a:ln/>
        </p:spPr>
        <p:txBody>
          <a:bodyPr wrap="square" lIns="0" tIns="0" rIns="0" bIns="0" rtlCol="0" anchor="ctr"/>
          <a:lstStyle/>
          <a:p>
            <a:pPr marL="0" indent="0" algn="l">
              <a:buNone/>
            </a:pPr>
            <a:r>
              <a:rPr lang="en-US" sz="1300" dirty="0">
                <a:solidFill>
                  <a:srgbClr val="4E5E61"/>
                </a:solidFill>
                <a:latin typeface="Calibri" pitchFamily="34" charset="0"/>
                <a:ea typeface="Calibri" pitchFamily="34" charset="-122"/>
                <a:cs typeface="Calibri" pitchFamily="34" charset="-120"/>
              </a:rPr>
              <a:t>Restrict market access for foreign goods; protect domestic producers</a:t>
            </a:r>
            <a:endParaRPr lang="en-US" sz="1300" dirty="0"/>
          </a:p>
        </p:txBody>
      </p:sp>
      <p:sp>
        <p:nvSpPr>
          <p:cNvPr id="7" name="Shape 5"/>
          <p:cNvSpPr/>
          <p:nvPr/>
        </p:nvSpPr>
        <p:spPr>
          <a:xfrm>
            <a:off x="548640" y="2331720"/>
            <a:ext cx="11094415" cy="649224"/>
          </a:xfrm>
          <a:prstGeom prst="rect">
            <a:avLst/>
          </a:prstGeom>
          <a:solidFill>
            <a:srgbClr val="FAFAFA"/>
          </a:solidFill>
          <a:ln/>
        </p:spPr>
        <p:txBody>
          <a:bodyPr/>
          <a:lstStyle/>
          <a:p>
            <a:endParaRPr lang="en-US"/>
          </a:p>
        </p:txBody>
      </p:sp>
      <p:sp>
        <p:nvSpPr>
          <p:cNvPr id="8" name="Text 6"/>
          <p:cNvSpPr/>
          <p:nvPr/>
        </p:nvSpPr>
        <p:spPr>
          <a:xfrm>
            <a:off x="822960" y="2404872"/>
            <a:ext cx="4206240" cy="502920"/>
          </a:xfrm>
          <a:prstGeom prst="rect">
            <a:avLst/>
          </a:prstGeom>
          <a:noFill/>
          <a:ln/>
        </p:spPr>
        <p:txBody>
          <a:bodyPr wrap="square" lIns="0" tIns="0" rIns="0" bIns="0" rtlCol="0" anchor="ctr"/>
          <a:lstStyle/>
          <a:p>
            <a:pPr marL="0" indent="0" algn="l">
              <a:buNone/>
            </a:pPr>
            <a:r>
              <a:rPr lang="en-US" sz="1350" b="1" dirty="0">
                <a:solidFill>
                  <a:srgbClr val="23373B"/>
                </a:solidFill>
                <a:latin typeface="Calibri" pitchFamily="34" charset="0"/>
                <a:ea typeface="Calibri" pitchFamily="34" charset="-122"/>
                <a:cs typeface="Calibri" pitchFamily="34" charset="-120"/>
              </a:rPr>
              <a:t>Export controls</a:t>
            </a:r>
            <a:endParaRPr lang="en-US" sz="1350" dirty="0"/>
          </a:p>
        </p:txBody>
      </p:sp>
      <p:sp>
        <p:nvSpPr>
          <p:cNvPr id="9" name="Text 7"/>
          <p:cNvSpPr/>
          <p:nvPr/>
        </p:nvSpPr>
        <p:spPr>
          <a:xfrm>
            <a:off x="5303520" y="2404872"/>
            <a:ext cx="6613855" cy="502920"/>
          </a:xfrm>
          <a:prstGeom prst="rect">
            <a:avLst/>
          </a:prstGeom>
          <a:noFill/>
          <a:ln/>
        </p:spPr>
        <p:txBody>
          <a:bodyPr wrap="square" lIns="0" tIns="0" rIns="0" bIns="0" rtlCol="0" anchor="ctr"/>
          <a:lstStyle/>
          <a:p>
            <a:pPr marL="0" indent="0" algn="l">
              <a:buNone/>
            </a:pPr>
            <a:r>
              <a:rPr lang="en-US" sz="1300" dirty="0">
                <a:solidFill>
                  <a:srgbClr val="4E5E61"/>
                </a:solidFill>
                <a:latin typeface="Calibri" pitchFamily="34" charset="0"/>
                <a:ea typeface="Calibri" pitchFamily="34" charset="-122"/>
                <a:cs typeface="Calibri" pitchFamily="34" charset="-120"/>
              </a:rPr>
              <a:t>Deny opponents access to advanced technologies (chips, AI, biotech)</a:t>
            </a:r>
            <a:endParaRPr lang="en-US" sz="1300" dirty="0"/>
          </a:p>
        </p:txBody>
      </p:sp>
      <p:sp>
        <p:nvSpPr>
          <p:cNvPr id="10" name="Shape 8"/>
          <p:cNvSpPr/>
          <p:nvPr/>
        </p:nvSpPr>
        <p:spPr>
          <a:xfrm>
            <a:off x="548640" y="3017520"/>
            <a:ext cx="11094415" cy="649224"/>
          </a:xfrm>
          <a:prstGeom prst="rect">
            <a:avLst/>
          </a:prstGeom>
          <a:solidFill>
            <a:srgbClr val="EDF0F0"/>
          </a:solidFill>
          <a:ln/>
        </p:spPr>
        <p:txBody>
          <a:bodyPr/>
          <a:lstStyle/>
          <a:p>
            <a:endParaRPr lang="en-US"/>
          </a:p>
        </p:txBody>
      </p:sp>
      <p:sp>
        <p:nvSpPr>
          <p:cNvPr id="11" name="Text 9"/>
          <p:cNvSpPr/>
          <p:nvPr/>
        </p:nvSpPr>
        <p:spPr>
          <a:xfrm>
            <a:off x="822960" y="3090672"/>
            <a:ext cx="4206240" cy="502920"/>
          </a:xfrm>
          <a:prstGeom prst="rect">
            <a:avLst/>
          </a:prstGeom>
          <a:noFill/>
          <a:ln/>
        </p:spPr>
        <p:txBody>
          <a:bodyPr wrap="square" lIns="0" tIns="0" rIns="0" bIns="0" rtlCol="0" anchor="ctr"/>
          <a:lstStyle/>
          <a:p>
            <a:pPr marL="0" indent="0" algn="l">
              <a:buNone/>
            </a:pPr>
            <a:r>
              <a:rPr lang="en-US" sz="1350" b="1" dirty="0">
                <a:solidFill>
                  <a:srgbClr val="23373B"/>
                </a:solidFill>
                <a:latin typeface="Calibri" pitchFamily="34" charset="0"/>
                <a:ea typeface="Calibri" pitchFamily="34" charset="-122"/>
                <a:cs typeface="Calibri" pitchFamily="34" charset="-120"/>
              </a:rPr>
              <a:t>Investment restrictions / CFIUS</a:t>
            </a:r>
            <a:endParaRPr lang="en-US" sz="1350" dirty="0"/>
          </a:p>
        </p:txBody>
      </p:sp>
      <p:sp>
        <p:nvSpPr>
          <p:cNvPr id="12" name="Text 10"/>
          <p:cNvSpPr/>
          <p:nvPr/>
        </p:nvSpPr>
        <p:spPr>
          <a:xfrm>
            <a:off x="5303520" y="3090672"/>
            <a:ext cx="6613855" cy="502920"/>
          </a:xfrm>
          <a:prstGeom prst="rect">
            <a:avLst/>
          </a:prstGeom>
          <a:noFill/>
          <a:ln/>
        </p:spPr>
        <p:txBody>
          <a:bodyPr wrap="square" lIns="0" tIns="0" rIns="0" bIns="0" rtlCol="0" anchor="ctr"/>
          <a:lstStyle/>
          <a:p>
            <a:pPr marL="0" indent="0" algn="l">
              <a:buNone/>
            </a:pPr>
            <a:r>
              <a:rPr lang="en-US" sz="1300" dirty="0">
                <a:solidFill>
                  <a:srgbClr val="4E5E61"/>
                </a:solidFill>
                <a:latin typeface="Calibri" pitchFamily="34" charset="0"/>
                <a:ea typeface="Calibri" pitchFamily="34" charset="-122"/>
                <a:cs typeface="Calibri" pitchFamily="34" charset="-120"/>
              </a:rPr>
              <a:t>Block foreign acquisitions that jeopardise national security</a:t>
            </a:r>
            <a:endParaRPr lang="en-US" sz="1300" dirty="0"/>
          </a:p>
        </p:txBody>
      </p:sp>
      <p:sp>
        <p:nvSpPr>
          <p:cNvPr id="13" name="Shape 11"/>
          <p:cNvSpPr/>
          <p:nvPr/>
        </p:nvSpPr>
        <p:spPr>
          <a:xfrm>
            <a:off x="548640" y="3703320"/>
            <a:ext cx="11094415" cy="649224"/>
          </a:xfrm>
          <a:prstGeom prst="rect">
            <a:avLst/>
          </a:prstGeom>
          <a:solidFill>
            <a:srgbClr val="FAFAFA"/>
          </a:solidFill>
          <a:ln/>
        </p:spPr>
        <p:txBody>
          <a:bodyPr/>
          <a:lstStyle/>
          <a:p>
            <a:endParaRPr lang="en-US"/>
          </a:p>
        </p:txBody>
      </p:sp>
      <p:sp>
        <p:nvSpPr>
          <p:cNvPr id="14" name="Text 12"/>
          <p:cNvSpPr/>
          <p:nvPr/>
        </p:nvSpPr>
        <p:spPr>
          <a:xfrm>
            <a:off x="822960" y="3776472"/>
            <a:ext cx="4206240" cy="502920"/>
          </a:xfrm>
          <a:prstGeom prst="rect">
            <a:avLst/>
          </a:prstGeom>
          <a:noFill/>
          <a:ln/>
        </p:spPr>
        <p:txBody>
          <a:bodyPr wrap="square" lIns="0" tIns="0" rIns="0" bIns="0" rtlCol="0" anchor="ctr"/>
          <a:lstStyle/>
          <a:p>
            <a:pPr marL="0" indent="0" algn="l">
              <a:buNone/>
            </a:pPr>
            <a:r>
              <a:rPr lang="en-US" sz="1350" b="1" dirty="0">
                <a:solidFill>
                  <a:srgbClr val="23373B"/>
                </a:solidFill>
                <a:latin typeface="Calibri" pitchFamily="34" charset="0"/>
                <a:ea typeface="Calibri" pitchFamily="34" charset="-122"/>
                <a:cs typeface="Calibri" pitchFamily="34" charset="-120"/>
              </a:rPr>
              <a:t>Sanctions / asset freezes</a:t>
            </a:r>
            <a:endParaRPr lang="en-US" sz="1350" dirty="0"/>
          </a:p>
        </p:txBody>
      </p:sp>
      <p:sp>
        <p:nvSpPr>
          <p:cNvPr id="15" name="Text 13"/>
          <p:cNvSpPr/>
          <p:nvPr/>
        </p:nvSpPr>
        <p:spPr>
          <a:xfrm>
            <a:off x="5303520" y="3776472"/>
            <a:ext cx="6613855" cy="502920"/>
          </a:xfrm>
          <a:prstGeom prst="rect">
            <a:avLst/>
          </a:prstGeom>
          <a:noFill/>
          <a:ln/>
        </p:spPr>
        <p:txBody>
          <a:bodyPr wrap="square" lIns="0" tIns="0" rIns="0" bIns="0" rtlCol="0" anchor="ctr"/>
          <a:lstStyle/>
          <a:p>
            <a:pPr marL="0" indent="0" algn="l">
              <a:buNone/>
            </a:pPr>
            <a:r>
              <a:rPr lang="en-US" sz="1300" dirty="0">
                <a:solidFill>
                  <a:srgbClr val="4E5E61"/>
                </a:solidFill>
                <a:latin typeface="Calibri" pitchFamily="34" charset="0"/>
                <a:ea typeface="Calibri" pitchFamily="34" charset="-122"/>
                <a:cs typeface="Calibri" pitchFamily="34" charset="-120"/>
              </a:rPr>
              <a:t>Weaponise dollar system and financial infrastructure (Russia, Iran)</a:t>
            </a:r>
            <a:endParaRPr lang="en-US" sz="1300" dirty="0"/>
          </a:p>
        </p:txBody>
      </p:sp>
      <p:sp>
        <p:nvSpPr>
          <p:cNvPr id="16" name="Shape 14"/>
          <p:cNvSpPr/>
          <p:nvPr/>
        </p:nvSpPr>
        <p:spPr>
          <a:xfrm>
            <a:off x="548640" y="4389120"/>
            <a:ext cx="11094415" cy="649224"/>
          </a:xfrm>
          <a:prstGeom prst="rect">
            <a:avLst/>
          </a:prstGeom>
          <a:solidFill>
            <a:srgbClr val="EDF0F0"/>
          </a:solidFill>
          <a:ln/>
        </p:spPr>
        <p:txBody>
          <a:bodyPr/>
          <a:lstStyle/>
          <a:p>
            <a:endParaRPr lang="en-US"/>
          </a:p>
        </p:txBody>
      </p:sp>
      <p:sp>
        <p:nvSpPr>
          <p:cNvPr id="17" name="Text 15"/>
          <p:cNvSpPr/>
          <p:nvPr/>
        </p:nvSpPr>
        <p:spPr>
          <a:xfrm>
            <a:off x="822960" y="4462272"/>
            <a:ext cx="4206240" cy="502920"/>
          </a:xfrm>
          <a:prstGeom prst="rect">
            <a:avLst/>
          </a:prstGeom>
          <a:noFill/>
          <a:ln/>
        </p:spPr>
        <p:txBody>
          <a:bodyPr wrap="square" lIns="0" tIns="0" rIns="0" bIns="0" rtlCol="0" anchor="ctr"/>
          <a:lstStyle/>
          <a:p>
            <a:pPr marL="0" indent="0" algn="l">
              <a:buNone/>
            </a:pPr>
            <a:r>
              <a:rPr lang="en-US" sz="1350" b="1" dirty="0">
                <a:solidFill>
                  <a:srgbClr val="23373B"/>
                </a:solidFill>
                <a:latin typeface="Calibri" pitchFamily="34" charset="0"/>
                <a:ea typeface="Calibri" pitchFamily="34" charset="-122"/>
                <a:cs typeface="Calibri" pitchFamily="34" charset="-120"/>
              </a:rPr>
              <a:t>State subsidies &amp; industrial policy</a:t>
            </a:r>
            <a:endParaRPr lang="en-US" sz="1350" dirty="0"/>
          </a:p>
        </p:txBody>
      </p:sp>
      <p:sp>
        <p:nvSpPr>
          <p:cNvPr id="18" name="Text 16"/>
          <p:cNvSpPr/>
          <p:nvPr/>
        </p:nvSpPr>
        <p:spPr>
          <a:xfrm>
            <a:off x="5303520" y="4462272"/>
            <a:ext cx="6613855" cy="502920"/>
          </a:xfrm>
          <a:prstGeom prst="rect">
            <a:avLst/>
          </a:prstGeom>
          <a:noFill/>
          <a:ln/>
        </p:spPr>
        <p:txBody>
          <a:bodyPr wrap="square" lIns="0" tIns="0" rIns="0" bIns="0" rtlCol="0" anchor="ctr"/>
          <a:lstStyle/>
          <a:p>
            <a:pPr marL="0" indent="0" algn="l">
              <a:buNone/>
            </a:pPr>
            <a:r>
              <a:rPr lang="en-US" sz="1300" dirty="0">
                <a:solidFill>
                  <a:srgbClr val="4E5E61"/>
                </a:solidFill>
                <a:latin typeface="Calibri" pitchFamily="34" charset="0"/>
                <a:ea typeface="Calibri" pitchFamily="34" charset="-122"/>
                <a:cs typeface="Calibri" pitchFamily="34" charset="-120"/>
              </a:rPr>
              <a:t>Self-improvement: build domestic capacity in strategic sectors</a:t>
            </a:r>
            <a:endParaRPr lang="en-US" sz="1300" dirty="0"/>
          </a:p>
        </p:txBody>
      </p:sp>
      <p:sp>
        <p:nvSpPr>
          <p:cNvPr id="19" name="Shape 17"/>
          <p:cNvSpPr/>
          <p:nvPr/>
        </p:nvSpPr>
        <p:spPr>
          <a:xfrm>
            <a:off x="548640" y="5074920"/>
            <a:ext cx="11094415" cy="649224"/>
          </a:xfrm>
          <a:prstGeom prst="rect">
            <a:avLst/>
          </a:prstGeom>
          <a:solidFill>
            <a:srgbClr val="FAFAFA"/>
          </a:solidFill>
          <a:ln/>
        </p:spPr>
        <p:txBody>
          <a:bodyPr/>
          <a:lstStyle/>
          <a:p>
            <a:endParaRPr lang="en-US"/>
          </a:p>
        </p:txBody>
      </p:sp>
      <p:sp>
        <p:nvSpPr>
          <p:cNvPr id="20" name="Text 18"/>
          <p:cNvSpPr/>
          <p:nvPr/>
        </p:nvSpPr>
        <p:spPr>
          <a:xfrm>
            <a:off x="822960" y="5148072"/>
            <a:ext cx="4206240" cy="502920"/>
          </a:xfrm>
          <a:prstGeom prst="rect">
            <a:avLst/>
          </a:prstGeom>
          <a:noFill/>
          <a:ln/>
        </p:spPr>
        <p:txBody>
          <a:bodyPr wrap="square" lIns="0" tIns="0" rIns="0" bIns="0" rtlCol="0" anchor="ctr"/>
          <a:lstStyle/>
          <a:p>
            <a:pPr marL="0" indent="0" algn="l">
              <a:buNone/>
            </a:pPr>
            <a:r>
              <a:rPr lang="en-US" sz="1350" b="1" dirty="0">
                <a:solidFill>
                  <a:srgbClr val="23373B"/>
                </a:solidFill>
                <a:latin typeface="Calibri" pitchFamily="34" charset="0"/>
                <a:ea typeface="Calibri" pitchFamily="34" charset="-122"/>
                <a:cs typeface="Calibri" pitchFamily="34" charset="-120"/>
              </a:rPr>
              <a:t>Foreign aid, concessionary loans</a:t>
            </a:r>
            <a:endParaRPr lang="en-US" sz="1350" dirty="0"/>
          </a:p>
        </p:txBody>
      </p:sp>
      <p:sp>
        <p:nvSpPr>
          <p:cNvPr id="21" name="Text 19"/>
          <p:cNvSpPr/>
          <p:nvPr/>
        </p:nvSpPr>
        <p:spPr>
          <a:xfrm>
            <a:off x="5303520" y="5148072"/>
            <a:ext cx="6613855" cy="502920"/>
          </a:xfrm>
          <a:prstGeom prst="rect">
            <a:avLst/>
          </a:prstGeom>
          <a:noFill/>
          <a:ln/>
        </p:spPr>
        <p:txBody>
          <a:bodyPr wrap="square" lIns="0" tIns="0" rIns="0" bIns="0" rtlCol="0" anchor="ctr"/>
          <a:lstStyle/>
          <a:p>
            <a:pPr marL="0" indent="0" algn="l">
              <a:buNone/>
            </a:pPr>
            <a:r>
              <a:rPr lang="en-US" sz="1300" dirty="0">
                <a:solidFill>
                  <a:srgbClr val="4E5E61"/>
                </a:solidFill>
                <a:latin typeface="Calibri" pitchFamily="34" charset="0"/>
                <a:ea typeface="Calibri" pitchFamily="34" charset="-122"/>
                <a:cs typeface="Calibri" pitchFamily="34" charset="-120"/>
              </a:rPr>
              <a:t>Extend influence; shape partners’ infrastructure and political economy</a:t>
            </a:r>
            <a:endParaRPr lang="en-US" sz="1300" dirty="0"/>
          </a:p>
        </p:txBody>
      </p:sp>
      <p:sp>
        <p:nvSpPr>
          <p:cNvPr id="22" name="Shape 20"/>
          <p:cNvSpPr/>
          <p:nvPr/>
        </p:nvSpPr>
        <p:spPr>
          <a:xfrm>
            <a:off x="548640" y="5760720"/>
            <a:ext cx="11094415" cy="649224"/>
          </a:xfrm>
          <a:prstGeom prst="rect">
            <a:avLst/>
          </a:prstGeom>
          <a:solidFill>
            <a:srgbClr val="EDF0F0"/>
          </a:solidFill>
          <a:ln/>
        </p:spPr>
        <p:txBody>
          <a:bodyPr/>
          <a:lstStyle/>
          <a:p>
            <a:endParaRPr lang="en-US"/>
          </a:p>
        </p:txBody>
      </p:sp>
      <p:sp>
        <p:nvSpPr>
          <p:cNvPr id="23" name="Text 21"/>
          <p:cNvSpPr/>
          <p:nvPr/>
        </p:nvSpPr>
        <p:spPr>
          <a:xfrm>
            <a:off x="822960" y="5833872"/>
            <a:ext cx="4206240" cy="502920"/>
          </a:xfrm>
          <a:prstGeom prst="rect">
            <a:avLst/>
          </a:prstGeom>
          <a:noFill/>
          <a:ln/>
        </p:spPr>
        <p:txBody>
          <a:bodyPr wrap="square" lIns="0" tIns="0" rIns="0" bIns="0" rtlCol="0" anchor="ctr"/>
          <a:lstStyle/>
          <a:p>
            <a:pPr marL="0" indent="0" algn="l">
              <a:buNone/>
            </a:pPr>
            <a:r>
              <a:rPr lang="en-US" sz="1350" b="1" dirty="0">
                <a:solidFill>
                  <a:srgbClr val="23373B"/>
                </a:solidFill>
                <a:latin typeface="Calibri" pitchFamily="34" charset="0"/>
                <a:ea typeface="Calibri" pitchFamily="34" charset="-122"/>
                <a:cs typeface="Calibri" pitchFamily="34" charset="-120"/>
              </a:rPr>
              <a:t>Preferential trade agreements</a:t>
            </a:r>
            <a:endParaRPr lang="en-US" sz="1350" dirty="0"/>
          </a:p>
        </p:txBody>
      </p:sp>
      <p:sp>
        <p:nvSpPr>
          <p:cNvPr id="24" name="Text 22"/>
          <p:cNvSpPr/>
          <p:nvPr/>
        </p:nvSpPr>
        <p:spPr>
          <a:xfrm>
            <a:off x="5303520" y="5833872"/>
            <a:ext cx="6613855" cy="502920"/>
          </a:xfrm>
          <a:prstGeom prst="rect">
            <a:avLst/>
          </a:prstGeom>
          <a:noFill/>
          <a:ln/>
        </p:spPr>
        <p:txBody>
          <a:bodyPr wrap="square" lIns="0" tIns="0" rIns="0" bIns="0" rtlCol="0" anchor="ctr"/>
          <a:lstStyle/>
          <a:p>
            <a:pPr marL="0" indent="0" algn="l">
              <a:buNone/>
            </a:pPr>
            <a:r>
              <a:rPr lang="en-US" sz="1300" dirty="0">
                <a:solidFill>
                  <a:srgbClr val="4E5E61"/>
                </a:solidFill>
                <a:latin typeface="Calibri" pitchFamily="34" charset="0"/>
                <a:ea typeface="Calibri" pitchFamily="34" charset="-122"/>
                <a:cs typeface="Calibri" pitchFamily="34" charset="-120"/>
              </a:rPr>
              <a:t>Reward friends; exclude rivals from supply chains and standards</a:t>
            </a:r>
            <a:endParaRPr lang="en-US" sz="130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4E5E61"/>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nvSpPr>
        <p:spPr>
          <a:xfrm>
            <a:off x="548640" y="320040"/>
            <a:ext cx="11094415" cy="1188720"/>
          </a:xfrm>
          <a:prstGeom prst="rect">
            <a:avLst/>
          </a:prstGeom>
          <a:noFill/>
          <a:ln/>
        </p:spPr>
        <p:txBody>
          <a:bodyPr wrap="square" lIns="0" tIns="0" rIns="0" bIns="0" rtlCol="0" anchor="t"/>
          <a:lstStyle/>
          <a:p>
            <a:pPr marL="0" indent="0" algn="l">
              <a:buNone/>
            </a:pPr>
            <a:r>
              <a:rPr lang="en-US" sz="3200" b="1" dirty="0">
                <a:solidFill>
                  <a:srgbClr val="23373B"/>
                </a:solidFill>
                <a:latin typeface="Cambria" pitchFamily="34" charset="0"/>
                <a:ea typeface="Cambria" pitchFamily="34" charset="-122"/>
                <a:cs typeface="Cambria" pitchFamily="34" charset="-120"/>
              </a:rPr>
              <a:t>Characteristics of a Specific Instrument of Economic Statecraft</a:t>
            </a:r>
            <a:endParaRPr lang="en-US" sz="3200" dirty="0"/>
          </a:p>
        </p:txBody>
      </p:sp>
      <p:sp>
        <p:nvSpPr>
          <p:cNvPr id="3" name="Text 3"/>
          <p:cNvSpPr/>
          <p:nvPr/>
        </p:nvSpPr>
        <p:spPr>
          <a:xfrm>
            <a:off x="548640" y="1600200"/>
            <a:ext cx="11094415" cy="365760"/>
          </a:xfrm>
          <a:prstGeom prst="rect">
            <a:avLst/>
          </a:prstGeom>
          <a:noFill/>
          <a:ln/>
        </p:spPr>
        <p:txBody>
          <a:bodyPr wrap="square" lIns="0" tIns="0" rIns="0" bIns="0" rtlCol="0" anchor="ctr"/>
          <a:lstStyle/>
          <a:p>
            <a:pPr marL="0" indent="0" algn="l">
              <a:buNone/>
            </a:pPr>
            <a:r>
              <a:rPr lang="en-US" sz="1450" i="1" dirty="0">
                <a:solidFill>
                  <a:srgbClr val="4E5E61"/>
                </a:solidFill>
                <a:latin typeface="Calibri" pitchFamily="34" charset="0"/>
                <a:ea typeface="Calibri" pitchFamily="34" charset="-122"/>
                <a:cs typeface="Calibri" pitchFamily="34" charset="-120"/>
              </a:rPr>
              <a:t>Two dimensions define where an instrument sits: how broadly it applies, and which direction it pushes.</a:t>
            </a:r>
            <a:endParaRPr lang="en-US" sz="1450" dirty="0"/>
          </a:p>
        </p:txBody>
      </p:sp>
      <p:sp>
        <p:nvSpPr>
          <p:cNvPr id="4" name="Shape 4"/>
          <p:cNvSpPr/>
          <p:nvPr/>
        </p:nvSpPr>
        <p:spPr>
          <a:xfrm>
            <a:off x="548640" y="2148840"/>
            <a:ext cx="11094415" cy="457200"/>
          </a:xfrm>
          <a:prstGeom prst="rect">
            <a:avLst/>
          </a:prstGeom>
          <a:solidFill>
            <a:srgbClr val="23373B"/>
          </a:solidFill>
          <a:ln/>
        </p:spPr>
        <p:txBody>
          <a:bodyPr/>
          <a:lstStyle/>
          <a:p>
            <a:endParaRPr lang="en-US"/>
          </a:p>
        </p:txBody>
      </p:sp>
      <p:sp>
        <p:nvSpPr>
          <p:cNvPr id="5" name="Text 5"/>
          <p:cNvSpPr/>
          <p:nvPr/>
        </p:nvSpPr>
        <p:spPr>
          <a:xfrm>
            <a:off x="2423160" y="2148840"/>
            <a:ext cx="4495647"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CARROT</a:t>
            </a:r>
            <a:endParaRPr lang="en-US" sz="1500" dirty="0"/>
          </a:p>
        </p:txBody>
      </p:sp>
      <p:sp>
        <p:nvSpPr>
          <p:cNvPr id="6" name="Text 6"/>
          <p:cNvSpPr/>
          <p:nvPr/>
        </p:nvSpPr>
        <p:spPr>
          <a:xfrm>
            <a:off x="7147407" y="2148840"/>
            <a:ext cx="4495647"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STICK</a:t>
            </a:r>
            <a:endParaRPr lang="en-US" sz="1500" dirty="0"/>
          </a:p>
        </p:txBody>
      </p:sp>
      <p:sp>
        <p:nvSpPr>
          <p:cNvPr id="7" name="Shape 7"/>
          <p:cNvSpPr/>
          <p:nvPr/>
        </p:nvSpPr>
        <p:spPr>
          <a:xfrm>
            <a:off x="548640" y="2788920"/>
            <a:ext cx="1645920" cy="3474720"/>
          </a:xfrm>
          <a:prstGeom prst="rect">
            <a:avLst/>
          </a:prstGeom>
          <a:solidFill>
            <a:srgbClr val="2F4246"/>
          </a:solidFill>
          <a:ln/>
        </p:spPr>
        <p:txBody>
          <a:bodyPr/>
          <a:lstStyle/>
          <a:p>
            <a:endParaRPr lang="en-US"/>
          </a:p>
        </p:txBody>
      </p:sp>
      <p:sp>
        <p:nvSpPr>
          <p:cNvPr id="8" name="Text 8"/>
          <p:cNvSpPr/>
          <p:nvPr/>
        </p:nvSpPr>
        <p:spPr>
          <a:xfrm>
            <a:off x="548640" y="2788920"/>
            <a:ext cx="1645920" cy="1645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GENERAL</a:t>
            </a:r>
            <a:endParaRPr lang="en-US" sz="1500" dirty="0"/>
          </a:p>
        </p:txBody>
      </p:sp>
      <p:sp>
        <p:nvSpPr>
          <p:cNvPr id="9" name="Text 9"/>
          <p:cNvSpPr/>
          <p:nvPr/>
        </p:nvSpPr>
        <p:spPr>
          <a:xfrm>
            <a:off x="548640" y="4617720"/>
            <a:ext cx="1645920" cy="1645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TARGETED</a:t>
            </a:r>
            <a:endParaRPr lang="en-US" sz="1500" dirty="0"/>
          </a:p>
        </p:txBody>
      </p:sp>
      <p:sp>
        <p:nvSpPr>
          <p:cNvPr id="10" name="Shape 10"/>
          <p:cNvSpPr/>
          <p:nvPr/>
        </p:nvSpPr>
        <p:spPr>
          <a:xfrm>
            <a:off x="2423160" y="2788920"/>
            <a:ext cx="4495647" cy="1645920"/>
          </a:xfrm>
          <a:prstGeom prst="roundRect">
            <a:avLst>
              <a:gd name="adj" fmla="val 1644"/>
            </a:avLst>
          </a:prstGeom>
          <a:solidFill>
            <a:srgbClr val="EDF0F0"/>
          </a:solidFill>
          <a:ln/>
        </p:spPr>
        <p:txBody>
          <a:bodyPr/>
          <a:lstStyle/>
          <a:p>
            <a:endParaRPr lang="en-US"/>
          </a:p>
        </p:txBody>
      </p:sp>
      <p:sp>
        <p:nvSpPr>
          <p:cNvPr id="11" name="Text 11"/>
          <p:cNvSpPr/>
          <p:nvPr/>
        </p:nvSpPr>
        <p:spPr>
          <a:xfrm>
            <a:off x="2697480" y="2990088"/>
            <a:ext cx="3947007" cy="502920"/>
          </a:xfrm>
          <a:prstGeom prst="rect">
            <a:avLst/>
          </a:prstGeom>
          <a:noFill/>
          <a:ln/>
        </p:spPr>
        <p:txBody>
          <a:bodyPr wrap="square" lIns="0" tIns="0" rIns="0" bIns="0" rtlCol="0" anchor="t"/>
          <a:lstStyle/>
          <a:p>
            <a:pPr marL="0" indent="0" algn="l">
              <a:buNone/>
            </a:pPr>
            <a:r>
              <a:rPr lang="en-US" sz="1550" b="1" dirty="0">
                <a:solidFill>
                  <a:srgbClr val="23373B"/>
                </a:solidFill>
                <a:latin typeface="Cambria" pitchFamily="34" charset="0"/>
                <a:ea typeface="Cambria" pitchFamily="34" charset="-122"/>
                <a:cs typeface="Cambria" pitchFamily="34" charset="-120"/>
              </a:rPr>
              <a:t>Broad-Based Incentives</a:t>
            </a:r>
            <a:endParaRPr lang="en-US" sz="1550" dirty="0"/>
          </a:p>
        </p:txBody>
      </p:sp>
      <p:sp>
        <p:nvSpPr>
          <p:cNvPr id="12" name="Text 12"/>
          <p:cNvSpPr/>
          <p:nvPr/>
        </p:nvSpPr>
        <p:spPr>
          <a:xfrm>
            <a:off x="2697480" y="3538728"/>
            <a:ext cx="3947007" cy="731520"/>
          </a:xfrm>
          <a:prstGeom prst="rect">
            <a:avLst/>
          </a:prstGeom>
          <a:noFill/>
          <a:ln/>
        </p:spPr>
        <p:txBody>
          <a:bodyPr wrap="square" lIns="0" tIns="0" rIns="0" bIns="0" rtlCol="0" anchor="t"/>
          <a:lstStyle/>
          <a:p>
            <a:pPr marL="0" indent="0" algn="l">
              <a:buNone/>
            </a:pPr>
            <a:r>
              <a:rPr lang="en-US" sz="1250" dirty="0">
                <a:solidFill>
                  <a:srgbClr val="4E5E61"/>
                </a:solidFill>
                <a:latin typeface="Calibri" pitchFamily="34" charset="0"/>
                <a:ea typeface="Calibri" pitchFamily="34" charset="-122"/>
                <a:cs typeface="Calibri" pitchFamily="34" charset="-120"/>
              </a:rPr>
              <a:t>Inducements offered to all partners alike: multilateral trade liberalization, general foreign-aid programs.</a:t>
            </a:r>
            <a:endParaRPr lang="en-US" sz="1250" dirty="0"/>
          </a:p>
        </p:txBody>
      </p:sp>
      <p:sp>
        <p:nvSpPr>
          <p:cNvPr id="13" name="Shape 13"/>
          <p:cNvSpPr/>
          <p:nvPr/>
        </p:nvSpPr>
        <p:spPr>
          <a:xfrm>
            <a:off x="7147407" y="2788920"/>
            <a:ext cx="4495647" cy="1645920"/>
          </a:xfrm>
          <a:prstGeom prst="roundRect">
            <a:avLst>
              <a:gd name="adj" fmla="val 1644"/>
            </a:avLst>
          </a:prstGeom>
          <a:solidFill>
            <a:srgbClr val="EDF0F0"/>
          </a:solidFill>
          <a:ln/>
        </p:spPr>
        <p:txBody>
          <a:bodyPr/>
          <a:lstStyle/>
          <a:p>
            <a:endParaRPr lang="en-US"/>
          </a:p>
        </p:txBody>
      </p:sp>
      <p:sp>
        <p:nvSpPr>
          <p:cNvPr id="14" name="Text 14"/>
          <p:cNvSpPr/>
          <p:nvPr/>
        </p:nvSpPr>
        <p:spPr>
          <a:xfrm>
            <a:off x="7421727" y="2990088"/>
            <a:ext cx="3947007" cy="502920"/>
          </a:xfrm>
          <a:prstGeom prst="rect">
            <a:avLst/>
          </a:prstGeom>
          <a:noFill/>
          <a:ln/>
        </p:spPr>
        <p:txBody>
          <a:bodyPr wrap="square" lIns="0" tIns="0" rIns="0" bIns="0" rtlCol="0" anchor="t"/>
          <a:lstStyle/>
          <a:p>
            <a:pPr marL="0" indent="0" algn="l">
              <a:buNone/>
            </a:pPr>
            <a:r>
              <a:rPr lang="en-US" sz="1550" b="1" dirty="0">
                <a:solidFill>
                  <a:srgbClr val="23373B"/>
                </a:solidFill>
                <a:latin typeface="Cambria" pitchFamily="34" charset="0"/>
                <a:ea typeface="Cambria" pitchFamily="34" charset="-122"/>
                <a:cs typeface="Cambria" pitchFamily="34" charset="-120"/>
              </a:rPr>
              <a:t>Broad-Based Restrictions</a:t>
            </a:r>
            <a:endParaRPr lang="en-US" sz="1550" dirty="0"/>
          </a:p>
        </p:txBody>
      </p:sp>
      <p:sp>
        <p:nvSpPr>
          <p:cNvPr id="15" name="Text 15"/>
          <p:cNvSpPr/>
          <p:nvPr/>
        </p:nvSpPr>
        <p:spPr>
          <a:xfrm>
            <a:off x="7421727" y="3538728"/>
            <a:ext cx="3947007" cy="731520"/>
          </a:xfrm>
          <a:prstGeom prst="rect">
            <a:avLst/>
          </a:prstGeom>
          <a:noFill/>
          <a:ln/>
        </p:spPr>
        <p:txBody>
          <a:bodyPr wrap="square" lIns="0" tIns="0" rIns="0" bIns="0" rtlCol="0" anchor="t"/>
          <a:lstStyle/>
          <a:p>
            <a:pPr marL="0" indent="0" algn="l">
              <a:buNone/>
            </a:pPr>
            <a:r>
              <a:rPr lang="en-US" sz="1250" dirty="0">
                <a:solidFill>
                  <a:srgbClr val="4E5E61"/>
                </a:solidFill>
                <a:latin typeface="Calibri" pitchFamily="34" charset="0"/>
                <a:ea typeface="Calibri" pitchFamily="34" charset="-122"/>
                <a:cs typeface="Calibri" pitchFamily="34" charset="-120"/>
              </a:rPr>
              <a:t>Restrictions applied across the board: global baseline tariffs, blanket export controls.</a:t>
            </a:r>
            <a:endParaRPr lang="en-US" sz="1250" dirty="0"/>
          </a:p>
        </p:txBody>
      </p:sp>
      <p:sp>
        <p:nvSpPr>
          <p:cNvPr id="16" name="Shape 16"/>
          <p:cNvSpPr/>
          <p:nvPr/>
        </p:nvSpPr>
        <p:spPr>
          <a:xfrm>
            <a:off x="2423160" y="4617720"/>
            <a:ext cx="4495647" cy="1645920"/>
          </a:xfrm>
          <a:prstGeom prst="roundRect">
            <a:avLst>
              <a:gd name="adj" fmla="val 1644"/>
            </a:avLst>
          </a:prstGeom>
          <a:solidFill>
            <a:srgbClr val="EDF0F0"/>
          </a:solidFill>
          <a:ln/>
        </p:spPr>
        <p:txBody>
          <a:bodyPr/>
          <a:lstStyle/>
          <a:p>
            <a:endParaRPr lang="en-US"/>
          </a:p>
        </p:txBody>
      </p:sp>
      <p:sp>
        <p:nvSpPr>
          <p:cNvPr id="17" name="Text 17"/>
          <p:cNvSpPr/>
          <p:nvPr/>
        </p:nvSpPr>
        <p:spPr>
          <a:xfrm>
            <a:off x="2697480" y="4818888"/>
            <a:ext cx="3947007" cy="502920"/>
          </a:xfrm>
          <a:prstGeom prst="rect">
            <a:avLst/>
          </a:prstGeom>
          <a:noFill/>
          <a:ln/>
        </p:spPr>
        <p:txBody>
          <a:bodyPr wrap="square" lIns="0" tIns="0" rIns="0" bIns="0" rtlCol="0" anchor="t"/>
          <a:lstStyle/>
          <a:p>
            <a:pPr marL="0" indent="0" algn="l">
              <a:buNone/>
            </a:pPr>
            <a:r>
              <a:rPr lang="en-US" sz="1550" b="1" dirty="0">
                <a:solidFill>
                  <a:srgbClr val="23373B"/>
                </a:solidFill>
                <a:latin typeface="Cambria" pitchFamily="34" charset="0"/>
                <a:ea typeface="Cambria" pitchFamily="34" charset="-122"/>
                <a:cs typeface="Cambria" pitchFamily="34" charset="-120"/>
              </a:rPr>
              <a:t>Partner-Specific Incentives</a:t>
            </a:r>
            <a:endParaRPr lang="en-US" sz="1550" dirty="0"/>
          </a:p>
        </p:txBody>
      </p:sp>
      <p:sp>
        <p:nvSpPr>
          <p:cNvPr id="18" name="Text 18"/>
          <p:cNvSpPr/>
          <p:nvPr/>
        </p:nvSpPr>
        <p:spPr>
          <a:xfrm>
            <a:off x="2697480" y="5367528"/>
            <a:ext cx="3947007" cy="731520"/>
          </a:xfrm>
          <a:prstGeom prst="rect">
            <a:avLst/>
          </a:prstGeom>
          <a:noFill/>
          <a:ln/>
        </p:spPr>
        <p:txBody>
          <a:bodyPr wrap="square" lIns="0" tIns="0" rIns="0" bIns="0" rtlCol="0" anchor="t"/>
          <a:lstStyle/>
          <a:p>
            <a:pPr marL="0" indent="0" algn="l">
              <a:buNone/>
            </a:pPr>
            <a:r>
              <a:rPr lang="en-US" sz="1250" dirty="0">
                <a:solidFill>
                  <a:srgbClr val="4E5E61"/>
                </a:solidFill>
                <a:latin typeface="Calibri" pitchFamily="34" charset="0"/>
                <a:ea typeface="Calibri" pitchFamily="34" charset="-122"/>
                <a:cs typeface="Calibri" pitchFamily="34" charset="-120"/>
              </a:rPr>
              <a:t>Inducements aimed at one actor: bilateral investment pledges, country-specific concessionary loans.</a:t>
            </a:r>
            <a:endParaRPr lang="en-US" sz="1250" dirty="0"/>
          </a:p>
        </p:txBody>
      </p:sp>
      <p:sp>
        <p:nvSpPr>
          <p:cNvPr id="19" name="Shape 19"/>
          <p:cNvSpPr/>
          <p:nvPr/>
        </p:nvSpPr>
        <p:spPr>
          <a:xfrm>
            <a:off x="7147407" y="4617720"/>
            <a:ext cx="4495647" cy="1645920"/>
          </a:xfrm>
          <a:prstGeom prst="roundRect">
            <a:avLst>
              <a:gd name="adj" fmla="val 1644"/>
            </a:avLst>
          </a:prstGeom>
          <a:solidFill>
            <a:srgbClr val="EDF0F0"/>
          </a:solidFill>
          <a:ln/>
        </p:spPr>
        <p:txBody>
          <a:bodyPr/>
          <a:lstStyle/>
          <a:p>
            <a:endParaRPr lang="en-US"/>
          </a:p>
        </p:txBody>
      </p:sp>
      <p:sp>
        <p:nvSpPr>
          <p:cNvPr id="20" name="Text 20"/>
          <p:cNvSpPr/>
          <p:nvPr/>
        </p:nvSpPr>
        <p:spPr>
          <a:xfrm>
            <a:off x="7421727" y="4818888"/>
            <a:ext cx="3947007" cy="502920"/>
          </a:xfrm>
          <a:prstGeom prst="rect">
            <a:avLst/>
          </a:prstGeom>
          <a:noFill/>
          <a:ln/>
        </p:spPr>
        <p:txBody>
          <a:bodyPr wrap="square" lIns="0" tIns="0" rIns="0" bIns="0" rtlCol="0" anchor="t"/>
          <a:lstStyle/>
          <a:p>
            <a:pPr marL="0" indent="0" algn="l">
              <a:buNone/>
            </a:pPr>
            <a:r>
              <a:rPr lang="en-US" sz="1550" b="1" dirty="0">
                <a:solidFill>
                  <a:srgbClr val="23373B"/>
                </a:solidFill>
                <a:latin typeface="Cambria" pitchFamily="34" charset="0"/>
                <a:ea typeface="Cambria" pitchFamily="34" charset="-122"/>
                <a:cs typeface="Cambria" pitchFamily="34" charset="-120"/>
              </a:rPr>
              <a:t>Partner-Specific Restrictions</a:t>
            </a:r>
            <a:endParaRPr lang="en-US" sz="1550" dirty="0"/>
          </a:p>
        </p:txBody>
      </p:sp>
      <p:sp>
        <p:nvSpPr>
          <p:cNvPr id="21" name="Text 21"/>
          <p:cNvSpPr/>
          <p:nvPr/>
        </p:nvSpPr>
        <p:spPr>
          <a:xfrm>
            <a:off x="7421727" y="5367528"/>
            <a:ext cx="3947007" cy="731520"/>
          </a:xfrm>
          <a:prstGeom prst="rect">
            <a:avLst/>
          </a:prstGeom>
          <a:noFill/>
          <a:ln/>
        </p:spPr>
        <p:txBody>
          <a:bodyPr wrap="square" lIns="0" tIns="0" rIns="0" bIns="0" rtlCol="0" anchor="t"/>
          <a:lstStyle/>
          <a:p>
            <a:pPr marL="0" indent="0" algn="l">
              <a:buNone/>
            </a:pPr>
            <a:r>
              <a:rPr lang="en-US" sz="1250" dirty="0">
                <a:solidFill>
                  <a:srgbClr val="4E5E61"/>
                </a:solidFill>
                <a:latin typeface="Calibri" pitchFamily="34" charset="0"/>
                <a:ea typeface="Calibri" pitchFamily="34" charset="-122"/>
                <a:cs typeface="Calibri" pitchFamily="34" charset="-120"/>
              </a:rPr>
              <a:t>Restrictions aimed at one actor: sanctions on named entities, export controls on specific technologies.</a:t>
            </a:r>
            <a:endParaRPr lang="en-US" sz="1250" dirty="0"/>
          </a:p>
        </p:txBody>
      </p:sp>
      <p:sp>
        <p:nvSpPr>
          <p:cNvPr id="22"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4E5E61"/>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Multiple Characteristics, Sliding Scale</a:t>
            </a:r>
            <a:endParaRPr lang="en-US" sz="3200" dirty="0"/>
          </a:p>
        </p:txBody>
      </p:sp>
      <p:sp>
        <p:nvSpPr>
          <p:cNvPr id="3" name="Text 3"/>
          <p:cNvSpPr/>
          <p:nvPr/>
        </p:nvSpPr>
        <p:spPr>
          <a:xfrm>
            <a:off x="548640" y="1078992"/>
            <a:ext cx="11094415" cy="365760"/>
          </a:xfrm>
          <a:prstGeom prst="rect">
            <a:avLst/>
          </a:prstGeom>
          <a:noFill/>
          <a:ln/>
        </p:spPr>
        <p:txBody>
          <a:bodyPr wrap="square" lIns="0" tIns="0" rIns="0" bIns="0" rtlCol="0" anchor="ctr"/>
          <a:lstStyle/>
          <a:p>
            <a:pPr marL="0" indent="0" algn="l">
              <a:buNone/>
            </a:pPr>
            <a:r>
              <a:rPr lang="en-US" sz="1450" i="1" dirty="0">
                <a:solidFill>
                  <a:srgbClr val="4E5E61"/>
                </a:solidFill>
                <a:latin typeface="Calibri" pitchFamily="34" charset="0"/>
                <a:ea typeface="Calibri" pitchFamily="34" charset="-122"/>
                <a:cs typeface="Calibri" pitchFamily="34" charset="-120"/>
              </a:rPr>
              <a:t>The full taxonomy: each instrument scored across several dimensions, not just binary.</a:t>
            </a:r>
            <a:endParaRPr lang="en-US" sz="1450" dirty="0"/>
          </a:p>
        </p:txBody>
      </p:sp>
      <p:sp>
        <p:nvSpPr>
          <p:cNvPr id="4" name="Shape 4"/>
          <p:cNvSpPr/>
          <p:nvPr/>
        </p:nvSpPr>
        <p:spPr>
          <a:xfrm>
            <a:off x="548640" y="1691640"/>
            <a:ext cx="11094415" cy="4389120"/>
          </a:xfrm>
          <a:prstGeom prst="roundRect">
            <a:avLst>
              <a:gd name="adj" fmla="val 1644"/>
            </a:avLst>
          </a:prstGeom>
          <a:solidFill>
            <a:srgbClr val="EDF0F0"/>
          </a:solidFill>
          <a:ln/>
        </p:spPr>
        <p:txBody>
          <a:bodyPr/>
          <a:lstStyle/>
          <a:p>
            <a:endParaRPr lang="en-US"/>
          </a:p>
        </p:txBody>
      </p:sp>
      <p:pic>
        <p:nvPicPr>
          <p:cNvPr id="20" name="Taxonomy Table"/>
          <p:cNvPicPr>
            <a:picLocks noChangeAspect="1"/>
          </p:cNvPicPr>
          <p:nvPr/>
        </p:nvPicPr>
        <p:blipFill>
          <a:blip r:embed="rId2"/>
          <a:stretch>
            <a:fillRect/>
          </a:stretch>
        </p:blipFill>
        <p:spPr>
          <a:xfrm>
            <a:off x="914400" y="2193028"/>
            <a:ext cx="10362895" cy="3386345"/>
          </a:xfrm>
          <a:prstGeom prst="rect">
            <a:avLst/>
          </a:prstGeom>
        </p:spPr>
      </p:pic>
      <p:sp>
        <p:nvSpPr>
          <p:cNvPr id="21"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4E5E61"/>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Real-World Practice</a:t>
            </a:r>
            <a:endParaRPr lang="en-US" sz="3200" dirty="0"/>
          </a:p>
        </p:txBody>
      </p:sp>
      <p:sp>
        <p:nvSpPr>
          <p:cNvPr id="3" name="Text 1"/>
          <p:cNvSpPr/>
          <p:nvPr/>
        </p:nvSpPr>
        <p:spPr>
          <a:xfrm>
            <a:off x="548640" y="1078992"/>
            <a:ext cx="11094415" cy="365760"/>
          </a:xfrm>
          <a:prstGeom prst="rect">
            <a:avLst/>
          </a:prstGeom>
          <a:noFill/>
          <a:ln/>
        </p:spPr>
        <p:txBody>
          <a:bodyPr wrap="square" lIns="0" tIns="0" rIns="0" bIns="0" rtlCol="0" anchor="ctr"/>
          <a:lstStyle/>
          <a:p>
            <a:pPr marL="0" indent="0" algn="l">
              <a:buNone/>
            </a:pPr>
            <a:r>
              <a:rPr lang="en-US" sz="1450" i="1" dirty="0">
                <a:solidFill>
                  <a:srgbClr val="4E5E61"/>
                </a:solidFill>
                <a:latin typeface="Calibri" pitchFamily="34" charset="0"/>
                <a:ea typeface="Calibri" pitchFamily="34" charset="-122"/>
                <a:cs typeface="Calibri" pitchFamily="34" charset="-120"/>
              </a:rPr>
              <a:t>From theory to actual policy interventions.</a:t>
            </a:r>
            <a:endParaRPr lang="en-US" sz="1450" dirty="0"/>
          </a:p>
        </p:txBody>
      </p:sp>
      <p:sp>
        <p:nvSpPr>
          <p:cNvPr id="4" name="Shape 2"/>
          <p:cNvSpPr/>
          <p:nvPr/>
        </p:nvSpPr>
        <p:spPr>
          <a:xfrm>
            <a:off x="548640" y="1691640"/>
            <a:ext cx="11094415" cy="795528"/>
          </a:xfrm>
          <a:prstGeom prst="roundRect">
            <a:avLst>
              <a:gd name="adj" fmla="val 6897"/>
            </a:avLst>
          </a:prstGeom>
          <a:solidFill>
            <a:srgbClr val="EDF0F0"/>
          </a:solidFill>
          <a:ln/>
        </p:spPr>
        <p:txBody>
          <a:bodyPr/>
          <a:lstStyle/>
          <a:p>
            <a:endParaRPr lang="en-US"/>
          </a:p>
        </p:txBody>
      </p:sp>
      <p:sp>
        <p:nvSpPr>
          <p:cNvPr id="5" name="Text 3"/>
          <p:cNvSpPr/>
          <p:nvPr/>
        </p:nvSpPr>
        <p:spPr>
          <a:xfrm>
            <a:off x="822960" y="1691640"/>
            <a:ext cx="1463040" cy="795528"/>
          </a:xfrm>
          <a:prstGeom prst="rect">
            <a:avLst/>
          </a:prstGeom>
          <a:noFill/>
          <a:ln/>
        </p:spPr>
        <p:txBody>
          <a:bodyPr wrap="square" lIns="0" tIns="0" rIns="0" bIns="0" rtlCol="0" anchor="ctr"/>
          <a:lstStyle/>
          <a:p>
            <a:pPr marL="0" indent="0" algn="l">
              <a:buNone/>
            </a:pPr>
            <a:r>
              <a:rPr lang="en-US" sz="1600" b="1" dirty="0">
                <a:solidFill>
                  <a:srgbClr val="EB811B"/>
                </a:solidFill>
                <a:latin typeface="Cambria" pitchFamily="34" charset="0"/>
                <a:ea typeface="Cambria" pitchFamily="34" charset="-122"/>
                <a:cs typeface="Cambria" pitchFamily="34" charset="-120"/>
              </a:rPr>
              <a:t>2018–2019</a:t>
            </a:r>
            <a:endParaRPr lang="en-US" sz="1600" dirty="0"/>
          </a:p>
        </p:txBody>
      </p:sp>
      <p:sp>
        <p:nvSpPr>
          <p:cNvPr id="6" name="Text 4"/>
          <p:cNvSpPr/>
          <p:nvPr/>
        </p:nvSpPr>
        <p:spPr>
          <a:xfrm>
            <a:off x="2468880" y="1764792"/>
            <a:ext cx="2743200" cy="347472"/>
          </a:xfrm>
          <a:prstGeom prst="rect">
            <a:avLst/>
          </a:prstGeom>
          <a:noFill/>
          <a:ln/>
        </p:spPr>
        <p:txBody>
          <a:bodyPr wrap="square" lIns="0" tIns="0" rIns="0" bIns="0" rtlCol="0" anchor="ctr"/>
          <a:lstStyle/>
          <a:p>
            <a:pPr marL="0" indent="0" algn="l">
              <a:buNone/>
            </a:pPr>
            <a:r>
              <a:rPr lang="en-US" sz="1500" b="1" dirty="0">
                <a:solidFill>
                  <a:srgbClr val="23373B"/>
                </a:solidFill>
                <a:latin typeface="Cambria" pitchFamily="34" charset="0"/>
                <a:ea typeface="Cambria" pitchFamily="34" charset="-122"/>
                <a:cs typeface="Cambria" pitchFamily="34" charset="-120"/>
              </a:rPr>
              <a:t>Trump 1.0 Tariffs:</a:t>
            </a:r>
            <a:endParaRPr lang="en-US" sz="1500" dirty="0"/>
          </a:p>
        </p:txBody>
      </p:sp>
      <p:sp>
        <p:nvSpPr>
          <p:cNvPr id="7" name="Text 5"/>
          <p:cNvSpPr/>
          <p:nvPr/>
        </p:nvSpPr>
        <p:spPr>
          <a:xfrm>
            <a:off x="2468880" y="2112264"/>
            <a:ext cx="8899855" cy="384048"/>
          </a:xfrm>
          <a:prstGeom prst="rect">
            <a:avLst/>
          </a:prstGeom>
          <a:noFill/>
          <a:ln/>
        </p:spPr>
        <p:txBody>
          <a:bodyPr wrap="square" lIns="0" tIns="0" rIns="0" bIns="0" rtlCol="0" anchor="ctr"/>
          <a:lstStyle/>
          <a:p>
            <a:pPr marL="0" indent="0" algn="l">
              <a:lnSpc>
                <a:spcPct val="110000"/>
              </a:lnSpc>
              <a:buNone/>
            </a:pPr>
            <a:r>
              <a:rPr lang="en-US" sz="1250" dirty="0">
                <a:solidFill>
                  <a:srgbClr val="4E5E61"/>
                </a:solidFill>
                <a:latin typeface="Calibri" pitchFamily="34" charset="0"/>
                <a:ea typeface="Calibri" pitchFamily="34" charset="-122"/>
                <a:cs typeface="Calibri" pitchFamily="34" charset="-120"/>
              </a:rPr>
              <a:t>25% on steel, 10% on aluminum under Section 232 national security; targeted Section 301 tariffs on Chinese goods citing forced technology transfer.</a:t>
            </a:r>
            <a:endParaRPr lang="en-US" sz="1250" dirty="0"/>
          </a:p>
        </p:txBody>
      </p:sp>
      <p:sp>
        <p:nvSpPr>
          <p:cNvPr id="8" name="Shape 6"/>
          <p:cNvSpPr/>
          <p:nvPr/>
        </p:nvSpPr>
        <p:spPr>
          <a:xfrm>
            <a:off x="548640" y="2560320"/>
            <a:ext cx="11094415" cy="795528"/>
          </a:xfrm>
          <a:prstGeom prst="roundRect">
            <a:avLst>
              <a:gd name="adj" fmla="val 6897"/>
            </a:avLst>
          </a:prstGeom>
          <a:solidFill>
            <a:srgbClr val="EDF0F0"/>
          </a:solidFill>
          <a:ln/>
        </p:spPr>
        <p:txBody>
          <a:bodyPr/>
          <a:lstStyle/>
          <a:p>
            <a:endParaRPr lang="en-US"/>
          </a:p>
        </p:txBody>
      </p:sp>
      <p:sp>
        <p:nvSpPr>
          <p:cNvPr id="9" name="Text 7"/>
          <p:cNvSpPr/>
          <p:nvPr/>
        </p:nvSpPr>
        <p:spPr>
          <a:xfrm>
            <a:off x="822960" y="2560320"/>
            <a:ext cx="1463040" cy="795528"/>
          </a:xfrm>
          <a:prstGeom prst="rect">
            <a:avLst/>
          </a:prstGeom>
          <a:noFill/>
          <a:ln/>
        </p:spPr>
        <p:txBody>
          <a:bodyPr wrap="square" lIns="0" tIns="0" rIns="0" bIns="0" rtlCol="0" anchor="ctr"/>
          <a:lstStyle/>
          <a:p>
            <a:pPr marL="0" indent="0" algn="l">
              <a:buNone/>
            </a:pPr>
            <a:r>
              <a:rPr lang="en-US" sz="1600" b="1" dirty="0">
                <a:solidFill>
                  <a:srgbClr val="EB811B"/>
                </a:solidFill>
                <a:latin typeface="Cambria" pitchFamily="34" charset="0"/>
                <a:ea typeface="Cambria" pitchFamily="34" charset="-122"/>
                <a:cs typeface="Cambria" pitchFamily="34" charset="-120"/>
              </a:rPr>
              <a:t>Apr 2025</a:t>
            </a:r>
            <a:endParaRPr lang="en-US" sz="1600" dirty="0"/>
          </a:p>
        </p:txBody>
      </p:sp>
      <p:sp>
        <p:nvSpPr>
          <p:cNvPr id="10" name="Text 8"/>
          <p:cNvSpPr/>
          <p:nvPr/>
        </p:nvSpPr>
        <p:spPr>
          <a:xfrm>
            <a:off x="2468880" y="2633472"/>
            <a:ext cx="2743200" cy="347472"/>
          </a:xfrm>
          <a:prstGeom prst="rect">
            <a:avLst/>
          </a:prstGeom>
          <a:noFill/>
          <a:ln/>
        </p:spPr>
        <p:txBody>
          <a:bodyPr wrap="square" lIns="0" tIns="0" rIns="0" bIns="0" rtlCol="0" anchor="ctr"/>
          <a:lstStyle/>
          <a:p>
            <a:pPr marL="0" indent="0" algn="l">
              <a:buNone/>
            </a:pPr>
            <a:r>
              <a:rPr lang="en-US" sz="1500" b="1" dirty="0">
                <a:solidFill>
                  <a:srgbClr val="23373B"/>
                </a:solidFill>
                <a:latin typeface="Cambria" pitchFamily="34" charset="0"/>
                <a:ea typeface="Cambria" pitchFamily="34" charset="-122"/>
                <a:cs typeface="Cambria" pitchFamily="34" charset="-120"/>
              </a:rPr>
              <a:t>Liberation Day Tariffs:</a:t>
            </a:r>
            <a:endParaRPr lang="en-US" sz="1500" dirty="0"/>
          </a:p>
        </p:txBody>
      </p:sp>
      <p:sp>
        <p:nvSpPr>
          <p:cNvPr id="11" name="Text 9"/>
          <p:cNvSpPr/>
          <p:nvPr/>
        </p:nvSpPr>
        <p:spPr>
          <a:xfrm>
            <a:off x="2468880" y="2980944"/>
            <a:ext cx="8899855" cy="384048"/>
          </a:xfrm>
          <a:prstGeom prst="rect">
            <a:avLst/>
          </a:prstGeom>
          <a:noFill/>
          <a:ln/>
        </p:spPr>
        <p:txBody>
          <a:bodyPr wrap="square" lIns="0" tIns="0" rIns="0" bIns="0" rtlCol="0" anchor="ctr"/>
          <a:lstStyle/>
          <a:p>
            <a:pPr marL="0" indent="0" algn="l">
              <a:lnSpc>
                <a:spcPct val="110000"/>
              </a:lnSpc>
              <a:buNone/>
            </a:pPr>
            <a:r>
              <a:rPr lang="en-US" sz="1250" dirty="0">
                <a:solidFill>
                  <a:srgbClr val="4E5E61"/>
                </a:solidFill>
                <a:latin typeface="Calibri" pitchFamily="34" charset="0"/>
                <a:ea typeface="Calibri" pitchFamily="34" charset="-122"/>
                <a:cs typeface="Calibri" pitchFamily="34" charset="-120"/>
              </a:rPr>
              <a:t>IEEPA-based 10% global baseline, plus bilateral variation by trade balance. Close to 150 nations affected — not just China.</a:t>
            </a:r>
            <a:endParaRPr lang="en-US" sz="1250" dirty="0"/>
          </a:p>
        </p:txBody>
      </p:sp>
      <p:sp>
        <p:nvSpPr>
          <p:cNvPr id="12" name="Shape 10"/>
          <p:cNvSpPr/>
          <p:nvPr/>
        </p:nvSpPr>
        <p:spPr>
          <a:xfrm>
            <a:off x="548640" y="3429000"/>
            <a:ext cx="11094415" cy="795528"/>
          </a:xfrm>
          <a:prstGeom prst="roundRect">
            <a:avLst>
              <a:gd name="adj" fmla="val 6897"/>
            </a:avLst>
          </a:prstGeom>
          <a:solidFill>
            <a:srgbClr val="EDF0F0"/>
          </a:solidFill>
          <a:ln/>
        </p:spPr>
        <p:txBody>
          <a:bodyPr/>
          <a:lstStyle/>
          <a:p>
            <a:endParaRPr lang="en-US"/>
          </a:p>
        </p:txBody>
      </p:sp>
      <p:sp>
        <p:nvSpPr>
          <p:cNvPr id="13" name="Text 11"/>
          <p:cNvSpPr/>
          <p:nvPr/>
        </p:nvSpPr>
        <p:spPr>
          <a:xfrm>
            <a:off x="822960" y="3429000"/>
            <a:ext cx="1463040" cy="795528"/>
          </a:xfrm>
          <a:prstGeom prst="rect">
            <a:avLst/>
          </a:prstGeom>
          <a:noFill/>
          <a:ln/>
        </p:spPr>
        <p:txBody>
          <a:bodyPr wrap="square" lIns="0" tIns="0" rIns="0" bIns="0" rtlCol="0" anchor="ctr"/>
          <a:lstStyle/>
          <a:p>
            <a:pPr marL="0" indent="0" algn="l">
              <a:buNone/>
            </a:pPr>
            <a:r>
              <a:rPr lang="en-US" sz="1600" b="1" dirty="0">
                <a:solidFill>
                  <a:srgbClr val="EB811B"/>
                </a:solidFill>
                <a:latin typeface="Cambria" pitchFamily="34" charset="0"/>
                <a:ea typeface="Cambria" pitchFamily="34" charset="-122"/>
                <a:cs typeface="Cambria" pitchFamily="34" charset="-120"/>
              </a:rPr>
              <a:t>Feb 2026</a:t>
            </a:r>
            <a:endParaRPr lang="en-US" sz="1600" dirty="0"/>
          </a:p>
        </p:txBody>
      </p:sp>
      <p:sp>
        <p:nvSpPr>
          <p:cNvPr id="14" name="Text 12"/>
          <p:cNvSpPr/>
          <p:nvPr/>
        </p:nvSpPr>
        <p:spPr>
          <a:xfrm>
            <a:off x="2468880" y="3502152"/>
            <a:ext cx="2743200" cy="347472"/>
          </a:xfrm>
          <a:prstGeom prst="rect">
            <a:avLst/>
          </a:prstGeom>
          <a:noFill/>
          <a:ln/>
        </p:spPr>
        <p:txBody>
          <a:bodyPr wrap="square" lIns="0" tIns="0" rIns="0" bIns="0" rtlCol="0" anchor="ctr"/>
          <a:lstStyle/>
          <a:p>
            <a:pPr marL="0" indent="0" algn="l">
              <a:buNone/>
            </a:pPr>
            <a:r>
              <a:rPr lang="en-US" sz="1500" b="1" dirty="0">
                <a:solidFill>
                  <a:srgbClr val="23373B"/>
                </a:solidFill>
                <a:latin typeface="Cambria" pitchFamily="34" charset="0"/>
                <a:ea typeface="Cambria" pitchFamily="34" charset="-122"/>
                <a:cs typeface="Cambria" pitchFamily="34" charset="-120"/>
              </a:rPr>
              <a:t>Supreme Court Ruling:</a:t>
            </a:r>
            <a:endParaRPr lang="en-US" sz="1500" dirty="0"/>
          </a:p>
        </p:txBody>
      </p:sp>
      <p:sp>
        <p:nvSpPr>
          <p:cNvPr id="15" name="Text 13"/>
          <p:cNvSpPr/>
          <p:nvPr/>
        </p:nvSpPr>
        <p:spPr>
          <a:xfrm>
            <a:off x="2468880" y="3849624"/>
            <a:ext cx="8899855" cy="384048"/>
          </a:xfrm>
          <a:prstGeom prst="rect">
            <a:avLst/>
          </a:prstGeom>
          <a:noFill/>
          <a:ln/>
        </p:spPr>
        <p:txBody>
          <a:bodyPr wrap="square" lIns="0" tIns="0" rIns="0" bIns="0" rtlCol="0" anchor="ctr"/>
          <a:lstStyle/>
          <a:p>
            <a:pPr marL="0" indent="0" algn="l">
              <a:lnSpc>
                <a:spcPct val="110000"/>
              </a:lnSpc>
              <a:buNone/>
            </a:pPr>
            <a:r>
              <a:rPr lang="en-US" sz="1250" dirty="0">
                <a:solidFill>
                  <a:srgbClr val="4E5E61"/>
                </a:solidFill>
                <a:latin typeface="Calibri" pitchFamily="34" charset="0"/>
                <a:ea typeface="Calibri" pitchFamily="34" charset="-122"/>
                <a:cs typeface="Calibri" pitchFamily="34" charset="-120"/>
              </a:rPr>
              <a:t>LDTs ruled invalid — not supported by IEEPA authority. Refunds to importers. Shift to Section 301 (Forced Labour and Overcapacity) and Section 122.</a:t>
            </a:r>
            <a:endParaRPr lang="en-US" sz="1250" dirty="0"/>
          </a:p>
        </p:txBody>
      </p:sp>
      <p:sp>
        <p:nvSpPr>
          <p:cNvPr id="16" name="Shape 14"/>
          <p:cNvSpPr/>
          <p:nvPr/>
        </p:nvSpPr>
        <p:spPr>
          <a:xfrm>
            <a:off x="548640" y="4297680"/>
            <a:ext cx="11094415" cy="795528"/>
          </a:xfrm>
          <a:prstGeom prst="roundRect">
            <a:avLst>
              <a:gd name="adj" fmla="val 6897"/>
            </a:avLst>
          </a:prstGeom>
          <a:solidFill>
            <a:srgbClr val="EDF0F0"/>
          </a:solidFill>
          <a:ln/>
        </p:spPr>
        <p:txBody>
          <a:bodyPr/>
          <a:lstStyle/>
          <a:p>
            <a:endParaRPr lang="en-US"/>
          </a:p>
        </p:txBody>
      </p:sp>
      <p:sp>
        <p:nvSpPr>
          <p:cNvPr id="17" name="Text 15"/>
          <p:cNvSpPr/>
          <p:nvPr/>
        </p:nvSpPr>
        <p:spPr>
          <a:xfrm>
            <a:off x="822960" y="4297680"/>
            <a:ext cx="1463040" cy="795528"/>
          </a:xfrm>
          <a:prstGeom prst="rect">
            <a:avLst/>
          </a:prstGeom>
          <a:noFill/>
          <a:ln/>
        </p:spPr>
        <p:txBody>
          <a:bodyPr wrap="square" lIns="0" tIns="0" rIns="0" bIns="0" rtlCol="0" anchor="ctr"/>
          <a:lstStyle/>
          <a:p>
            <a:pPr marL="0" indent="0" algn="l">
              <a:buNone/>
            </a:pPr>
            <a:r>
              <a:rPr lang="en-US" sz="1600" b="1" dirty="0">
                <a:solidFill>
                  <a:srgbClr val="EB811B"/>
                </a:solidFill>
                <a:latin typeface="Cambria" pitchFamily="34" charset="0"/>
                <a:ea typeface="Cambria" pitchFamily="34" charset="-122"/>
                <a:cs typeface="Cambria" pitchFamily="34" charset="-120"/>
              </a:rPr>
              <a:t>Ongoing</a:t>
            </a:r>
            <a:endParaRPr lang="en-US" sz="1600" dirty="0"/>
          </a:p>
        </p:txBody>
      </p:sp>
      <p:sp>
        <p:nvSpPr>
          <p:cNvPr id="18" name="Text 16"/>
          <p:cNvSpPr/>
          <p:nvPr/>
        </p:nvSpPr>
        <p:spPr>
          <a:xfrm>
            <a:off x="2468880" y="4370832"/>
            <a:ext cx="2743200" cy="347472"/>
          </a:xfrm>
          <a:prstGeom prst="rect">
            <a:avLst/>
          </a:prstGeom>
          <a:noFill/>
          <a:ln/>
        </p:spPr>
        <p:txBody>
          <a:bodyPr wrap="square" lIns="0" tIns="0" rIns="0" bIns="0" rtlCol="0" anchor="ctr"/>
          <a:lstStyle/>
          <a:p>
            <a:pPr marL="0" indent="0" algn="l">
              <a:buNone/>
            </a:pPr>
            <a:r>
              <a:rPr lang="en-US" sz="1500" b="1" dirty="0">
                <a:solidFill>
                  <a:srgbClr val="23373B"/>
                </a:solidFill>
                <a:latin typeface="Cambria" pitchFamily="34" charset="0"/>
                <a:ea typeface="Cambria" pitchFamily="34" charset="-122"/>
                <a:cs typeface="Cambria" pitchFamily="34" charset="-120"/>
              </a:rPr>
              <a:t>China: Critical Minerals Controls:</a:t>
            </a:r>
            <a:endParaRPr lang="en-US" sz="1500" dirty="0"/>
          </a:p>
        </p:txBody>
      </p:sp>
      <p:sp>
        <p:nvSpPr>
          <p:cNvPr id="19" name="Text 17"/>
          <p:cNvSpPr/>
          <p:nvPr/>
        </p:nvSpPr>
        <p:spPr>
          <a:xfrm>
            <a:off x="2468880" y="4718304"/>
            <a:ext cx="8899855" cy="384048"/>
          </a:xfrm>
          <a:prstGeom prst="rect">
            <a:avLst/>
          </a:prstGeom>
          <a:noFill/>
          <a:ln/>
        </p:spPr>
        <p:txBody>
          <a:bodyPr wrap="square" lIns="0" tIns="0" rIns="0" bIns="0" rtlCol="0" anchor="ctr"/>
          <a:lstStyle/>
          <a:p>
            <a:pPr marL="0" indent="0" algn="l">
              <a:lnSpc>
                <a:spcPct val="110000"/>
              </a:lnSpc>
              <a:buNone/>
            </a:pPr>
            <a:r>
              <a:rPr lang="en-US" sz="1250" dirty="0">
                <a:solidFill>
                  <a:srgbClr val="4E5E61"/>
                </a:solidFill>
                <a:latin typeface="Calibri" pitchFamily="34" charset="0"/>
                <a:ea typeface="Calibri" pitchFamily="34" charset="-122"/>
                <a:cs typeface="Calibri" pitchFamily="34" charset="-120"/>
              </a:rPr>
              <a:t>Export controls on gallium, germanium, graphite, rare earths — chokepoints in semiconductor and battery supply chains.</a:t>
            </a:r>
            <a:endParaRPr lang="en-US" sz="1250" dirty="0"/>
          </a:p>
        </p:txBody>
      </p:sp>
      <p:sp>
        <p:nvSpPr>
          <p:cNvPr id="20" name="Shape 18"/>
          <p:cNvSpPr/>
          <p:nvPr/>
        </p:nvSpPr>
        <p:spPr>
          <a:xfrm>
            <a:off x="548640" y="5166360"/>
            <a:ext cx="11094415" cy="795528"/>
          </a:xfrm>
          <a:prstGeom prst="roundRect">
            <a:avLst>
              <a:gd name="adj" fmla="val 6897"/>
            </a:avLst>
          </a:prstGeom>
          <a:solidFill>
            <a:srgbClr val="EDF0F0"/>
          </a:solidFill>
          <a:ln/>
        </p:spPr>
        <p:txBody>
          <a:bodyPr/>
          <a:lstStyle/>
          <a:p>
            <a:endParaRPr lang="en-US"/>
          </a:p>
        </p:txBody>
      </p:sp>
      <p:sp>
        <p:nvSpPr>
          <p:cNvPr id="21" name="Text 19"/>
          <p:cNvSpPr/>
          <p:nvPr/>
        </p:nvSpPr>
        <p:spPr>
          <a:xfrm>
            <a:off x="822960" y="5166360"/>
            <a:ext cx="1463040" cy="795528"/>
          </a:xfrm>
          <a:prstGeom prst="rect">
            <a:avLst/>
          </a:prstGeom>
          <a:noFill/>
          <a:ln/>
        </p:spPr>
        <p:txBody>
          <a:bodyPr wrap="square" lIns="0" tIns="0" rIns="0" bIns="0" rtlCol="0" anchor="ctr"/>
          <a:lstStyle/>
          <a:p>
            <a:pPr marL="0" indent="0" algn="l">
              <a:buNone/>
            </a:pPr>
            <a:r>
              <a:rPr lang="en-US" sz="1600" b="1" dirty="0">
                <a:solidFill>
                  <a:srgbClr val="EB811B"/>
                </a:solidFill>
                <a:latin typeface="Cambria" pitchFamily="34" charset="0"/>
                <a:ea typeface="Cambria" pitchFamily="34" charset="-122"/>
                <a:cs typeface="Cambria" pitchFamily="34" charset="-120"/>
              </a:rPr>
              <a:t>Ongoing</a:t>
            </a:r>
            <a:endParaRPr lang="en-US" sz="1600" dirty="0"/>
          </a:p>
        </p:txBody>
      </p:sp>
      <p:sp>
        <p:nvSpPr>
          <p:cNvPr id="22" name="Text 20"/>
          <p:cNvSpPr/>
          <p:nvPr/>
        </p:nvSpPr>
        <p:spPr>
          <a:xfrm>
            <a:off x="2468880" y="5239512"/>
            <a:ext cx="2743200" cy="347472"/>
          </a:xfrm>
          <a:prstGeom prst="rect">
            <a:avLst/>
          </a:prstGeom>
          <a:noFill/>
          <a:ln/>
        </p:spPr>
        <p:txBody>
          <a:bodyPr wrap="square" lIns="0" tIns="0" rIns="0" bIns="0" rtlCol="0" anchor="ctr"/>
          <a:lstStyle/>
          <a:p>
            <a:pPr marL="0" indent="0" algn="l">
              <a:buNone/>
            </a:pPr>
            <a:r>
              <a:rPr lang="en-US" sz="1500" b="1" dirty="0">
                <a:solidFill>
                  <a:srgbClr val="23373B"/>
                </a:solidFill>
                <a:latin typeface="Cambria" pitchFamily="34" charset="0"/>
                <a:ea typeface="Cambria" pitchFamily="34" charset="-122"/>
                <a:cs typeface="Cambria" pitchFamily="34" charset="-120"/>
              </a:rPr>
              <a:t>China: Manufacturing Prowess:</a:t>
            </a:r>
            <a:endParaRPr lang="en-US" sz="1500" dirty="0"/>
          </a:p>
        </p:txBody>
      </p:sp>
      <p:sp>
        <p:nvSpPr>
          <p:cNvPr id="23" name="Text 21"/>
          <p:cNvSpPr/>
          <p:nvPr/>
        </p:nvSpPr>
        <p:spPr>
          <a:xfrm>
            <a:off x="2468880" y="5586984"/>
            <a:ext cx="8899855" cy="384048"/>
          </a:xfrm>
          <a:prstGeom prst="rect">
            <a:avLst/>
          </a:prstGeom>
          <a:noFill/>
          <a:ln/>
        </p:spPr>
        <p:txBody>
          <a:bodyPr wrap="square" lIns="0" tIns="0" rIns="0" bIns="0" rtlCol="0" anchor="ctr"/>
          <a:lstStyle/>
          <a:p>
            <a:pPr marL="0" indent="0" algn="l">
              <a:lnSpc>
                <a:spcPct val="110000"/>
              </a:lnSpc>
              <a:buNone/>
            </a:pPr>
            <a:r>
              <a:rPr lang="en-US" sz="1250" dirty="0">
                <a:solidFill>
                  <a:srgbClr val="4E5E61"/>
                </a:solidFill>
                <a:latin typeface="Calibri" pitchFamily="34" charset="0"/>
                <a:ea typeface="Calibri" pitchFamily="34" charset="-122"/>
                <a:cs typeface="Calibri" pitchFamily="34" charset="-120"/>
              </a:rPr>
              <a:t>Mass-market competitiveness and scale advantages treated as strategic threat — especially in EVs, solar, steel.</a:t>
            </a:r>
            <a:endParaRPr lang="en-US" sz="125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4E5E61"/>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148840"/>
            <a:ext cx="9601200" cy="365760"/>
          </a:xfrm>
          <a:prstGeom prst="rect">
            <a:avLst/>
          </a:prstGeom>
          <a:noFill/>
          <a:ln/>
        </p:spPr>
        <p:txBody>
          <a:bodyPr wrap="square" lIns="0" tIns="0" rIns="0" bIns="0" rtlCol="0" anchor="ctr"/>
          <a:lstStyle/>
          <a:p>
            <a:pPr marL="0" indent="0" algn="l">
              <a:buNone/>
            </a:pPr>
            <a:r>
              <a:rPr lang="en-US" sz="1300" b="1" kern="0" spc="200" dirty="0">
                <a:solidFill>
                  <a:srgbClr val="EB811B"/>
                </a:solidFill>
                <a:latin typeface="Calibri" pitchFamily="34" charset="0"/>
                <a:ea typeface="Calibri" pitchFamily="34" charset="-122"/>
                <a:cs typeface="Calibri" pitchFamily="34" charset="-120"/>
              </a:rPr>
              <a:t>THREE</a:t>
            </a:r>
            <a:endParaRPr lang="en-US" sz="1300" dirty="0"/>
          </a:p>
        </p:txBody>
      </p:sp>
      <p:sp>
        <p:nvSpPr>
          <p:cNvPr id="3" name="Text 1"/>
          <p:cNvSpPr/>
          <p:nvPr/>
        </p:nvSpPr>
        <p:spPr>
          <a:xfrm>
            <a:off x="548640" y="2560320"/>
            <a:ext cx="10058400" cy="1463040"/>
          </a:xfrm>
          <a:prstGeom prst="rect">
            <a:avLst/>
          </a:prstGeom>
          <a:noFill/>
          <a:ln/>
        </p:spPr>
        <p:txBody>
          <a:bodyPr wrap="square" lIns="0" tIns="0" rIns="0" bIns="0" rtlCol="0" anchor="t"/>
          <a:lstStyle/>
          <a:p>
            <a:pPr marL="0" indent="0" algn="l">
              <a:buNone/>
            </a:pPr>
            <a:r>
              <a:rPr lang="en-US" sz="3600" b="1" dirty="0">
                <a:solidFill>
                  <a:srgbClr val="FFFFFF"/>
                </a:solidFill>
                <a:latin typeface="Cambria" pitchFamily="34" charset="0"/>
                <a:ea typeface="Cambria" pitchFamily="34" charset="-122"/>
                <a:cs typeface="Cambria" pitchFamily="34" charset="-120"/>
              </a:rPr>
              <a:t>Shocks</a:t>
            </a:r>
            <a:endParaRPr lang="en-US" sz="3600" dirty="0"/>
          </a:p>
        </p:txBody>
      </p:sp>
      <p:sp>
        <p:nvSpPr>
          <p:cNvPr id="4" name="Shape 2"/>
          <p:cNvSpPr/>
          <p:nvPr/>
        </p:nvSpPr>
        <p:spPr>
          <a:xfrm>
            <a:off x="548640" y="3822192"/>
            <a:ext cx="1508760" cy="0"/>
          </a:xfrm>
          <a:prstGeom prst="line">
            <a:avLst/>
          </a:prstGeom>
          <a:noFill/>
          <a:ln w="38100">
            <a:solidFill>
              <a:srgbClr val="EB811B"/>
            </a:solidFill>
            <a:prstDash val="solid"/>
          </a:ln>
        </p:spPr>
        <p:txBody>
          <a:bodyPr/>
          <a:lstStyle/>
          <a:p>
            <a:endParaRPr lang="en-US"/>
          </a:p>
        </p:txBody>
      </p:sp>
      <p:sp>
        <p:nvSpPr>
          <p:cNvPr id="5" name="Text 3"/>
          <p:cNvSpPr/>
          <p:nvPr/>
        </p:nvSpPr>
        <p:spPr>
          <a:xfrm>
            <a:off x="548640" y="4023360"/>
            <a:ext cx="8686800" cy="731520"/>
          </a:xfrm>
          <a:prstGeom prst="rect">
            <a:avLst/>
          </a:prstGeom>
          <a:noFill/>
          <a:ln/>
        </p:spPr>
        <p:txBody>
          <a:bodyPr wrap="square" lIns="0" tIns="0" rIns="0" bIns="0" rtlCol="0" anchor="ctr"/>
          <a:lstStyle/>
          <a:p>
            <a:pPr marL="0" indent="0" algn="l">
              <a:buNone/>
            </a:pPr>
            <a:r>
              <a:rPr lang="en-US" sz="1500" i="1" dirty="0">
                <a:solidFill>
                  <a:srgbClr val="B9BFC1"/>
                </a:solidFill>
                <a:latin typeface="Calibri" pitchFamily="34" charset="0"/>
                <a:ea typeface="Calibri" pitchFamily="34" charset="-122"/>
                <a:cs typeface="Calibri" pitchFamily="34" charset="-120"/>
              </a:rPr>
              <a:t>China Shock, US Shock, Multilateralism Shock.</a:t>
            </a:r>
            <a:endParaRPr lang="en-US" sz="150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B9BFC1"/>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Shocks</a:t>
            </a:r>
            <a:endParaRPr lang="en-US" sz="3200" dirty="0"/>
          </a:p>
        </p:txBody>
      </p:sp>
      <p:sp>
        <p:nvSpPr>
          <p:cNvPr id="3" name="Text 1"/>
          <p:cNvSpPr/>
          <p:nvPr/>
        </p:nvSpPr>
        <p:spPr>
          <a:xfrm>
            <a:off x="548640" y="1078992"/>
            <a:ext cx="11094415" cy="365760"/>
          </a:xfrm>
          <a:prstGeom prst="rect">
            <a:avLst/>
          </a:prstGeom>
          <a:noFill/>
          <a:ln/>
        </p:spPr>
        <p:txBody>
          <a:bodyPr wrap="square" lIns="0" tIns="0" rIns="0" bIns="0" rtlCol="0" anchor="ctr"/>
          <a:lstStyle/>
          <a:p>
            <a:pPr marL="0" indent="0" algn="l">
              <a:buNone/>
            </a:pPr>
            <a:r>
              <a:rPr lang="en-US" sz="1450" i="1" dirty="0">
                <a:solidFill>
                  <a:srgbClr val="4E5E61"/>
                </a:solidFill>
                <a:latin typeface="Calibri" pitchFamily="34" charset="0"/>
                <a:ea typeface="Calibri" pitchFamily="34" charset="-122"/>
                <a:cs typeface="Calibri" pitchFamily="34" charset="-120"/>
              </a:rPr>
              <a:t>The order that promised gains for all delivered shocks instead.</a:t>
            </a:r>
            <a:endParaRPr lang="en-US" sz="1450" dirty="0"/>
          </a:p>
        </p:txBody>
      </p:sp>
      <p:sp>
        <p:nvSpPr>
          <p:cNvPr id="4" name="Shape 2"/>
          <p:cNvSpPr/>
          <p:nvPr/>
        </p:nvSpPr>
        <p:spPr>
          <a:xfrm>
            <a:off x="548640" y="1691640"/>
            <a:ext cx="5166360" cy="2423160"/>
          </a:xfrm>
          <a:prstGeom prst="roundRect">
            <a:avLst>
              <a:gd name="adj" fmla="val 2264"/>
            </a:avLst>
          </a:prstGeom>
          <a:solidFill>
            <a:srgbClr val="EDF0F0"/>
          </a:solidFill>
          <a:ln/>
        </p:spPr>
        <p:txBody>
          <a:bodyPr/>
          <a:lstStyle/>
          <a:p>
            <a:endParaRPr lang="en-US"/>
          </a:p>
        </p:txBody>
      </p:sp>
      <p:sp>
        <p:nvSpPr>
          <p:cNvPr id="5" name="Text 3"/>
          <p:cNvSpPr/>
          <p:nvPr/>
        </p:nvSpPr>
        <p:spPr>
          <a:xfrm>
            <a:off x="914400" y="1920240"/>
            <a:ext cx="4434840" cy="457200"/>
          </a:xfrm>
          <a:prstGeom prst="rect">
            <a:avLst/>
          </a:prstGeom>
          <a:noFill/>
          <a:ln/>
        </p:spPr>
        <p:txBody>
          <a:bodyPr wrap="square" lIns="0" tIns="0" rIns="0" bIns="0" rtlCol="0" anchor="ctr"/>
          <a:lstStyle/>
          <a:p>
            <a:pPr marL="0" indent="0" algn="l">
              <a:buNone/>
            </a:pPr>
            <a:r>
              <a:rPr lang="en-US" sz="1700" b="1" dirty="0">
                <a:solidFill>
                  <a:srgbClr val="23373B"/>
                </a:solidFill>
                <a:latin typeface="Cambria" pitchFamily="34" charset="0"/>
                <a:ea typeface="Cambria" pitchFamily="34" charset="-122"/>
                <a:cs typeface="Cambria" pitchFamily="34" charset="-120"/>
              </a:rPr>
              <a:t>The “China Shock”  (supply shock)</a:t>
            </a:r>
            <a:endParaRPr lang="en-US" sz="1700" dirty="0"/>
          </a:p>
        </p:txBody>
      </p:sp>
      <p:sp>
        <p:nvSpPr>
          <p:cNvPr id="6" name="Text 4"/>
          <p:cNvSpPr/>
          <p:nvPr/>
        </p:nvSpPr>
        <p:spPr>
          <a:xfrm>
            <a:off x="914400" y="2441448"/>
            <a:ext cx="4434840" cy="1554480"/>
          </a:xfrm>
          <a:prstGeom prst="rect">
            <a:avLst/>
          </a:prstGeom>
          <a:noFill/>
          <a:ln/>
        </p:spPr>
        <p:txBody>
          <a:bodyPr wrap="square" lIns="0" tIns="0" rIns="0" bIns="0" rtlCol="0" anchor="t"/>
          <a:lstStyle/>
          <a:p>
            <a:pPr marL="0" indent="0" algn="l">
              <a:lnSpc>
                <a:spcPct val="120000"/>
              </a:lnSpc>
              <a:buNone/>
            </a:pPr>
            <a:r>
              <a:rPr lang="en-US" sz="1350" i="1" dirty="0">
                <a:solidFill>
                  <a:srgbClr val="4E5E61"/>
                </a:solidFill>
                <a:latin typeface="Calibri" pitchFamily="34" charset="0"/>
                <a:ea typeface="Calibri" pitchFamily="34" charset="-122"/>
                <a:cs typeface="Calibri" pitchFamily="34" charset="-120"/>
              </a:rPr>
              <a:t>“Stealing our jobs, hollowing out our industry, turning into ghost towns what were once thriving middle-class communities.”</a:t>
            </a:r>
            <a:endParaRPr lang="en-US" sz="1350" dirty="0"/>
          </a:p>
        </p:txBody>
      </p:sp>
      <p:sp>
        <p:nvSpPr>
          <p:cNvPr id="7" name="Shape 5"/>
          <p:cNvSpPr/>
          <p:nvPr/>
        </p:nvSpPr>
        <p:spPr>
          <a:xfrm>
            <a:off x="6080760" y="1691640"/>
            <a:ext cx="5166360" cy="2423160"/>
          </a:xfrm>
          <a:prstGeom prst="roundRect">
            <a:avLst>
              <a:gd name="adj" fmla="val 2264"/>
            </a:avLst>
          </a:prstGeom>
          <a:solidFill>
            <a:srgbClr val="EDF0F0"/>
          </a:solidFill>
          <a:ln/>
        </p:spPr>
        <p:txBody>
          <a:bodyPr/>
          <a:lstStyle/>
          <a:p>
            <a:endParaRPr lang="en-US"/>
          </a:p>
        </p:txBody>
      </p:sp>
      <p:sp>
        <p:nvSpPr>
          <p:cNvPr id="8" name="Text 6"/>
          <p:cNvSpPr/>
          <p:nvPr/>
        </p:nvSpPr>
        <p:spPr>
          <a:xfrm>
            <a:off x="6446520" y="1920240"/>
            <a:ext cx="4434840" cy="457200"/>
          </a:xfrm>
          <a:prstGeom prst="rect">
            <a:avLst/>
          </a:prstGeom>
          <a:noFill/>
          <a:ln/>
        </p:spPr>
        <p:txBody>
          <a:bodyPr wrap="square" lIns="0" tIns="0" rIns="0" bIns="0" rtlCol="0" anchor="ctr"/>
          <a:lstStyle/>
          <a:p>
            <a:pPr marL="0" indent="0" algn="l">
              <a:buNone/>
            </a:pPr>
            <a:r>
              <a:rPr lang="en-US" sz="1700" b="1" dirty="0">
                <a:solidFill>
                  <a:srgbClr val="23373B"/>
                </a:solidFill>
                <a:latin typeface="Cambria" pitchFamily="34" charset="0"/>
                <a:ea typeface="Cambria" pitchFamily="34" charset="-122"/>
                <a:cs typeface="Cambria" pitchFamily="34" charset="-120"/>
              </a:rPr>
              <a:t>The “US Shock”  (demand shock)</a:t>
            </a:r>
            <a:endParaRPr lang="en-US" sz="1700" dirty="0"/>
          </a:p>
        </p:txBody>
      </p:sp>
      <p:sp>
        <p:nvSpPr>
          <p:cNvPr id="9" name="Text 7"/>
          <p:cNvSpPr/>
          <p:nvPr/>
        </p:nvSpPr>
        <p:spPr>
          <a:xfrm>
            <a:off x="6446520" y="2441448"/>
            <a:ext cx="4434840" cy="1554480"/>
          </a:xfrm>
          <a:prstGeom prst="rect">
            <a:avLst/>
          </a:prstGeom>
          <a:noFill/>
          <a:ln/>
        </p:spPr>
        <p:txBody>
          <a:bodyPr wrap="square" lIns="0" tIns="0" rIns="0" bIns="0" rtlCol="0" anchor="t"/>
          <a:lstStyle/>
          <a:p>
            <a:pPr marL="0" indent="0" algn="l">
              <a:lnSpc>
                <a:spcPct val="115000"/>
              </a:lnSpc>
              <a:buNone/>
            </a:pPr>
            <a:r>
              <a:rPr lang="en-US" sz="1250" i="1" dirty="0">
                <a:solidFill>
                  <a:srgbClr val="4E5E61"/>
                </a:solidFill>
                <a:latin typeface="Calibri" pitchFamily="34" charset="0"/>
                <a:ea typeface="Calibri" pitchFamily="34" charset="-122"/>
                <a:cs typeface="Calibri" pitchFamily="34" charset="-120"/>
              </a:rPr>
              <a:t>Power-asymmetric unilateralism — the hegemon turns the rules it built against the system it built, “from global insurer to extractor of profit. Instead of the insurer securing its clients against external threats, … the threat against which insurance is sold comes as much from the insurer as from the global environment.”</a:t>
            </a:r>
            <a:endParaRPr lang="en-US" sz="1250" dirty="0"/>
          </a:p>
        </p:txBody>
      </p:sp>
      <p:sp>
        <p:nvSpPr>
          <p:cNvPr id="10" name="Shape 8"/>
          <p:cNvSpPr/>
          <p:nvPr/>
        </p:nvSpPr>
        <p:spPr>
          <a:xfrm>
            <a:off x="548640" y="4315968"/>
            <a:ext cx="11094415" cy="1600200"/>
          </a:xfrm>
          <a:prstGeom prst="roundRect">
            <a:avLst>
              <a:gd name="adj" fmla="val 3429"/>
            </a:avLst>
          </a:prstGeom>
          <a:solidFill>
            <a:srgbClr val="2F4246"/>
          </a:solidFill>
          <a:ln/>
        </p:spPr>
        <p:txBody>
          <a:bodyPr/>
          <a:lstStyle/>
          <a:p>
            <a:endParaRPr lang="en-US"/>
          </a:p>
        </p:txBody>
      </p:sp>
      <p:sp>
        <p:nvSpPr>
          <p:cNvPr id="11" name="Text 9"/>
          <p:cNvSpPr/>
          <p:nvPr/>
        </p:nvSpPr>
        <p:spPr>
          <a:xfrm>
            <a:off x="1005840" y="4498848"/>
            <a:ext cx="3657600" cy="320040"/>
          </a:xfrm>
          <a:prstGeom prst="rect">
            <a:avLst/>
          </a:prstGeom>
          <a:noFill/>
          <a:ln/>
        </p:spPr>
        <p:txBody>
          <a:bodyPr wrap="square" lIns="0" tIns="0" rIns="0" bIns="0" rtlCol="0" anchor="ctr"/>
          <a:lstStyle/>
          <a:p>
            <a:pPr marL="0" indent="0" algn="l">
              <a:buNone/>
            </a:pPr>
            <a:r>
              <a:rPr lang="en-US" sz="1200" b="1" kern="0" spc="200" dirty="0">
                <a:solidFill>
                  <a:srgbClr val="EB811B"/>
                </a:solidFill>
                <a:latin typeface="Calibri" pitchFamily="34" charset="0"/>
                <a:ea typeface="Calibri" pitchFamily="34" charset="-122"/>
                <a:cs typeface="Calibri" pitchFamily="34" charset="-120"/>
              </a:rPr>
              <a:t>THE TURN</a:t>
            </a:r>
            <a:endParaRPr lang="en-US" sz="1200" dirty="0"/>
          </a:p>
        </p:txBody>
      </p:sp>
      <p:sp>
        <p:nvSpPr>
          <p:cNvPr id="12" name="Text 10"/>
          <p:cNvSpPr/>
          <p:nvPr/>
        </p:nvSpPr>
        <p:spPr>
          <a:xfrm>
            <a:off x="1005840" y="4846320"/>
            <a:ext cx="10180015" cy="914400"/>
          </a:xfrm>
          <a:prstGeom prst="rect">
            <a:avLst/>
          </a:prstGeom>
          <a:noFill/>
          <a:ln/>
        </p:spPr>
        <p:txBody>
          <a:bodyPr wrap="square" lIns="0" tIns="0" rIns="0" bIns="0" rtlCol="0" anchor="t"/>
          <a:lstStyle/>
          <a:p>
            <a:pPr marL="0" indent="0" algn="l">
              <a:lnSpc>
                <a:spcPct val="115000"/>
              </a:lnSpc>
              <a:buNone/>
            </a:pPr>
            <a:r>
              <a:rPr lang="en-US" sz="1900" b="1" dirty="0">
                <a:solidFill>
                  <a:srgbClr val="FFFFFF"/>
                </a:solidFill>
                <a:latin typeface="Cambria" pitchFamily="34" charset="0"/>
                <a:ea typeface="Cambria" pitchFamily="34" charset="-122"/>
                <a:cs typeface="Cambria" pitchFamily="34" charset="-120"/>
              </a:rPr>
              <a:t>Multilateralism is an expensive public good — once you’re no longer dominant. Multipolarity makes the bill too high to pay alone.</a:t>
            </a:r>
            <a:endParaRPr lang="en-US" sz="190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4E5E61"/>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“China Is a Threat to America’s Economic Prosperity”</a:t>
            </a:r>
            <a:endParaRPr lang="en-US" sz="3200" dirty="0"/>
          </a:p>
        </p:txBody>
      </p:sp>
      <p:sp>
        <p:nvSpPr>
          <p:cNvPr id="3" name="Text 1"/>
          <p:cNvSpPr/>
          <p:nvPr/>
        </p:nvSpPr>
        <p:spPr>
          <a:xfrm>
            <a:off x="548640" y="1078992"/>
            <a:ext cx="11094415" cy="365760"/>
          </a:xfrm>
          <a:prstGeom prst="rect">
            <a:avLst/>
          </a:prstGeom>
          <a:noFill/>
          <a:ln/>
        </p:spPr>
        <p:txBody>
          <a:bodyPr wrap="square" lIns="0" tIns="0" rIns="0" bIns="0" rtlCol="0" anchor="ctr"/>
          <a:lstStyle/>
          <a:p>
            <a:pPr marL="0" indent="0" algn="l">
              <a:buNone/>
            </a:pPr>
            <a:r>
              <a:rPr lang="en-US" sz="1450" i="1" dirty="0">
                <a:solidFill>
                  <a:srgbClr val="4E5E61"/>
                </a:solidFill>
                <a:latin typeface="Calibri" pitchFamily="34" charset="0"/>
                <a:ea typeface="Calibri" pitchFamily="34" charset="-122"/>
                <a:cs typeface="Calibri" pitchFamily="34" charset="-120"/>
              </a:rPr>
              <a:t>Autor, Dorn, Hanson (2016): the evidence.</a:t>
            </a:r>
            <a:endParaRPr lang="en-US" sz="1450" dirty="0"/>
          </a:p>
        </p:txBody>
      </p:sp>
      <p:sp>
        <p:nvSpPr>
          <p:cNvPr id="4" name="Shape 2"/>
          <p:cNvSpPr/>
          <p:nvPr/>
        </p:nvSpPr>
        <p:spPr>
          <a:xfrm>
            <a:off x="548640" y="1691640"/>
            <a:ext cx="5166360" cy="1554480"/>
          </a:xfrm>
          <a:prstGeom prst="roundRect">
            <a:avLst>
              <a:gd name="adj" fmla="val 3529"/>
            </a:avLst>
          </a:prstGeom>
          <a:solidFill>
            <a:srgbClr val="EDF0F0"/>
          </a:solidFill>
          <a:ln/>
        </p:spPr>
        <p:txBody>
          <a:bodyPr/>
          <a:lstStyle/>
          <a:p>
            <a:endParaRPr lang="en-US"/>
          </a:p>
        </p:txBody>
      </p:sp>
      <p:sp>
        <p:nvSpPr>
          <p:cNvPr id="5" name="Text 3"/>
          <p:cNvSpPr/>
          <p:nvPr/>
        </p:nvSpPr>
        <p:spPr>
          <a:xfrm>
            <a:off x="914400" y="1783080"/>
            <a:ext cx="4434840" cy="685800"/>
          </a:xfrm>
          <a:prstGeom prst="rect">
            <a:avLst/>
          </a:prstGeom>
          <a:noFill/>
          <a:ln/>
        </p:spPr>
        <p:txBody>
          <a:bodyPr wrap="square" lIns="0" tIns="0" rIns="0" bIns="0" rtlCol="0" anchor="ctr"/>
          <a:lstStyle/>
          <a:p>
            <a:pPr marL="0" indent="0" algn="l">
              <a:buNone/>
            </a:pPr>
            <a:r>
              <a:rPr lang="en-US" sz="3600" b="1" dirty="0">
                <a:solidFill>
                  <a:srgbClr val="23373B"/>
                </a:solidFill>
                <a:latin typeface="Cambria" pitchFamily="34" charset="0"/>
                <a:ea typeface="Cambria" pitchFamily="34" charset="-122"/>
                <a:cs typeface="Cambria" pitchFamily="34" charset="-120"/>
              </a:rPr>
              <a:t>1.2 million</a:t>
            </a:r>
            <a:endParaRPr lang="en-US" sz="3600" dirty="0"/>
          </a:p>
        </p:txBody>
      </p:sp>
      <p:sp>
        <p:nvSpPr>
          <p:cNvPr id="6" name="Text 4"/>
          <p:cNvSpPr/>
          <p:nvPr/>
        </p:nvSpPr>
        <p:spPr>
          <a:xfrm>
            <a:off x="914400" y="2487168"/>
            <a:ext cx="4434840" cy="594360"/>
          </a:xfrm>
          <a:prstGeom prst="rect">
            <a:avLst/>
          </a:prstGeom>
          <a:noFill/>
          <a:ln/>
        </p:spPr>
        <p:txBody>
          <a:bodyPr wrap="square" lIns="0" tIns="0" rIns="0" bIns="0" rtlCol="0" anchor="ctr"/>
          <a:lstStyle/>
          <a:p>
            <a:pPr marL="0" indent="0" algn="l">
              <a:lnSpc>
                <a:spcPct val="110000"/>
              </a:lnSpc>
              <a:buNone/>
            </a:pPr>
            <a:r>
              <a:rPr lang="en-US" sz="1250" dirty="0">
                <a:solidFill>
                  <a:srgbClr val="4E5E61"/>
                </a:solidFill>
                <a:latin typeface="Calibri" pitchFamily="34" charset="0"/>
                <a:ea typeface="Calibri" pitchFamily="34" charset="-122"/>
                <a:cs typeface="Calibri" pitchFamily="34" charset="-120"/>
              </a:rPr>
              <a:t>Permanent manufacturing jobs lost 1999–2011 due to competition from China</a:t>
            </a:r>
            <a:endParaRPr lang="en-US" sz="1250" dirty="0"/>
          </a:p>
        </p:txBody>
      </p:sp>
      <p:sp>
        <p:nvSpPr>
          <p:cNvPr id="7" name="Shape 5"/>
          <p:cNvSpPr/>
          <p:nvPr/>
        </p:nvSpPr>
        <p:spPr>
          <a:xfrm>
            <a:off x="6080760" y="1691640"/>
            <a:ext cx="5166360" cy="1554480"/>
          </a:xfrm>
          <a:prstGeom prst="roundRect">
            <a:avLst>
              <a:gd name="adj" fmla="val 3529"/>
            </a:avLst>
          </a:prstGeom>
          <a:solidFill>
            <a:srgbClr val="EDF0F0"/>
          </a:solidFill>
          <a:ln/>
        </p:spPr>
        <p:txBody>
          <a:bodyPr/>
          <a:lstStyle/>
          <a:p>
            <a:endParaRPr lang="en-US"/>
          </a:p>
        </p:txBody>
      </p:sp>
      <p:sp>
        <p:nvSpPr>
          <p:cNvPr id="8" name="Text 6"/>
          <p:cNvSpPr/>
          <p:nvPr/>
        </p:nvSpPr>
        <p:spPr>
          <a:xfrm>
            <a:off x="6446520" y="1783080"/>
            <a:ext cx="4434840" cy="685800"/>
          </a:xfrm>
          <a:prstGeom prst="rect">
            <a:avLst/>
          </a:prstGeom>
          <a:noFill/>
          <a:ln/>
        </p:spPr>
        <p:txBody>
          <a:bodyPr wrap="square" lIns="0" tIns="0" rIns="0" bIns="0" rtlCol="0" anchor="ctr"/>
          <a:lstStyle/>
          <a:p>
            <a:pPr marL="0" indent="0" algn="l">
              <a:buNone/>
            </a:pPr>
            <a:r>
              <a:rPr lang="en-US" sz="3600" b="1" dirty="0">
                <a:solidFill>
                  <a:srgbClr val="23373B"/>
                </a:solidFill>
                <a:latin typeface="Cambria" pitchFamily="34" charset="0"/>
                <a:ea typeface="Cambria" pitchFamily="34" charset="-122"/>
                <a:cs typeface="Cambria" pitchFamily="34" charset="-120"/>
              </a:rPr>
              <a:t>10+ years</a:t>
            </a:r>
            <a:endParaRPr lang="en-US" sz="3600" dirty="0"/>
          </a:p>
        </p:txBody>
      </p:sp>
      <p:sp>
        <p:nvSpPr>
          <p:cNvPr id="9" name="Text 7"/>
          <p:cNvSpPr/>
          <p:nvPr/>
        </p:nvSpPr>
        <p:spPr>
          <a:xfrm>
            <a:off x="6446520" y="2487168"/>
            <a:ext cx="4434840" cy="594360"/>
          </a:xfrm>
          <a:prstGeom prst="rect">
            <a:avLst/>
          </a:prstGeom>
          <a:noFill/>
          <a:ln/>
        </p:spPr>
        <p:txBody>
          <a:bodyPr wrap="square" lIns="0" tIns="0" rIns="0" bIns="0" rtlCol="0" anchor="ctr"/>
          <a:lstStyle/>
          <a:p>
            <a:pPr marL="0" indent="0" algn="l">
              <a:lnSpc>
                <a:spcPct val="110000"/>
              </a:lnSpc>
              <a:buNone/>
            </a:pPr>
            <a:r>
              <a:rPr lang="en-US" sz="1250" dirty="0">
                <a:solidFill>
                  <a:srgbClr val="4E5E61"/>
                </a:solidFill>
                <a:latin typeface="Calibri" pitchFamily="34" charset="0"/>
                <a:ea typeface="Calibri" pitchFamily="34" charset="-122"/>
                <a:cs typeface="Calibri" pitchFamily="34" charset="-120"/>
              </a:rPr>
              <a:t>Wages and labour-force participation remained depressed after the shock commenced</a:t>
            </a:r>
            <a:endParaRPr lang="en-US" sz="1250" dirty="0"/>
          </a:p>
        </p:txBody>
      </p:sp>
      <p:sp>
        <p:nvSpPr>
          <p:cNvPr id="10" name="Shape 8"/>
          <p:cNvSpPr/>
          <p:nvPr/>
        </p:nvSpPr>
        <p:spPr>
          <a:xfrm>
            <a:off x="548640" y="3429000"/>
            <a:ext cx="11094415" cy="2606040"/>
          </a:xfrm>
          <a:prstGeom prst="roundRect">
            <a:avLst>
              <a:gd name="adj" fmla="val 2105"/>
            </a:avLst>
          </a:prstGeom>
          <a:solidFill>
            <a:srgbClr val="2F4246"/>
          </a:solidFill>
          <a:ln/>
        </p:spPr>
        <p:txBody>
          <a:bodyPr/>
          <a:lstStyle/>
          <a:p>
            <a:endParaRPr lang="en-US"/>
          </a:p>
        </p:txBody>
      </p:sp>
      <p:sp>
        <p:nvSpPr>
          <p:cNvPr id="11" name="Text 9"/>
          <p:cNvSpPr/>
          <p:nvPr/>
        </p:nvSpPr>
        <p:spPr>
          <a:xfrm>
            <a:off x="1143000" y="3749040"/>
            <a:ext cx="9905695" cy="1783080"/>
          </a:xfrm>
          <a:prstGeom prst="rect">
            <a:avLst/>
          </a:prstGeom>
          <a:noFill/>
          <a:ln/>
        </p:spPr>
        <p:txBody>
          <a:bodyPr wrap="square" lIns="0" tIns="0" rIns="0" bIns="0" rtlCol="0" anchor="ctr"/>
          <a:lstStyle/>
          <a:p>
            <a:pPr marL="0" indent="0" algn="l">
              <a:lnSpc>
                <a:spcPct val="125000"/>
              </a:lnSpc>
              <a:buNone/>
            </a:pPr>
            <a:r>
              <a:rPr lang="en-US" sz="1600" i="1" dirty="0">
                <a:solidFill>
                  <a:srgbClr val="FFFFFF"/>
                </a:solidFill>
                <a:latin typeface="Cambria" pitchFamily="34" charset="0"/>
                <a:ea typeface="Cambria" pitchFamily="34" charset="-122"/>
                <a:cs typeface="Cambria" pitchFamily="34" charset="-120"/>
              </a:rPr>
              <a:t>“Alongside the heralded consumer benefits of expanded trade are substantial adjustment costs and distributional consequences. These impacts are most visible in the local labor markets in which the industries exposed to foreign competition are concentrated. Adjustment in local labor markets is remarkably slow, with wages and labor-force participation rates remaining depressed and unemployment rates remaining elevated for at least a full decade after the China trade shock commences.”</a:t>
            </a:r>
            <a:endParaRPr lang="en-US" sz="1600" dirty="0"/>
          </a:p>
        </p:txBody>
      </p:sp>
      <p:sp>
        <p:nvSpPr>
          <p:cNvPr id="12" name="Shape 10"/>
          <p:cNvSpPr/>
          <p:nvPr/>
        </p:nvSpPr>
        <p:spPr>
          <a:xfrm>
            <a:off x="1143000" y="5532120"/>
            <a:ext cx="640080" cy="0"/>
          </a:xfrm>
          <a:prstGeom prst="line">
            <a:avLst/>
          </a:prstGeom>
          <a:noFill/>
          <a:ln w="31750">
            <a:solidFill>
              <a:srgbClr val="EB811B"/>
            </a:solidFill>
            <a:prstDash val="solid"/>
          </a:ln>
        </p:spPr>
        <p:txBody>
          <a:bodyPr/>
          <a:lstStyle/>
          <a:p>
            <a:endParaRPr lang="en-US"/>
          </a:p>
        </p:txBody>
      </p:sp>
      <p:sp>
        <p:nvSpPr>
          <p:cNvPr id="13" name="Text 11"/>
          <p:cNvSpPr/>
          <p:nvPr/>
        </p:nvSpPr>
        <p:spPr>
          <a:xfrm>
            <a:off x="1143000" y="5650992"/>
            <a:ext cx="9905695" cy="320040"/>
          </a:xfrm>
          <a:prstGeom prst="rect">
            <a:avLst/>
          </a:prstGeom>
          <a:noFill/>
          <a:ln/>
        </p:spPr>
        <p:txBody>
          <a:bodyPr wrap="square" lIns="0" tIns="0" rIns="0" bIns="0" rtlCol="0" anchor="ctr"/>
          <a:lstStyle/>
          <a:p>
            <a:pPr marL="0" indent="0" algn="l">
              <a:buNone/>
            </a:pPr>
            <a:r>
              <a:rPr lang="en-US" sz="1250" b="1" dirty="0">
                <a:solidFill>
                  <a:srgbClr val="B9BFC1"/>
                </a:solidFill>
                <a:latin typeface="Calibri" pitchFamily="34" charset="0"/>
                <a:ea typeface="Calibri" pitchFamily="34" charset="-122"/>
                <a:cs typeface="Calibri" pitchFamily="34" charset="-120"/>
              </a:rPr>
              <a:t>Autor, Dorn, Hanson, “The China Syndrome,” American Economic Review (2016)</a:t>
            </a:r>
            <a:endParaRPr lang="en-US" sz="125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4E5E61"/>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“Japan as Number One”</a:t>
            </a:r>
            <a:endParaRPr lang="en-US" sz="3200" dirty="0"/>
          </a:p>
        </p:txBody>
      </p:sp>
      <p:sp>
        <p:nvSpPr>
          <p:cNvPr id="3" name="Text 1"/>
          <p:cNvSpPr/>
          <p:nvPr/>
        </p:nvSpPr>
        <p:spPr>
          <a:xfrm>
            <a:off x="548640" y="1078992"/>
            <a:ext cx="11094415" cy="365760"/>
          </a:xfrm>
          <a:prstGeom prst="rect">
            <a:avLst/>
          </a:prstGeom>
          <a:noFill/>
          <a:ln/>
        </p:spPr>
        <p:txBody>
          <a:bodyPr wrap="square" lIns="0" tIns="0" rIns="0" bIns="0" rtlCol="0" anchor="ctr"/>
          <a:lstStyle/>
          <a:p>
            <a:pPr marL="0" indent="0" algn="l">
              <a:buNone/>
            </a:pPr>
            <a:r>
              <a:rPr lang="en-US" sz="1450" i="1" dirty="0">
                <a:solidFill>
                  <a:srgbClr val="4E5E61"/>
                </a:solidFill>
                <a:latin typeface="Calibri" pitchFamily="34" charset="0"/>
                <a:ea typeface="Calibri" pitchFamily="34" charset="-122"/>
                <a:cs typeface="Calibri" pitchFamily="34" charset="-120"/>
              </a:rPr>
              <a:t>Theodore White, 1985 — the story runs earlier than China.</a:t>
            </a:r>
            <a:endParaRPr lang="en-US" sz="1450" dirty="0"/>
          </a:p>
        </p:txBody>
      </p:sp>
      <p:sp>
        <p:nvSpPr>
          <p:cNvPr id="4" name="Shape 2"/>
          <p:cNvSpPr/>
          <p:nvPr/>
        </p:nvSpPr>
        <p:spPr>
          <a:xfrm>
            <a:off x="548640" y="1691640"/>
            <a:ext cx="5166360" cy="3840480"/>
          </a:xfrm>
          <a:prstGeom prst="roundRect">
            <a:avLst>
              <a:gd name="adj" fmla="val 1429"/>
            </a:avLst>
          </a:prstGeom>
          <a:solidFill>
            <a:srgbClr val="EDF0F0"/>
          </a:solidFill>
          <a:ln/>
        </p:spPr>
        <p:txBody>
          <a:bodyPr/>
          <a:lstStyle/>
          <a:p>
            <a:endParaRPr lang="en-US"/>
          </a:p>
        </p:txBody>
      </p:sp>
      <p:sp>
        <p:nvSpPr>
          <p:cNvPr id="5" name="Shape 3"/>
          <p:cNvSpPr/>
          <p:nvPr/>
        </p:nvSpPr>
        <p:spPr>
          <a:xfrm>
            <a:off x="914400" y="2011680"/>
            <a:ext cx="640080" cy="0"/>
          </a:xfrm>
          <a:prstGeom prst="line">
            <a:avLst/>
          </a:prstGeom>
          <a:noFill/>
          <a:ln w="38100">
            <a:solidFill>
              <a:srgbClr val="EB811B"/>
            </a:solidFill>
            <a:prstDash val="solid"/>
          </a:ln>
        </p:spPr>
        <p:txBody>
          <a:bodyPr/>
          <a:lstStyle/>
          <a:p>
            <a:endParaRPr lang="en-US"/>
          </a:p>
        </p:txBody>
      </p:sp>
      <p:sp>
        <p:nvSpPr>
          <p:cNvPr id="6" name="Text 4"/>
          <p:cNvSpPr/>
          <p:nvPr/>
        </p:nvSpPr>
        <p:spPr>
          <a:xfrm>
            <a:off x="914400" y="2194560"/>
            <a:ext cx="4434840" cy="320040"/>
          </a:xfrm>
          <a:prstGeom prst="rect">
            <a:avLst/>
          </a:prstGeom>
          <a:noFill/>
          <a:ln/>
        </p:spPr>
        <p:txBody>
          <a:bodyPr wrap="square" lIns="0" tIns="0" rIns="0" bIns="0" rtlCol="0" anchor="ctr"/>
          <a:lstStyle/>
          <a:p>
            <a:pPr marL="0" indent="0" algn="l">
              <a:buNone/>
            </a:pPr>
            <a:r>
              <a:rPr lang="en-US" sz="1250" b="1" dirty="0">
                <a:solidFill>
                  <a:srgbClr val="23373B"/>
                </a:solidFill>
                <a:latin typeface="Calibri" pitchFamily="34" charset="0"/>
                <a:ea typeface="Calibri" pitchFamily="34" charset="-122"/>
                <a:cs typeface="Calibri" pitchFamily="34" charset="-120"/>
              </a:rPr>
              <a:t>Theodore White, 1985</a:t>
            </a:r>
            <a:endParaRPr lang="en-US" sz="1250" dirty="0"/>
          </a:p>
        </p:txBody>
      </p:sp>
      <p:sp>
        <p:nvSpPr>
          <p:cNvPr id="7" name="Text 5"/>
          <p:cNvSpPr/>
          <p:nvPr/>
        </p:nvSpPr>
        <p:spPr>
          <a:xfrm>
            <a:off x="914400" y="2606040"/>
            <a:ext cx="4434840" cy="2743200"/>
          </a:xfrm>
          <a:prstGeom prst="rect">
            <a:avLst/>
          </a:prstGeom>
          <a:noFill/>
          <a:ln/>
        </p:spPr>
        <p:txBody>
          <a:bodyPr wrap="square" lIns="0" tIns="0" rIns="0" bIns="0" rtlCol="0" anchor="t"/>
          <a:lstStyle/>
          <a:p>
            <a:pPr marL="0" indent="0" algn="l">
              <a:lnSpc>
                <a:spcPct val="130000"/>
              </a:lnSpc>
              <a:buNone/>
            </a:pPr>
            <a:r>
              <a:rPr lang="en-US" sz="1700" i="1" dirty="0">
                <a:solidFill>
                  <a:srgbClr val="23373B"/>
                </a:solidFill>
                <a:latin typeface="Cambria" pitchFamily="34" charset="0"/>
                <a:ea typeface="Cambria" pitchFamily="34" charset="-122"/>
                <a:cs typeface="Cambria" pitchFamily="34" charset="-120"/>
              </a:rPr>
              <a:t>“Today not a single consumer radio is made in America, although Americans invented the modern radio; not a single black-and-white television set is made here, although America invented television.”</a:t>
            </a:r>
            <a:endParaRPr lang="en-US" sz="1700" dirty="0"/>
          </a:p>
        </p:txBody>
      </p:sp>
      <p:sp>
        <p:nvSpPr>
          <p:cNvPr id="8" name="Shape 6"/>
          <p:cNvSpPr/>
          <p:nvPr/>
        </p:nvSpPr>
        <p:spPr>
          <a:xfrm>
            <a:off x="6080760" y="1691640"/>
            <a:ext cx="5166360" cy="3840480"/>
          </a:xfrm>
          <a:prstGeom prst="roundRect">
            <a:avLst>
              <a:gd name="adj" fmla="val 1429"/>
            </a:avLst>
          </a:prstGeom>
          <a:solidFill>
            <a:srgbClr val="EDF0F0"/>
          </a:solidFill>
          <a:ln/>
        </p:spPr>
        <p:txBody>
          <a:bodyPr/>
          <a:lstStyle/>
          <a:p>
            <a:endParaRPr lang="en-US"/>
          </a:p>
        </p:txBody>
      </p:sp>
      <p:sp>
        <p:nvSpPr>
          <p:cNvPr id="9" name="Shape 7"/>
          <p:cNvSpPr/>
          <p:nvPr/>
        </p:nvSpPr>
        <p:spPr>
          <a:xfrm>
            <a:off x="6446520" y="2011680"/>
            <a:ext cx="640080" cy="0"/>
          </a:xfrm>
          <a:prstGeom prst="line">
            <a:avLst/>
          </a:prstGeom>
          <a:noFill/>
          <a:ln w="38100">
            <a:solidFill>
              <a:srgbClr val="EB811B"/>
            </a:solidFill>
            <a:prstDash val="solid"/>
          </a:ln>
        </p:spPr>
        <p:txBody>
          <a:bodyPr/>
          <a:lstStyle/>
          <a:p>
            <a:endParaRPr lang="en-US"/>
          </a:p>
        </p:txBody>
      </p:sp>
      <p:sp>
        <p:nvSpPr>
          <p:cNvPr id="10" name="Text 8"/>
          <p:cNvSpPr/>
          <p:nvPr/>
        </p:nvSpPr>
        <p:spPr>
          <a:xfrm>
            <a:off x="6446520" y="2194560"/>
            <a:ext cx="4434840" cy="320040"/>
          </a:xfrm>
          <a:prstGeom prst="rect">
            <a:avLst/>
          </a:prstGeom>
          <a:noFill/>
          <a:ln/>
        </p:spPr>
        <p:txBody>
          <a:bodyPr wrap="square" lIns="0" tIns="0" rIns="0" bIns="0" rtlCol="0" anchor="ctr"/>
          <a:lstStyle/>
          <a:p>
            <a:pPr marL="0" indent="0" algn="l">
              <a:buNone/>
            </a:pPr>
            <a:r>
              <a:rPr lang="en-US" sz="1250" b="1" dirty="0">
                <a:solidFill>
                  <a:srgbClr val="23373B"/>
                </a:solidFill>
                <a:latin typeface="Calibri" pitchFamily="34" charset="0"/>
                <a:ea typeface="Calibri" pitchFamily="34" charset="-122"/>
                <a:cs typeface="Calibri" pitchFamily="34" charset="-120"/>
              </a:rPr>
              <a:t>Malcolm Baldrige, US Secretary of Commerce, 1981–1987</a:t>
            </a:r>
            <a:endParaRPr lang="en-US" sz="1250" dirty="0"/>
          </a:p>
        </p:txBody>
      </p:sp>
      <p:sp>
        <p:nvSpPr>
          <p:cNvPr id="11" name="Text 9"/>
          <p:cNvSpPr/>
          <p:nvPr/>
        </p:nvSpPr>
        <p:spPr>
          <a:xfrm>
            <a:off x="6446520" y="2606040"/>
            <a:ext cx="4434840" cy="2743200"/>
          </a:xfrm>
          <a:prstGeom prst="rect">
            <a:avLst/>
          </a:prstGeom>
          <a:noFill/>
          <a:ln/>
        </p:spPr>
        <p:txBody>
          <a:bodyPr wrap="square" lIns="0" tIns="0" rIns="0" bIns="0" rtlCol="0" anchor="t"/>
          <a:lstStyle/>
          <a:p>
            <a:pPr marL="0" indent="0" algn="l">
              <a:lnSpc>
                <a:spcPct val="125000"/>
              </a:lnSpc>
              <a:buNone/>
            </a:pPr>
            <a:r>
              <a:rPr lang="en-US" sz="1500" i="1" dirty="0">
                <a:solidFill>
                  <a:srgbClr val="23373B"/>
                </a:solidFill>
                <a:latin typeface="Cambria" pitchFamily="34" charset="0"/>
                <a:ea typeface="Cambria" pitchFamily="34" charset="-122"/>
                <a:cs typeface="Cambria" pitchFamily="34" charset="-120"/>
              </a:rPr>
              <a:t>“We sent them blood-fractionating technology on humanitarian grounds. Today the company we gave the technology to competes with Americans around the world. We sent them technicians from the Underwriters Laboratory to certify that Japanese products were up to American standards, fit for export. Today U.S. companies fight to get their exports certified for entry into Japan.”</a:t>
            </a:r>
            <a:endParaRPr lang="en-US" sz="1500" dirty="0"/>
          </a:p>
        </p:txBody>
      </p:sp>
      <p:sp>
        <p:nvSpPr>
          <p:cNvPr id="12" name="Text 10"/>
          <p:cNvSpPr/>
          <p:nvPr/>
        </p:nvSpPr>
        <p:spPr>
          <a:xfrm>
            <a:off x="6446520" y="5166360"/>
            <a:ext cx="4434840" cy="274320"/>
          </a:xfrm>
          <a:prstGeom prst="rect">
            <a:avLst/>
          </a:prstGeom>
          <a:noFill/>
          <a:ln/>
        </p:spPr>
        <p:txBody>
          <a:bodyPr wrap="square" lIns="0" tIns="0" rIns="0" bIns="0" rtlCol="0" anchor="ctr"/>
          <a:lstStyle/>
          <a:p>
            <a:pPr marL="0" indent="0" algn="l">
              <a:buNone/>
            </a:pPr>
            <a:r>
              <a:rPr lang="en-US" sz="1050" dirty="0">
                <a:solidFill>
                  <a:srgbClr val="4E5E61"/>
                </a:solidFill>
                <a:latin typeface="Calibri" pitchFamily="34" charset="0"/>
                <a:ea typeface="Calibri" pitchFamily="34" charset="-122"/>
                <a:cs typeface="Calibri" pitchFamily="34" charset="-120"/>
              </a:rPr>
              <a:t>(Reported in Theodore White, 1985)</a:t>
            </a:r>
            <a:endParaRPr lang="en-US" sz="105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4E5E61"/>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China’s SOEs, Subsidies, and Overcapacity</a:t>
            </a:r>
            <a:endParaRPr lang="en-US" sz="3200" dirty="0"/>
          </a:p>
        </p:txBody>
      </p:sp>
      <p:sp>
        <p:nvSpPr>
          <p:cNvPr id="3" name="Text 1"/>
          <p:cNvSpPr/>
          <p:nvPr/>
        </p:nvSpPr>
        <p:spPr>
          <a:xfrm>
            <a:off x="548640" y="1078992"/>
            <a:ext cx="11094415" cy="365760"/>
          </a:xfrm>
          <a:prstGeom prst="rect">
            <a:avLst/>
          </a:prstGeom>
          <a:noFill/>
          <a:ln/>
        </p:spPr>
        <p:txBody>
          <a:bodyPr wrap="square" lIns="0" tIns="0" rIns="0" bIns="0" rtlCol="0" anchor="ctr"/>
          <a:lstStyle/>
          <a:p>
            <a:pPr marL="0" indent="0" algn="l">
              <a:buNone/>
            </a:pPr>
            <a:r>
              <a:rPr lang="en-US" sz="1450" i="1" dirty="0">
                <a:solidFill>
                  <a:srgbClr val="4E5E61"/>
                </a:solidFill>
                <a:latin typeface="Calibri" pitchFamily="34" charset="0"/>
                <a:ea typeface="Calibri" pitchFamily="34" charset="-122"/>
                <a:cs typeface="Calibri" pitchFamily="34" charset="-120"/>
              </a:rPr>
              <a:t>The US import and domestic price record.</a:t>
            </a:r>
            <a:endParaRPr lang="en-US" sz="1450" dirty="0"/>
          </a:p>
        </p:txBody>
      </p:sp>
      <p:pic>
        <p:nvPicPr>
          <p:cNvPr id="4" name="Image 0" descr="/home/claude/work2/prices.png"/>
          <p:cNvPicPr>
            <a:picLocks noChangeAspect="1"/>
          </p:cNvPicPr>
          <p:nvPr/>
        </p:nvPicPr>
        <p:blipFill>
          <a:blip r:embed="rId3"/>
          <a:stretch>
            <a:fillRect/>
          </a:stretch>
        </p:blipFill>
        <p:spPr>
          <a:xfrm>
            <a:off x="5973775" y="1508760"/>
            <a:ext cx="5669280" cy="4224528"/>
          </a:xfrm>
          <a:prstGeom prst="rect">
            <a:avLst/>
          </a:prstGeom>
        </p:spPr>
      </p:pic>
      <p:sp>
        <p:nvSpPr>
          <p:cNvPr id="5" name="Text 2"/>
          <p:cNvSpPr/>
          <p:nvPr/>
        </p:nvSpPr>
        <p:spPr>
          <a:xfrm>
            <a:off x="5973775" y="5760720"/>
            <a:ext cx="5669280" cy="274320"/>
          </a:xfrm>
          <a:prstGeom prst="rect">
            <a:avLst/>
          </a:prstGeom>
          <a:noFill/>
          <a:ln/>
        </p:spPr>
        <p:txBody>
          <a:bodyPr wrap="square" lIns="0" tIns="0" rIns="0" bIns="0" rtlCol="0" anchor="ctr"/>
          <a:lstStyle/>
          <a:p>
            <a:pPr marL="0" indent="0" algn="l">
              <a:buNone/>
            </a:pPr>
            <a:r>
              <a:rPr lang="en-US" sz="1000" dirty="0">
                <a:solidFill>
                  <a:srgbClr val="4E5E61"/>
                </a:solidFill>
                <a:latin typeface="Calibri" pitchFamily="34" charset="0"/>
                <a:ea typeface="Calibri" pitchFamily="34" charset="-122"/>
                <a:cs typeface="Calibri" pitchFamily="34" charset="-120"/>
              </a:rPr>
              <a:t>Source: US Census Bureau / BLS</a:t>
            </a:r>
            <a:endParaRPr lang="en-US" sz="1000" dirty="0"/>
          </a:p>
        </p:txBody>
      </p:sp>
      <p:sp>
        <p:nvSpPr>
          <p:cNvPr id="6" name="Text 3"/>
          <p:cNvSpPr/>
          <p:nvPr/>
        </p:nvSpPr>
        <p:spPr>
          <a:xfrm>
            <a:off x="548640" y="1508760"/>
            <a:ext cx="5150815" cy="411480"/>
          </a:xfrm>
          <a:prstGeom prst="rect">
            <a:avLst/>
          </a:prstGeom>
          <a:noFill/>
          <a:ln/>
        </p:spPr>
        <p:txBody>
          <a:bodyPr wrap="square" lIns="0" tIns="0" rIns="0" bIns="0" rtlCol="0" anchor="ctr"/>
          <a:lstStyle/>
          <a:p>
            <a:pPr marL="0" indent="0" algn="l">
              <a:buNone/>
            </a:pPr>
            <a:r>
              <a:rPr lang="en-US" sz="1700" b="1" dirty="0">
                <a:solidFill>
                  <a:srgbClr val="23373B"/>
                </a:solidFill>
                <a:latin typeface="Cambria" pitchFamily="34" charset="0"/>
                <a:ea typeface="Cambria" pitchFamily="34" charset="-122"/>
                <a:cs typeface="Cambria" pitchFamily="34" charset="-120"/>
              </a:rPr>
              <a:t>The Key Insight</a:t>
            </a:r>
            <a:endParaRPr lang="en-US" sz="1700" dirty="0"/>
          </a:p>
        </p:txBody>
      </p:sp>
      <p:sp>
        <p:nvSpPr>
          <p:cNvPr id="7" name="Shape 4"/>
          <p:cNvSpPr/>
          <p:nvPr/>
        </p:nvSpPr>
        <p:spPr>
          <a:xfrm>
            <a:off x="548640" y="1965960"/>
            <a:ext cx="640080" cy="0"/>
          </a:xfrm>
          <a:prstGeom prst="line">
            <a:avLst/>
          </a:prstGeom>
          <a:noFill/>
          <a:ln w="38100">
            <a:solidFill>
              <a:srgbClr val="EB811B"/>
            </a:solidFill>
            <a:prstDash val="solid"/>
          </a:ln>
        </p:spPr>
        <p:txBody>
          <a:bodyPr/>
          <a:lstStyle/>
          <a:p>
            <a:endParaRPr lang="en-US"/>
          </a:p>
        </p:txBody>
      </p:sp>
      <p:sp>
        <p:nvSpPr>
          <p:cNvPr id="8" name="Text 5"/>
          <p:cNvSpPr/>
          <p:nvPr/>
        </p:nvSpPr>
        <p:spPr>
          <a:xfrm>
            <a:off x="548640" y="2103120"/>
            <a:ext cx="5150815" cy="3931920"/>
          </a:xfrm>
          <a:prstGeom prst="rect">
            <a:avLst/>
          </a:prstGeom>
          <a:noFill/>
          <a:ln/>
        </p:spPr>
        <p:txBody>
          <a:bodyPr wrap="square" lIns="0" tIns="0" rIns="0" bIns="0" rtlCol="0" anchor="t"/>
          <a:lstStyle/>
          <a:p>
            <a:pPr marL="0" indent="0" algn="l">
              <a:lnSpc>
                <a:spcPct val="130000"/>
              </a:lnSpc>
              <a:buNone/>
            </a:pPr>
            <a:r>
              <a:rPr lang="en-US" sz="1300" dirty="0">
                <a:solidFill>
                  <a:srgbClr val="4E5E61"/>
                </a:solidFill>
                <a:latin typeface="Calibri" pitchFamily="34" charset="0"/>
                <a:ea typeface="Calibri" pitchFamily="34" charset="-122"/>
                <a:cs typeface="Calibri" pitchFamily="34" charset="-120"/>
              </a:rPr>
              <a:t>How much do we really need to know whether imports from China are cheap from genuine competitiveness, or from subsidies and state ownership?</a:t>
            </a:r>
            <a:endParaRPr lang="en-US" sz="1300" dirty="0"/>
          </a:p>
          <a:p>
            <a:pPr marL="0" indent="0" algn="l">
              <a:lnSpc>
                <a:spcPct val="130000"/>
              </a:lnSpc>
              <a:buNone/>
            </a:pPr>
            <a:endParaRPr lang="en-US" sz="1300" dirty="0"/>
          </a:p>
          <a:p>
            <a:pPr marL="0" indent="0" algn="l">
              <a:lnSpc>
                <a:spcPct val="130000"/>
              </a:lnSpc>
              <a:buNone/>
            </a:pPr>
            <a:r>
              <a:rPr lang="en-US" sz="1300" dirty="0">
                <a:solidFill>
                  <a:srgbClr val="4E5E61"/>
                </a:solidFill>
                <a:latin typeface="Calibri" pitchFamily="34" charset="0"/>
                <a:ea typeface="Calibri" pitchFamily="34" charset="-122"/>
                <a:cs typeface="Calibri" pitchFamily="34" charset="-120"/>
              </a:rPr>
              <a:t>Whatever their cause, low-priced high-quality imports disadvantage domestic competitors — even as they advantage domestic consumers and downstream producers.</a:t>
            </a:r>
            <a:endParaRPr lang="en-US" sz="1300" dirty="0"/>
          </a:p>
          <a:p>
            <a:pPr marL="0" indent="0" algn="l">
              <a:lnSpc>
                <a:spcPct val="130000"/>
              </a:lnSpc>
              <a:buNone/>
            </a:pPr>
            <a:endParaRPr lang="en-US" sz="1300" dirty="0"/>
          </a:p>
          <a:p>
            <a:pPr marL="0" indent="0" algn="l">
              <a:lnSpc>
                <a:spcPct val="130000"/>
              </a:lnSpc>
              <a:buNone/>
            </a:pPr>
            <a:r>
              <a:rPr lang="en-US" sz="1300" dirty="0">
                <a:solidFill>
                  <a:srgbClr val="4E5E61"/>
                </a:solidFill>
                <a:latin typeface="Calibri" pitchFamily="34" charset="0"/>
                <a:ea typeface="Calibri" pitchFamily="34" charset="-122"/>
                <a:cs typeface="Calibri" pitchFamily="34" charset="-120"/>
              </a:rPr>
              <a:t>What we should be concerned about is not why our people and middle-class communities are being overwhelmed and unable to reallocate — but that they are.</a:t>
            </a:r>
            <a:endParaRPr lang="en-US" sz="1300" dirty="0"/>
          </a:p>
          <a:p>
            <a:pPr marL="0" indent="0" algn="l">
              <a:lnSpc>
                <a:spcPct val="130000"/>
              </a:lnSpc>
              <a:buNone/>
            </a:pPr>
            <a:endParaRPr lang="en-US" sz="1300" dirty="0"/>
          </a:p>
          <a:p>
            <a:pPr marL="0" indent="0" algn="l">
              <a:lnSpc>
                <a:spcPct val="130000"/>
              </a:lnSpc>
              <a:buNone/>
            </a:pPr>
            <a:r>
              <a:rPr lang="en-US" sz="1300" dirty="0">
                <a:solidFill>
                  <a:srgbClr val="4E5E61"/>
                </a:solidFill>
                <a:latin typeface="Calibri" pitchFamily="34" charset="0"/>
                <a:ea typeface="Calibri" pitchFamily="34" charset="-122"/>
                <a:cs typeface="Calibri" pitchFamily="34" charset="-120"/>
              </a:rPr>
              <a:t>Two paths forward: stop looking for proof of China’s overcapacity; and improve our own efficiency while protecting the vulnerable.</a:t>
            </a:r>
            <a:endParaRPr lang="en-US" sz="130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4E5E61"/>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Liberation Day Tariffs: ASEAN Responses</a:t>
            </a:r>
            <a:endParaRPr lang="en-US" sz="3200" dirty="0"/>
          </a:p>
        </p:txBody>
      </p:sp>
      <p:sp>
        <p:nvSpPr>
          <p:cNvPr id="3" name="Text 1"/>
          <p:cNvSpPr/>
          <p:nvPr/>
        </p:nvSpPr>
        <p:spPr>
          <a:xfrm>
            <a:off x="548640" y="1078992"/>
            <a:ext cx="11094415" cy="365760"/>
          </a:xfrm>
          <a:prstGeom prst="rect">
            <a:avLst/>
          </a:prstGeom>
          <a:noFill/>
          <a:ln/>
        </p:spPr>
        <p:txBody>
          <a:bodyPr wrap="square" lIns="0" tIns="0" rIns="0" bIns="0" rtlCol="0" anchor="ctr"/>
          <a:lstStyle/>
          <a:p>
            <a:pPr marL="0" indent="0" algn="l">
              <a:buNone/>
            </a:pPr>
            <a:r>
              <a:rPr lang="en-US" sz="1450" i="1" dirty="0">
                <a:solidFill>
                  <a:srgbClr val="4E5E61"/>
                </a:solidFill>
                <a:latin typeface="Calibri" pitchFamily="34" charset="0"/>
                <a:ea typeface="Calibri" pitchFamily="34" charset="-122"/>
                <a:cs typeface="Calibri" pitchFamily="34" charset="-120"/>
              </a:rPr>
              <a:t>02 April 2025 — and the negotiations that followed.</a:t>
            </a:r>
            <a:endParaRPr lang="en-US" sz="1450" dirty="0"/>
          </a:p>
        </p:txBody>
      </p:sp>
      <p:sp>
        <p:nvSpPr>
          <p:cNvPr id="4" name="Shape 2"/>
          <p:cNvSpPr/>
          <p:nvPr/>
        </p:nvSpPr>
        <p:spPr>
          <a:xfrm>
            <a:off x="548640" y="1664208"/>
            <a:ext cx="11094415" cy="475488"/>
          </a:xfrm>
          <a:prstGeom prst="rect">
            <a:avLst/>
          </a:prstGeom>
          <a:solidFill>
            <a:srgbClr val="23373B"/>
          </a:solidFill>
          <a:ln/>
        </p:spPr>
        <p:txBody>
          <a:bodyPr/>
          <a:lstStyle/>
          <a:p>
            <a:endParaRPr lang="en-US"/>
          </a:p>
        </p:txBody>
      </p:sp>
      <p:sp>
        <p:nvSpPr>
          <p:cNvPr id="5" name="Text 3"/>
          <p:cNvSpPr/>
          <p:nvPr/>
        </p:nvSpPr>
        <p:spPr>
          <a:xfrm>
            <a:off x="731520" y="1737360"/>
            <a:ext cx="2560320" cy="329184"/>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Country</a:t>
            </a:r>
            <a:endParaRPr lang="en-US" sz="1200" dirty="0"/>
          </a:p>
        </p:txBody>
      </p:sp>
      <p:sp>
        <p:nvSpPr>
          <p:cNvPr id="6" name="Text 4"/>
          <p:cNvSpPr/>
          <p:nvPr/>
        </p:nvSpPr>
        <p:spPr>
          <a:xfrm>
            <a:off x="3337560" y="1737360"/>
            <a:ext cx="1097280" cy="329184"/>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LDT Rate</a:t>
            </a:r>
            <a:endParaRPr lang="en-US" sz="1200" dirty="0"/>
          </a:p>
        </p:txBody>
      </p:sp>
      <p:sp>
        <p:nvSpPr>
          <p:cNvPr id="7" name="Text 5"/>
          <p:cNvSpPr/>
          <p:nvPr/>
        </p:nvSpPr>
        <p:spPr>
          <a:xfrm>
            <a:off x="4480560" y="1737360"/>
            <a:ext cx="1828800" cy="329184"/>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Post-negotiation</a:t>
            </a:r>
            <a:endParaRPr lang="en-US" sz="1200" dirty="0"/>
          </a:p>
        </p:txBody>
      </p:sp>
      <p:sp>
        <p:nvSpPr>
          <p:cNvPr id="8" name="Text 6"/>
          <p:cNvSpPr/>
          <p:nvPr/>
        </p:nvSpPr>
        <p:spPr>
          <a:xfrm>
            <a:off x="6355080" y="1737360"/>
            <a:ext cx="5486400" cy="329184"/>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What was offered / context</a:t>
            </a:r>
            <a:endParaRPr lang="en-US" sz="1200" dirty="0"/>
          </a:p>
        </p:txBody>
      </p:sp>
      <p:sp>
        <p:nvSpPr>
          <p:cNvPr id="9" name="Shape 7"/>
          <p:cNvSpPr/>
          <p:nvPr/>
        </p:nvSpPr>
        <p:spPr>
          <a:xfrm>
            <a:off x="548640" y="2139696"/>
            <a:ext cx="11094415" cy="1069848"/>
          </a:xfrm>
          <a:prstGeom prst="rect">
            <a:avLst/>
          </a:prstGeom>
          <a:solidFill>
            <a:srgbClr val="EDF0F0"/>
          </a:solidFill>
          <a:ln/>
        </p:spPr>
        <p:txBody>
          <a:bodyPr/>
          <a:lstStyle/>
          <a:p>
            <a:endParaRPr lang="en-US"/>
          </a:p>
        </p:txBody>
      </p:sp>
      <p:sp>
        <p:nvSpPr>
          <p:cNvPr id="10" name="Text 8"/>
          <p:cNvSpPr/>
          <p:nvPr/>
        </p:nvSpPr>
        <p:spPr>
          <a:xfrm>
            <a:off x="731520" y="2231136"/>
            <a:ext cx="2560320" cy="886968"/>
          </a:xfrm>
          <a:prstGeom prst="rect">
            <a:avLst/>
          </a:prstGeom>
          <a:noFill/>
          <a:ln/>
        </p:spPr>
        <p:txBody>
          <a:bodyPr wrap="square" lIns="0" tIns="0" rIns="0" bIns="0" rtlCol="0" anchor="ctr"/>
          <a:lstStyle/>
          <a:p>
            <a:pPr marL="0" indent="0" algn="l">
              <a:buNone/>
            </a:pPr>
            <a:r>
              <a:rPr lang="en-US" sz="1350" dirty="0">
                <a:solidFill>
                  <a:srgbClr val="23373B"/>
                </a:solidFill>
                <a:latin typeface="Calibri" pitchFamily="34" charset="0"/>
                <a:ea typeface="Calibri" pitchFamily="34" charset="-122"/>
                <a:cs typeface="Calibri" pitchFamily="34" charset="-120"/>
              </a:rPr>
              <a:t>Vietnam 🇻🇳</a:t>
            </a:r>
            <a:endParaRPr lang="en-US" sz="1350" dirty="0"/>
          </a:p>
        </p:txBody>
      </p:sp>
      <p:sp>
        <p:nvSpPr>
          <p:cNvPr id="11" name="Text 9"/>
          <p:cNvSpPr/>
          <p:nvPr/>
        </p:nvSpPr>
        <p:spPr>
          <a:xfrm>
            <a:off x="3337560" y="2231136"/>
            <a:ext cx="1097280" cy="886968"/>
          </a:xfrm>
          <a:prstGeom prst="rect">
            <a:avLst/>
          </a:prstGeom>
          <a:noFill/>
          <a:ln/>
        </p:spPr>
        <p:txBody>
          <a:bodyPr wrap="square" lIns="0" tIns="0" rIns="0" bIns="0" rtlCol="0" anchor="ctr"/>
          <a:lstStyle/>
          <a:p>
            <a:pPr marL="0" indent="0" algn="l">
              <a:buNone/>
            </a:pPr>
            <a:r>
              <a:rPr lang="en-US" sz="1600" b="1" dirty="0">
                <a:solidFill>
                  <a:srgbClr val="EB811B"/>
                </a:solidFill>
                <a:latin typeface="Calibri" pitchFamily="34" charset="0"/>
                <a:ea typeface="Calibri" pitchFamily="34" charset="-122"/>
                <a:cs typeface="Calibri" pitchFamily="34" charset="-120"/>
              </a:rPr>
              <a:t>46%</a:t>
            </a:r>
            <a:endParaRPr lang="en-US" sz="1600" dirty="0"/>
          </a:p>
        </p:txBody>
      </p:sp>
      <p:sp>
        <p:nvSpPr>
          <p:cNvPr id="12" name="Text 10"/>
          <p:cNvSpPr/>
          <p:nvPr/>
        </p:nvSpPr>
        <p:spPr>
          <a:xfrm>
            <a:off x="4480560" y="2231136"/>
            <a:ext cx="1828800" cy="886968"/>
          </a:xfrm>
          <a:prstGeom prst="rect">
            <a:avLst/>
          </a:prstGeom>
          <a:noFill/>
          <a:ln/>
        </p:spPr>
        <p:txBody>
          <a:bodyPr wrap="square" lIns="0" tIns="0" rIns="0" bIns="0" rtlCol="0" anchor="ctr"/>
          <a:lstStyle/>
          <a:p>
            <a:pPr marL="0" indent="0" algn="l">
              <a:buNone/>
            </a:pPr>
            <a:r>
              <a:rPr lang="en-US" sz="1350" dirty="0">
                <a:solidFill>
                  <a:srgbClr val="23373B"/>
                </a:solidFill>
                <a:latin typeface="Calibri" pitchFamily="34" charset="0"/>
                <a:ea typeface="Calibri" pitchFamily="34" charset="-122"/>
                <a:cs typeface="Calibri" pitchFamily="34" charset="-120"/>
              </a:rPr>
              <a:t>20% + 40% on trans-shipments</a:t>
            </a:r>
            <a:endParaRPr lang="en-US" sz="1350" dirty="0"/>
          </a:p>
        </p:txBody>
      </p:sp>
      <p:sp>
        <p:nvSpPr>
          <p:cNvPr id="13" name="Text 11"/>
          <p:cNvSpPr/>
          <p:nvPr/>
        </p:nvSpPr>
        <p:spPr>
          <a:xfrm>
            <a:off x="6355080" y="2231136"/>
            <a:ext cx="5303520" cy="886968"/>
          </a:xfrm>
          <a:prstGeom prst="rect">
            <a:avLst/>
          </a:prstGeom>
          <a:noFill/>
          <a:ln/>
        </p:spPr>
        <p:txBody>
          <a:bodyPr wrap="square" lIns="0" tIns="0" rIns="0" bIns="0" rtlCol="0" anchor="ctr"/>
          <a:lstStyle/>
          <a:p>
            <a:pPr marL="0" indent="0" algn="l">
              <a:lnSpc>
                <a:spcPct val="110000"/>
              </a:lnSpc>
              <a:buNone/>
            </a:pPr>
            <a:r>
              <a:rPr lang="en-US" sz="1200" dirty="0">
                <a:solidFill>
                  <a:srgbClr val="4E5E61"/>
                </a:solidFill>
                <a:latin typeface="Calibri" pitchFamily="34" charset="0"/>
                <a:ea typeface="Calibri" pitchFamily="34" charset="-122"/>
                <a:cs typeface="Calibri" pitchFamily="34" charset="-120"/>
              </a:rPr>
              <a:t>Fast-track for Trump Organization projects; VN export growth declining.</a:t>
            </a:r>
            <a:endParaRPr lang="en-US" sz="1200" dirty="0"/>
          </a:p>
        </p:txBody>
      </p:sp>
      <p:sp>
        <p:nvSpPr>
          <p:cNvPr id="14" name="Shape 12"/>
          <p:cNvSpPr/>
          <p:nvPr/>
        </p:nvSpPr>
        <p:spPr>
          <a:xfrm>
            <a:off x="548640" y="3255264"/>
            <a:ext cx="11094415" cy="1069848"/>
          </a:xfrm>
          <a:prstGeom prst="rect">
            <a:avLst/>
          </a:prstGeom>
          <a:solidFill>
            <a:srgbClr val="FAFAFA"/>
          </a:solidFill>
          <a:ln/>
        </p:spPr>
        <p:txBody>
          <a:bodyPr/>
          <a:lstStyle/>
          <a:p>
            <a:endParaRPr lang="en-US"/>
          </a:p>
        </p:txBody>
      </p:sp>
      <p:sp>
        <p:nvSpPr>
          <p:cNvPr id="15" name="Text 13"/>
          <p:cNvSpPr/>
          <p:nvPr/>
        </p:nvSpPr>
        <p:spPr>
          <a:xfrm>
            <a:off x="731520" y="3346704"/>
            <a:ext cx="2560320" cy="886968"/>
          </a:xfrm>
          <a:prstGeom prst="rect">
            <a:avLst/>
          </a:prstGeom>
          <a:noFill/>
          <a:ln/>
        </p:spPr>
        <p:txBody>
          <a:bodyPr wrap="square" lIns="0" tIns="0" rIns="0" bIns="0" rtlCol="0" anchor="ctr"/>
          <a:lstStyle/>
          <a:p>
            <a:pPr marL="0" indent="0" algn="l">
              <a:buNone/>
            </a:pPr>
            <a:r>
              <a:rPr lang="en-US" sz="1350" dirty="0">
                <a:solidFill>
                  <a:srgbClr val="23373B"/>
                </a:solidFill>
                <a:latin typeface="Calibri" pitchFamily="34" charset="0"/>
                <a:ea typeface="Calibri" pitchFamily="34" charset="-122"/>
                <a:cs typeface="Calibri" pitchFamily="34" charset="-120"/>
              </a:rPr>
              <a:t>Indonesia 🇮🇩</a:t>
            </a:r>
            <a:endParaRPr lang="en-US" sz="1350" dirty="0"/>
          </a:p>
        </p:txBody>
      </p:sp>
      <p:sp>
        <p:nvSpPr>
          <p:cNvPr id="16" name="Text 14"/>
          <p:cNvSpPr/>
          <p:nvPr/>
        </p:nvSpPr>
        <p:spPr>
          <a:xfrm>
            <a:off x="3337560" y="3346704"/>
            <a:ext cx="1097280" cy="886968"/>
          </a:xfrm>
          <a:prstGeom prst="rect">
            <a:avLst/>
          </a:prstGeom>
          <a:noFill/>
          <a:ln/>
        </p:spPr>
        <p:txBody>
          <a:bodyPr wrap="square" lIns="0" tIns="0" rIns="0" bIns="0" rtlCol="0" anchor="ctr"/>
          <a:lstStyle/>
          <a:p>
            <a:pPr marL="0" indent="0" algn="l">
              <a:buNone/>
            </a:pPr>
            <a:r>
              <a:rPr lang="en-US" sz="1600" b="1" dirty="0">
                <a:solidFill>
                  <a:srgbClr val="EB811B"/>
                </a:solidFill>
                <a:latin typeface="Calibri" pitchFamily="34" charset="0"/>
                <a:ea typeface="Calibri" pitchFamily="34" charset="-122"/>
                <a:cs typeface="Calibri" pitchFamily="34" charset="-120"/>
              </a:rPr>
              <a:t>32%</a:t>
            </a:r>
            <a:endParaRPr lang="en-US" sz="1600" dirty="0"/>
          </a:p>
        </p:txBody>
      </p:sp>
      <p:sp>
        <p:nvSpPr>
          <p:cNvPr id="17" name="Text 15"/>
          <p:cNvSpPr/>
          <p:nvPr/>
        </p:nvSpPr>
        <p:spPr>
          <a:xfrm>
            <a:off x="4480560" y="3346704"/>
            <a:ext cx="1828800" cy="886968"/>
          </a:xfrm>
          <a:prstGeom prst="rect">
            <a:avLst/>
          </a:prstGeom>
          <a:noFill/>
          <a:ln/>
        </p:spPr>
        <p:txBody>
          <a:bodyPr wrap="square" lIns="0" tIns="0" rIns="0" bIns="0" rtlCol="0" anchor="ctr"/>
          <a:lstStyle/>
          <a:p>
            <a:pPr marL="0" indent="0" algn="l">
              <a:buNone/>
            </a:pPr>
            <a:r>
              <a:rPr lang="en-US" sz="1350" dirty="0">
                <a:solidFill>
                  <a:srgbClr val="23373B"/>
                </a:solidFill>
                <a:latin typeface="Calibri" pitchFamily="34" charset="0"/>
                <a:ea typeface="Calibri" pitchFamily="34" charset="-122"/>
                <a:cs typeface="Calibri" pitchFamily="34" charset="-120"/>
              </a:rPr>
              <a:t>19%</a:t>
            </a:r>
            <a:endParaRPr lang="en-US" sz="1350" dirty="0"/>
          </a:p>
        </p:txBody>
      </p:sp>
      <p:sp>
        <p:nvSpPr>
          <p:cNvPr id="18" name="Text 16"/>
          <p:cNvSpPr/>
          <p:nvPr/>
        </p:nvSpPr>
        <p:spPr>
          <a:xfrm>
            <a:off x="6355080" y="3346704"/>
            <a:ext cx="5303520" cy="886968"/>
          </a:xfrm>
          <a:prstGeom prst="rect">
            <a:avLst/>
          </a:prstGeom>
          <a:noFill/>
          <a:ln/>
        </p:spPr>
        <p:txBody>
          <a:bodyPr wrap="square" lIns="0" tIns="0" rIns="0" bIns="0" rtlCol="0" anchor="ctr"/>
          <a:lstStyle/>
          <a:p>
            <a:pPr marL="0" indent="0" algn="l">
              <a:lnSpc>
                <a:spcPct val="110000"/>
              </a:lnSpc>
              <a:buNone/>
            </a:pPr>
            <a:r>
              <a:rPr lang="en-US" sz="1200" dirty="0">
                <a:solidFill>
                  <a:srgbClr val="4E5E61"/>
                </a:solidFill>
                <a:latin typeface="Calibri" pitchFamily="34" charset="0"/>
                <a:ea typeface="Calibri" pitchFamily="34" charset="-122"/>
                <a:cs typeface="Calibri" pitchFamily="34" charset="-120"/>
              </a:rPr>
              <a:t>USD34bn commitments: Boeing, semiconductors, energy, KBR, blue ammonia in Louisiana.</a:t>
            </a:r>
            <a:endParaRPr lang="en-US" sz="1200" dirty="0"/>
          </a:p>
        </p:txBody>
      </p:sp>
      <p:sp>
        <p:nvSpPr>
          <p:cNvPr id="19" name="Shape 17"/>
          <p:cNvSpPr/>
          <p:nvPr/>
        </p:nvSpPr>
        <p:spPr>
          <a:xfrm>
            <a:off x="548640" y="4370832"/>
            <a:ext cx="11094415" cy="1069848"/>
          </a:xfrm>
          <a:prstGeom prst="rect">
            <a:avLst/>
          </a:prstGeom>
          <a:solidFill>
            <a:srgbClr val="EDF0F0"/>
          </a:solidFill>
          <a:ln/>
        </p:spPr>
        <p:txBody>
          <a:bodyPr/>
          <a:lstStyle/>
          <a:p>
            <a:endParaRPr lang="en-US"/>
          </a:p>
        </p:txBody>
      </p:sp>
      <p:sp>
        <p:nvSpPr>
          <p:cNvPr id="20" name="Text 18"/>
          <p:cNvSpPr/>
          <p:nvPr/>
        </p:nvSpPr>
        <p:spPr>
          <a:xfrm>
            <a:off x="731520" y="4462272"/>
            <a:ext cx="2560320" cy="886968"/>
          </a:xfrm>
          <a:prstGeom prst="rect">
            <a:avLst/>
          </a:prstGeom>
          <a:noFill/>
          <a:ln/>
        </p:spPr>
        <p:txBody>
          <a:bodyPr wrap="square" lIns="0" tIns="0" rIns="0" bIns="0" rtlCol="0" anchor="ctr"/>
          <a:lstStyle/>
          <a:p>
            <a:pPr marL="0" indent="0" algn="l">
              <a:buNone/>
            </a:pPr>
            <a:r>
              <a:rPr lang="en-US" sz="1350" dirty="0">
                <a:solidFill>
                  <a:srgbClr val="23373B"/>
                </a:solidFill>
                <a:latin typeface="Calibri" pitchFamily="34" charset="0"/>
                <a:ea typeface="Calibri" pitchFamily="34" charset="-122"/>
                <a:cs typeface="Calibri" pitchFamily="34" charset="-120"/>
              </a:rPr>
              <a:t>Malaysia 🇲🇾</a:t>
            </a:r>
            <a:endParaRPr lang="en-US" sz="1350" dirty="0"/>
          </a:p>
        </p:txBody>
      </p:sp>
      <p:sp>
        <p:nvSpPr>
          <p:cNvPr id="21" name="Text 19"/>
          <p:cNvSpPr/>
          <p:nvPr/>
        </p:nvSpPr>
        <p:spPr>
          <a:xfrm>
            <a:off x="3337560" y="4462272"/>
            <a:ext cx="1097280" cy="886968"/>
          </a:xfrm>
          <a:prstGeom prst="rect">
            <a:avLst/>
          </a:prstGeom>
          <a:noFill/>
          <a:ln/>
        </p:spPr>
        <p:txBody>
          <a:bodyPr wrap="square" lIns="0" tIns="0" rIns="0" bIns="0" rtlCol="0" anchor="ctr"/>
          <a:lstStyle/>
          <a:p>
            <a:pPr marL="0" indent="0" algn="l">
              <a:buNone/>
            </a:pPr>
            <a:r>
              <a:rPr lang="en-US" sz="1600" b="1" dirty="0">
                <a:solidFill>
                  <a:srgbClr val="EB811B"/>
                </a:solidFill>
                <a:latin typeface="Calibri" pitchFamily="34" charset="0"/>
                <a:ea typeface="Calibri" pitchFamily="34" charset="-122"/>
                <a:cs typeface="Calibri" pitchFamily="34" charset="-120"/>
              </a:rPr>
              <a:t>24%</a:t>
            </a:r>
            <a:endParaRPr lang="en-US" sz="1600" dirty="0"/>
          </a:p>
        </p:txBody>
      </p:sp>
      <p:sp>
        <p:nvSpPr>
          <p:cNvPr id="22" name="Text 20"/>
          <p:cNvSpPr/>
          <p:nvPr/>
        </p:nvSpPr>
        <p:spPr>
          <a:xfrm>
            <a:off x="4480560" y="4462272"/>
            <a:ext cx="1828800" cy="886968"/>
          </a:xfrm>
          <a:prstGeom prst="rect">
            <a:avLst/>
          </a:prstGeom>
          <a:noFill/>
          <a:ln/>
        </p:spPr>
        <p:txBody>
          <a:bodyPr wrap="square" lIns="0" tIns="0" rIns="0" bIns="0" rtlCol="0" anchor="ctr"/>
          <a:lstStyle/>
          <a:p>
            <a:pPr marL="0" indent="0" algn="l">
              <a:buNone/>
            </a:pPr>
            <a:r>
              <a:rPr lang="en-US" sz="1350" dirty="0">
                <a:solidFill>
                  <a:srgbClr val="23373B"/>
                </a:solidFill>
                <a:latin typeface="Calibri" pitchFamily="34" charset="0"/>
                <a:ea typeface="Calibri" pitchFamily="34" charset="-122"/>
                <a:cs typeface="Calibri" pitchFamily="34" charset="-120"/>
              </a:rPr>
              <a:t>19%</a:t>
            </a:r>
            <a:endParaRPr lang="en-US" sz="1350" dirty="0"/>
          </a:p>
        </p:txBody>
      </p:sp>
      <p:sp>
        <p:nvSpPr>
          <p:cNvPr id="23" name="Text 21"/>
          <p:cNvSpPr/>
          <p:nvPr/>
        </p:nvSpPr>
        <p:spPr>
          <a:xfrm>
            <a:off x="6355080" y="4462272"/>
            <a:ext cx="5303520" cy="886968"/>
          </a:xfrm>
          <a:prstGeom prst="rect">
            <a:avLst/>
          </a:prstGeom>
          <a:noFill/>
          <a:ln/>
        </p:spPr>
        <p:txBody>
          <a:bodyPr wrap="square" lIns="0" tIns="0" rIns="0" bIns="0" rtlCol="0" anchor="ctr"/>
          <a:lstStyle/>
          <a:p>
            <a:pPr marL="0" indent="0" algn="l">
              <a:lnSpc>
                <a:spcPct val="110000"/>
              </a:lnSpc>
              <a:buNone/>
            </a:pPr>
            <a:r>
              <a:rPr lang="en-US" sz="1200" dirty="0">
                <a:solidFill>
                  <a:srgbClr val="4E5E61"/>
                </a:solidFill>
                <a:latin typeface="Calibri" pitchFamily="34" charset="0"/>
                <a:ea typeface="Calibri" pitchFamily="34" charset="-122"/>
                <a:cs typeface="Calibri" pitchFamily="34" charset="-120"/>
              </a:rPr>
              <a:t>USD240bn commitments = 57% of GDP. Semiconductor risk: MY = 13% of global testing &amp; packaging.</a:t>
            </a:r>
            <a:endParaRPr lang="en-US" sz="1200" dirty="0"/>
          </a:p>
        </p:txBody>
      </p:sp>
      <p:sp>
        <p:nvSpPr>
          <p:cNvPr id="24" name="Shape 22"/>
          <p:cNvSpPr/>
          <p:nvPr/>
        </p:nvSpPr>
        <p:spPr>
          <a:xfrm>
            <a:off x="548640" y="5426112"/>
            <a:ext cx="11094415" cy="1069848"/>
          </a:xfrm>
          <a:prstGeom prst="rect">
            <a:avLst/>
          </a:prstGeom>
          <a:solidFill>
            <a:srgbClr val="FAFAFA"/>
          </a:solidFill>
          <a:ln/>
        </p:spPr>
        <p:txBody>
          <a:bodyPr/>
          <a:lstStyle/>
          <a:p>
            <a:endParaRPr lang="en-US"/>
          </a:p>
        </p:txBody>
      </p:sp>
      <p:sp>
        <p:nvSpPr>
          <p:cNvPr id="25" name="Text 23"/>
          <p:cNvSpPr/>
          <p:nvPr/>
        </p:nvSpPr>
        <p:spPr>
          <a:xfrm>
            <a:off x="731520" y="5577840"/>
            <a:ext cx="2560320" cy="886968"/>
          </a:xfrm>
          <a:prstGeom prst="rect">
            <a:avLst/>
          </a:prstGeom>
          <a:noFill/>
          <a:ln/>
        </p:spPr>
        <p:txBody>
          <a:bodyPr wrap="square" lIns="0" tIns="0" rIns="0" bIns="0" rtlCol="0" anchor="ctr"/>
          <a:lstStyle/>
          <a:p>
            <a:pPr marL="0" indent="0" algn="l">
              <a:buNone/>
            </a:pPr>
            <a:r>
              <a:rPr lang="en-US" sz="1350" dirty="0">
                <a:solidFill>
                  <a:srgbClr val="23373B"/>
                </a:solidFill>
                <a:latin typeface="Calibri" pitchFamily="34" charset="0"/>
                <a:ea typeface="Calibri" pitchFamily="34" charset="-122"/>
                <a:cs typeface="Calibri" pitchFamily="34" charset="-120"/>
              </a:rPr>
              <a:t>Singapore 🇸🇬</a:t>
            </a:r>
            <a:endParaRPr lang="en-US" sz="1350" dirty="0"/>
          </a:p>
        </p:txBody>
      </p:sp>
      <p:sp>
        <p:nvSpPr>
          <p:cNvPr id="26" name="Text 24"/>
          <p:cNvSpPr/>
          <p:nvPr/>
        </p:nvSpPr>
        <p:spPr>
          <a:xfrm>
            <a:off x="3337560" y="5577840"/>
            <a:ext cx="1097280" cy="886968"/>
          </a:xfrm>
          <a:prstGeom prst="rect">
            <a:avLst/>
          </a:prstGeom>
          <a:noFill/>
          <a:ln/>
        </p:spPr>
        <p:txBody>
          <a:bodyPr wrap="square" lIns="0" tIns="0" rIns="0" bIns="0" rtlCol="0" anchor="ctr"/>
          <a:lstStyle/>
          <a:p>
            <a:pPr marL="0" indent="0" algn="l">
              <a:buNone/>
            </a:pPr>
            <a:r>
              <a:rPr lang="en-US" sz="1600" b="1" dirty="0">
                <a:solidFill>
                  <a:srgbClr val="EB811B"/>
                </a:solidFill>
                <a:latin typeface="Calibri" pitchFamily="34" charset="0"/>
                <a:ea typeface="Calibri" pitchFamily="34" charset="-122"/>
                <a:cs typeface="Calibri" pitchFamily="34" charset="-120"/>
              </a:rPr>
              <a:t>10%</a:t>
            </a:r>
            <a:endParaRPr lang="en-US" sz="1600" dirty="0"/>
          </a:p>
        </p:txBody>
      </p:sp>
      <p:sp>
        <p:nvSpPr>
          <p:cNvPr id="27" name="Text 25"/>
          <p:cNvSpPr/>
          <p:nvPr/>
        </p:nvSpPr>
        <p:spPr>
          <a:xfrm>
            <a:off x="4480560" y="5577840"/>
            <a:ext cx="1828800" cy="886968"/>
          </a:xfrm>
          <a:prstGeom prst="rect">
            <a:avLst/>
          </a:prstGeom>
          <a:noFill/>
          <a:ln/>
        </p:spPr>
        <p:txBody>
          <a:bodyPr wrap="square" lIns="0" tIns="0" rIns="0" bIns="0" rtlCol="0" anchor="ctr"/>
          <a:lstStyle/>
          <a:p>
            <a:pPr marL="0" indent="0" algn="l">
              <a:buNone/>
            </a:pPr>
            <a:r>
              <a:rPr lang="en-US" sz="1350" dirty="0">
                <a:solidFill>
                  <a:srgbClr val="23373B"/>
                </a:solidFill>
                <a:latin typeface="Calibri" pitchFamily="34" charset="0"/>
                <a:ea typeface="Calibri" pitchFamily="34" charset="-122"/>
                <a:cs typeface="Calibri" pitchFamily="34" charset="-120"/>
              </a:rPr>
              <a:t>10% (baseline)</a:t>
            </a:r>
            <a:endParaRPr lang="en-US" sz="1350" dirty="0"/>
          </a:p>
        </p:txBody>
      </p:sp>
      <p:sp>
        <p:nvSpPr>
          <p:cNvPr id="28" name="Text 26"/>
          <p:cNvSpPr/>
          <p:nvPr/>
        </p:nvSpPr>
        <p:spPr>
          <a:xfrm>
            <a:off x="6355080" y="5577840"/>
            <a:ext cx="5303520" cy="886968"/>
          </a:xfrm>
          <a:prstGeom prst="rect">
            <a:avLst/>
          </a:prstGeom>
          <a:noFill/>
          <a:ln/>
        </p:spPr>
        <p:txBody>
          <a:bodyPr wrap="square" lIns="0" tIns="0" rIns="0" bIns="0" rtlCol="0" anchor="ctr"/>
          <a:lstStyle/>
          <a:p>
            <a:pPr marL="0" indent="0" algn="l">
              <a:lnSpc>
                <a:spcPct val="110000"/>
              </a:lnSpc>
              <a:buNone/>
            </a:pPr>
            <a:r>
              <a:rPr lang="en-US" sz="1200" dirty="0">
                <a:solidFill>
                  <a:srgbClr val="4E5E61"/>
                </a:solidFill>
                <a:latin typeface="Calibri" pitchFamily="34" charset="0"/>
                <a:ea typeface="Calibri" pitchFamily="34" charset="-122"/>
                <a:cs typeface="Calibri" pitchFamily="34" charset="-120"/>
              </a:rPr>
              <a:t>No headline negotiation. Quiet diplomacy: preserve USSFTA, strengthen digital ties, adaptation.</a:t>
            </a:r>
            <a:endParaRPr lang="en-US" sz="1200" dirty="0"/>
          </a:p>
        </p:txBody>
      </p:sp>
      <p:sp>
        <p:nvSpPr>
          <p:cNvPr id="29"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4E5E61"/>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Korea, the Supreme Court, and What Comes Next</a:t>
            </a:r>
            <a:endParaRPr lang="en-US" sz="3200" dirty="0"/>
          </a:p>
        </p:txBody>
      </p:sp>
      <p:sp>
        <p:nvSpPr>
          <p:cNvPr id="3" name="Text 1"/>
          <p:cNvSpPr/>
          <p:nvPr/>
        </p:nvSpPr>
        <p:spPr>
          <a:xfrm>
            <a:off x="548640" y="1078992"/>
            <a:ext cx="11094415" cy="365760"/>
          </a:xfrm>
          <a:prstGeom prst="rect">
            <a:avLst/>
          </a:prstGeom>
          <a:noFill/>
          <a:ln/>
        </p:spPr>
        <p:txBody>
          <a:bodyPr wrap="square" lIns="0" tIns="0" rIns="0" bIns="0" rtlCol="0" anchor="ctr"/>
          <a:lstStyle/>
          <a:p>
            <a:pPr marL="0" indent="0" algn="l">
              <a:buNone/>
            </a:pPr>
            <a:r>
              <a:rPr lang="en-US" sz="1450" i="1" dirty="0">
                <a:solidFill>
                  <a:srgbClr val="4E5E61"/>
                </a:solidFill>
                <a:latin typeface="Calibri" pitchFamily="34" charset="0"/>
                <a:ea typeface="Calibri" pitchFamily="34" charset="-122"/>
                <a:cs typeface="Calibri" pitchFamily="34" charset="-120"/>
              </a:rPr>
              <a:t>The tariff architecture keeps shifting.</a:t>
            </a:r>
            <a:endParaRPr lang="en-US" sz="1450" dirty="0"/>
          </a:p>
        </p:txBody>
      </p:sp>
      <p:sp>
        <p:nvSpPr>
          <p:cNvPr id="4" name="Shape 2"/>
          <p:cNvSpPr/>
          <p:nvPr/>
        </p:nvSpPr>
        <p:spPr>
          <a:xfrm>
            <a:off x="548640" y="1691640"/>
            <a:ext cx="5166360" cy="3931920"/>
          </a:xfrm>
          <a:prstGeom prst="roundRect">
            <a:avLst>
              <a:gd name="adj" fmla="val 1395"/>
            </a:avLst>
          </a:prstGeom>
          <a:solidFill>
            <a:srgbClr val="EDF0F0"/>
          </a:solidFill>
          <a:ln/>
        </p:spPr>
        <p:txBody>
          <a:bodyPr/>
          <a:lstStyle/>
          <a:p>
            <a:endParaRPr lang="en-US"/>
          </a:p>
        </p:txBody>
      </p:sp>
      <p:sp>
        <p:nvSpPr>
          <p:cNvPr id="5" name="Shape 3"/>
          <p:cNvSpPr/>
          <p:nvPr/>
        </p:nvSpPr>
        <p:spPr>
          <a:xfrm>
            <a:off x="914400" y="2011680"/>
            <a:ext cx="640080" cy="0"/>
          </a:xfrm>
          <a:prstGeom prst="line">
            <a:avLst/>
          </a:prstGeom>
          <a:noFill/>
          <a:ln w="38100">
            <a:solidFill>
              <a:srgbClr val="EB811B"/>
            </a:solidFill>
            <a:prstDash val="solid"/>
          </a:ln>
        </p:spPr>
        <p:txBody>
          <a:bodyPr/>
          <a:lstStyle/>
          <a:p>
            <a:endParaRPr lang="en-US"/>
          </a:p>
        </p:txBody>
      </p:sp>
      <p:sp>
        <p:nvSpPr>
          <p:cNvPr id="6" name="Text 4"/>
          <p:cNvSpPr/>
          <p:nvPr/>
        </p:nvSpPr>
        <p:spPr>
          <a:xfrm>
            <a:off x="914400" y="2194560"/>
            <a:ext cx="4434840" cy="365760"/>
          </a:xfrm>
          <a:prstGeom prst="rect">
            <a:avLst/>
          </a:prstGeom>
          <a:noFill/>
          <a:ln/>
        </p:spPr>
        <p:txBody>
          <a:bodyPr wrap="square" lIns="0" tIns="0" rIns="0" bIns="0" rtlCol="0" anchor="ctr"/>
          <a:lstStyle/>
          <a:p>
            <a:pPr marL="0" indent="0" algn="l">
              <a:buNone/>
            </a:pPr>
            <a:r>
              <a:rPr lang="en-US" sz="1300" b="1" dirty="0">
                <a:solidFill>
                  <a:srgbClr val="23373B"/>
                </a:solidFill>
                <a:latin typeface="Calibri" pitchFamily="34" charset="0"/>
                <a:ea typeface="Calibri" pitchFamily="34" charset="-122"/>
                <a:cs typeface="Calibri" pitchFamily="34" charset="-120"/>
              </a:rPr>
              <a:t>South Korea 🇰🇷</a:t>
            </a:r>
            <a:endParaRPr lang="en-US" sz="1300" dirty="0"/>
          </a:p>
        </p:txBody>
      </p:sp>
      <p:sp>
        <p:nvSpPr>
          <p:cNvPr id="7" name="Text 5"/>
          <p:cNvSpPr/>
          <p:nvPr/>
        </p:nvSpPr>
        <p:spPr>
          <a:xfrm>
            <a:off x="914400" y="2578608"/>
            <a:ext cx="4434840" cy="320040"/>
          </a:xfrm>
          <a:prstGeom prst="rect">
            <a:avLst/>
          </a:prstGeom>
          <a:noFill/>
          <a:ln/>
        </p:spPr>
        <p:txBody>
          <a:bodyPr wrap="square" lIns="0" tIns="0" rIns="0" bIns="0" rtlCol="0" anchor="ctr"/>
          <a:lstStyle/>
          <a:p>
            <a:pPr marL="0" indent="0" algn="l">
              <a:buNone/>
            </a:pPr>
            <a:r>
              <a:rPr lang="en-US" sz="1250" i="1" dirty="0">
                <a:solidFill>
                  <a:srgbClr val="4E5E61"/>
                </a:solidFill>
                <a:latin typeface="Calibri" pitchFamily="34" charset="0"/>
                <a:ea typeface="Calibri" pitchFamily="34" charset="-122"/>
                <a:cs typeface="Calibri" pitchFamily="34" charset="-120"/>
              </a:rPr>
              <a:t>LDT 25% → 15% (07 Aug 2025)</a:t>
            </a:r>
            <a:endParaRPr lang="en-US" sz="1250" dirty="0"/>
          </a:p>
        </p:txBody>
      </p:sp>
      <p:sp>
        <p:nvSpPr>
          <p:cNvPr id="8" name="Text 6"/>
          <p:cNvSpPr/>
          <p:nvPr/>
        </p:nvSpPr>
        <p:spPr>
          <a:xfrm>
            <a:off x="914400" y="2971800"/>
            <a:ext cx="4434840" cy="2468880"/>
          </a:xfrm>
          <a:prstGeom prst="rect">
            <a:avLst/>
          </a:prstGeom>
          <a:noFill/>
          <a:ln/>
        </p:spPr>
        <p:txBody>
          <a:bodyPr wrap="square" lIns="0" tIns="0" rIns="0" bIns="0" rtlCol="0" anchor="t"/>
          <a:lstStyle/>
          <a:p>
            <a:pPr marL="0" indent="0" algn="l">
              <a:lnSpc>
                <a:spcPct val="122000"/>
              </a:lnSpc>
              <a:buNone/>
            </a:pPr>
            <a:r>
              <a:rPr lang="en-US" sz="1300" dirty="0">
                <a:solidFill>
                  <a:srgbClr val="4E5E61"/>
                </a:solidFill>
                <a:latin typeface="Calibri" pitchFamily="34" charset="0"/>
                <a:ea typeface="Calibri" pitchFamily="34" charset="-122"/>
                <a:cs typeface="Calibri" pitchFamily="34" charset="-120"/>
              </a:rPr>
              <a:t>USD350bn commitment in “US Projects”: USD200bn strategic industries (semiconductors), USD150bn shipbuilding partnership, plus USD100bn in energy purchases (LNG, LPG, crude oil) over 3.5 years.</a:t>
            </a:r>
            <a:endParaRPr lang="en-US" sz="1300" dirty="0"/>
          </a:p>
          <a:p>
            <a:pPr marL="0" indent="0" algn="l">
              <a:lnSpc>
                <a:spcPct val="122000"/>
              </a:lnSpc>
              <a:buNone/>
            </a:pPr>
            <a:endParaRPr lang="en-US" sz="1300" dirty="0"/>
          </a:p>
          <a:p>
            <a:pPr marL="0" indent="0" algn="l">
              <a:lnSpc>
                <a:spcPct val="122000"/>
              </a:lnSpc>
              <a:buNone/>
            </a:pPr>
            <a:r>
              <a:rPr lang="en-US" sz="1300" dirty="0">
                <a:solidFill>
                  <a:srgbClr val="4E5E61"/>
                </a:solidFill>
                <a:latin typeface="Calibri" pitchFamily="34" charset="0"/>
                <a:ea typeface="Calibri" pitchFamily="34" charset="-122"/>
                <a:cs typeface="Calibri" pitchFamily="34" charset="-120"/>
              </a:rPr>
              <a:t>Note: USD350bn = ~20% of KR annual GDP (USD1.71tn, 2023).</a:t>
            </a:r>
            <a:endParaRPr lang="en-US" sz="1300" dirty="0"/>
          </a:p>
          <a:p>
            <a:pPr marL="0" indent="0" algn="l">
              <a:lnSpc>
                <a:spcPct val="122000"/>
              </a:lnSpc>
              <a:buNone/>
            </a:pPr>
            <a:endParaRPr lang="en-US" sz="1300" dirty="0"/>
          </a:p>
          <a:p>
            <a:pPr marL="0" indent="0" algn="l">
              <a:lnSpc>
                <a:spcPct val="122000"/>
              </a:lnSpc>
              <a:buNone/>
            </a:pPr>
            <a:r>
              <a:rPr lang="en-US" sz="1300" dirty="0">
                <a:solidFill>
                  <a:srgbClr val="4E5E61"/>
                </a:solidFill>
                <a:latin typeface="Calibri" pitchFamily="34" charset="0"/>
                <a:ea typeface="Calibri" pitchFamily="34" charset="-122"/>
                <a:cs typeface="Calibri" pitchFamily="34" charset="-120"/>
              </a:rPr>
              <a:t>Aug 2026: Major US immigration raid at Korea-linked battery construction site in Georgia.</a:t>
            </a:r>
            <a:endParaRPr lang="en-US" sz="1300" dirty="0"/>
          </a:p>
        </p:txBody>
      </p:sp>
      <p:sp>
        <p:nvSpPr>
          <p:cNvPr id="9" name="Shape 7"/>
          <p:cNvSpPr/>
          <p:nvPr/>
        </p:nvSpPr>
        <p:spPr>
          <a:xfrm>
            <a:off x="6080760" y="1691640"/>
            <a:ext cx="5166360" cy="1783080"/>
          </a:xfrm>
          <a:prstGeom prst="roundRect">
            <a:avLst>
              <a:gd name="adj" fmla="val 3077"/>
            </a:avLst>
          </a:prstGeom>
          <a:solidFill>
            <a:srgbClr val="EDF0F0"/>
          </a:solidFill>
          <a:ln/>
        </p:spPr>
        <p:txBody>
          <a:bodyPr/>
          <a:lstStyle/>
          <a:p>
            <a:endParaRPr lang="en-US"/>
          </a:p>
        </p:txBody>
      </p:sp>
      <p:sp>
        <p:nvSpPr>
          <p:cNvPr id="10" name="Shape 8"/>
          <p:cNvSpPr/>
          <p:nvPr/>
        </p:nvSpPr>
        <p:spPr>
          <a:xfrm>
            <a:off x="6446520" y="2011680"/>
            <a:ext cx="640080" cy="0"/>
          </a:xfrm>
          <a:prstGeom prst="line">
            <a:avLst/>
          </a:prstGeom>
          <a:noFill/>
          <a:ln w="38100">
            <a:solidFill>
              <a:srgbClr val="EB811B"/>
            </a:solidFill>
            <a:prstDash val="solid"/>
          </a:ln>
        </p:spPr>
        <p:txBody>
          <a:bodyPr/>
          <a:lstStyle/>
          <a:p>
            <a:endParaRPr lang="en-US"/>
          </a:p>
        </p:txBody>
      </p:sp>
      <p:sp>
        <p:nvSpPr>
          <p:cNvPr id="11" name="Text 9"/>
          <p:cNvSpPr/>
          <p:nvPr/>
        </p:nvSpPr>
        <p:spPr>
          <a:xfrm>
            <a:off x="6446520" y="2194560"/>
            <a:ext cx="4434840" cy="320040"/>
          </a:xfrm>
          <a:prstGeom prst="rect">
            <a:avLst/>
          </a:prstGeom>
          <a:noFill/>
          <a:ln/>
        </p:spPr>
        <p:txBody>
          <a:bodyPr wrap="square" lIns="0" tIns="0" rIns="0" bIns="0" rtlCol="0" anchor="ctr"/>
          <a:lstStyle/>
          <a:p>
            <a:pPr marL="0" indent="0" algn="l">
              <a:buNone/>
            </a:pPr>
            <a:r>
              <a:rPr lang="en-US" sz="1300" b="1" dirty="0">
                <a:solidFill>
                  <a:srgbClr val="23373B"/>
                </a:solidFill>
                <a:latin typeface="Calibri" pitchFamily="34" charset="0"/>
                <a:ea typeface="Calibri" pitchFamily="34" charset="-122"/>
                <a:cs typeface="Calibri" pitchFamily="34" charset="-120"/>
              </a:rPr>
              <a:t>Supreme Court, Feb 2026</a:t>
            </a:r>
            <a:endParaRPr lang="en-US" sz="1300" dirty="0"/>
          </a:p>
        </p:txBody>
      </p:sp>
      <p:sp>
        <p:nvSpPr>
          <p:cNvPr id="12" name="Text 10"/>
          <p:cNvSpPr/>
          <p:nvPr/>
        </p:nvSpPr>
        <p:spPr>
          <a:xfrm>
            <a:off x="6446520" y="2578608"/>
            <a:ext cx="4434840" cy="777240"/>
          </a:xfrm>
          <a:prstGeom prst="rect">
            <a:avLst/>
          </a:prstGeom>
          <a:noFill/>
          <a:ln/>
        </p:spPr>
        <p:txBody>
          <a:bodyPr wrap="square" lIns="0" tIns="0" rIns="0" bIns="0" rtlCol="0" anchor="ctr"/>
          <a:lstStyle/>
          <a:p>
            <a:pPr marL="0" indent="0" algn="l">
              <a:lnSpc>
                <a:spcPct val="120000"/>
              </a:lnSpc>
              <a:buNone/>
            </a:pPr>
            <a:r>
              <a:rPr lang="en-US" sz="1300" dirty="0">
                <a:solidFill>
                  <a:srgbClr val="4E5E61"/>
                </a:solidFill>
                <a:latin typeface="Calibri" pitchFamily="34" charset="0"/>
                <a:ea typeface="Calibri" pitchFamily="34" charset="-122"/>
                <a:cs typeface="Calibri" pitchFamily="34" charset="-120"/>
              </a:rPr>
              <a:t>Liberation Day Tariffs ruled invalid: IEEPA does not provide the statutory authority. Importers entitled to refunds.</a:t>
            </a:r>
            <a:endParaRPr lang="en-US" sz="1300" dirty="0"/>
          </a:p>
        </p:txBody>
      </p:sp>
      <p:sp>
        <p:nvSpPr>
          <p:cNvPr id="13" name="Shape 11"/>
          <p:cNvSpPr/>
          <p:nvPr/>
        </p:nvSpPr>
        <p:spPr>
          <a:xfrm>
            <a:off x="6080760" y="3611880"/>
            <a:ext cx="5166360" cy="2011680"/>
          </a:xfrm>
          <a:prstGeom prst="roundRect">
            <a:avLst>
              <a:gd name="adj" fmla="val 2727"/>
            </a:avLst>
          </a:prstGeom>
          <a:solidFill>
            <a:srgbClr val="EDF0F0"/>
          </a:solidFill>
          <a:ln/>
        </p:spPr>
        <p:txBody>
          <a:bodyPr/>
          <a:lstStyle/>
          <a:p>
            <a:endParaRPr lang="en-US"/>
          </a:p>
        </p:txBody>
      </p:sp>
      <p:sp>
        <p:nvSpPr>
          <p:cNvPr id="14" name="Shape 12"/>
          <p:cNvSpPr/>
          <p:nvPr/>
        </p:nvSpPr>
        <p:spPr>
          <a:xfrm>
            <a:off x="6446520" y="3931920"/>
            <a:ext cx="640080" cy="0"/>
          </a:xfrm>
          <a:prstGeom prst="line">
            <a:avLst/>
          </a:prstGeom>
          <a:noFill/>
          <a:ln w="38100">
            <a:solidFill>
              <a:srgbClr val="EB811B"/>
            </a:solidFill>
            <a:prstDash val="solid"/>
          </a:ln>
        </p:spPr>
        <p:txBody>
          <a:bodyPr/>
          <a:lstStyle/>
          <a:p>
            <a:endParaRPr lang="en-US"/>
          </a:p>
        </p:txBody>
      </p:sp>
      <p:sp>
        <p:nvSpPr>
          <p:cNvPr id="15" name="Text 13"/>
          <p:cNvSpPr/>
          <p:nvPr/>
        </p:nvSpPr>
        <p:spPr>
          <a:xfrm>
            <a:off x="6446520" y="4114800"/>
            <a:ext cx="4434840" cy="320040"/>
          </a:xfrm>
          <a:prstGeom prst="rect">
            <a:avLst/>
          </a:prstGeom>
          <a:noFill/>
          <a:ln/>
        </p:spPr>
        <p:txBody>
          <a:bodyPr wrap="square" lIns="0" tIns="0" rIns="0" bIns="0" rtlCol="0" anchor="ctr"/>
          <a:lstStyle/>
          <a:p>
            <a:pPr marL="0" indent="0" algn="l">
              <a:buNone/>
            </a:pPr>
            <a:r>
              <a:rPr lang="en-US" sz="1300" b="1" dirty="0">
                <a:solidFill>
                  <a:srgbClr val="23373B"/>
                </a:solidFill>
                <a:latin typeface="Calibri" pitchFamily="34" charset="0"/>
                <a:ea typeface="Calibri" pitchFamily="34" charset="-122"/>
                <a:cs typeface="Calibri" pitchFamily="34" charset="-120"/>
              </a:rPr>
              <a:t>What replaced the LDTs</a:t>
            </a:r>
            <a:endParaRPr lang="en-US" sz="1300" dirty="0"/>
          </a:p>
        </p:txBody>
      </p:sp>
      <p:sp>
        <p:nvSpPr>
          <p:cNvPr id="16" name="Text 14"/>
          <p:cNvSpPr/>
          <p:nvPr/>
        </p:nvSpPr>
        <p:spPr>
          <a:xfrm>
            <a:off x="6446520" y="4480560"/>
            <a:ext cx="4434840" cy="1051560"/>
          </a:xfrm>
          <a:prstGeom prst="rect">
            <a:avLst/>
          </a:prstGeom>
          <a:noFill/>
          <a:ln/>
        </p:spPr>
        <p:txBody>
          <a:bodyPr wrap="square" lIns="0" tIns="0" rIns="0" bIns="0" rtlCol="0" anchor="ctr"/>
          <a:lstStyle/>
          <a:p>
            <a:pPr marL="0" indent="0" algn="l">
              <a:lnSpc>
                <a:spcPct val="120000"/>
              </a:lnSpc>
              <a:buNone/>
            </a:pPr>
            <a:r>
              <a:rPr lang="en-US" sz="1200" dirty="0">
                <a:solidFill>
                  <a:srgbClr val="4E5E61"/>
                </a:solidFill>
                <a:latin typeface="Calibri" pitchFamily="34" charset="0"/>
                <a:ea typeface="Calibri" pitchFamily="34" charset="-122"/>
                <a:cs typeface="Calibri" pitchFamily="34" charset="-120"/>
              </a:rPr>
              <a:t>Section 122 (Trade Act 1974): 10% global baseline tariff for 150 days — Presidential temporary authority for balance-of-payments problems.</a:t>
            </a:r>
            <a:endParaRPr lang="en-US" sz="1200" dirty="0"/>
          </a:p>
          <a:p>
            <a:pPr marL="0" indent="0" algn="l">
              <a:lnSpc>
                <a:spcPct val="120000"/>
              </a:lnSpc>
              <a:buNone/>
            </a:pPr>
            <a:endParaRPr lang="en-US" sz="1200" dirty="0"/>
          </a:p>
          <a:p>
            <a:pPr marL="0" indent="0" algn="l">
              <a:lnSpc>
                <a:spcPct val="120000"/>
              </a:lnSpc>
              <a:buNone/>
            </a:pPr>
            <a:r>
              <a:rPr lang="en-US" sz="1200" dirty="0">
                <a:solidFill>
                  <a:srgbClr val="4E5E61"/>
                </a:solidFill>
                <a:latin typeface="Calibri" pitchFamily="34" charset="0"/>
                <a:ea typeface="Calibri" pitchFamily="34" charset="-122"/>
                <a:cs typeface="Calibri" pitchFamily="34" charset="-120"/>
              </a:rPr>
              <a:t>Section 301: Targeted tariffs on Forced Labour and Overcapacity grounds.</a:t>
            </a:r>
            <a:endParaRPr lang="en-US" sz="120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4E5E61"/>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685800"/>
            <a:ext cx="11094415" cy="1188720"/>
          </a:xfrm>
          <a:prstGeom prst="rect">
            <a:avLst/>
          </a:prstGeom>
          <a:noFill/>
          <a:ln/>
        </p:spPr>
        <p:txBody>
          <a:bodyPr wrap="square" lIns="0" tIns="0" rIns="0" bIns="0" rtlCol="0" anchor="t"/>
          <a:lstStyle/>
          <a:p>
            <a:pPr marL="0" indent="0" algn="l">
              <a:buNone/>
            </a:pPr>
            <a:r>
              <a:rPr lang="en-US" sz="3300" b="1" dirty="0">
                <a:solidFill>
                  <a:srgbClr val="FFFFFF"/>
                </a:solidFill>
                <a:latin typeface="Cambria" pitchFamily="34" charset="0"/>
                <a:ea typeface="Cambria" pitchFamily="34" charset="-122"/>
                <a:cs typeface="Cambria" pitchFamily="34" charset="-120"/>
              </a:rPr>
              <a:t>From Globalisation to Strategic Interdependence.</a:t>
            </a:r>
            <a:endParaRPr lang="en-US" sz="3300" dirty="0"/>
          </a:p>
        </p:txBody>
      </p:sp>
      <p:sp>
        <p:nvSpPr>
          <p:cNvPr id="3" name="Shape 1"/>
          <p:cNvSpPr/>
          <p:nvPr/>
        </p:nvSpPr>
        <p:spPr>
          <a:xfrm>
            <a:off x="548640" y="1828800"/>
            <a:ext cx="1508760" cy="0"/>
          </a:xfrm>
          <a:prstGeom prst="line">
            <a:avLst/>
          </a:prstGeom>
          <a:noFill/>
          <a:ln w="38100">
            <a:solidFill>
              <a:srgbClr val="EB811B"/>
            </a:solidFill>
            <a:prstDash val="solid"/>
          </a:ln>
        </p:spPr>
        <p:txBody>
          <a:bodyPr/>
          <a:lstStyle/>
          <a:p>
            <a:endParaRPr lang="en-US"/>
          </a:p>
        </p:txBody>
      </p:sp>
      <p:sp>
        <p:nvSpPr>
          <p:cNvPr id="4" name="Text 2"/>
          <p:cNvSpPr/>
          <p:nvPr/>
        </p:nvSpPr>
        <p:spPr>
          <a:xfrm>
            <a:off x="548640" y="2103120"/>
            <a:ext cx="11094415" cy="960120"/>
          </a:xfrm>
          <a:prstGeom prst="rect">
            <a:avLst/>
          </a:prstGeom>
          <a:noFill/>
          <a:ln/>
        </p:spPr>
        <p:txBody>
          <a:bodyPr wrap="square" lIns="0" tIns="0" rIns="0" bIns="0" rtlCol="0" anchor="t"/>
          <a:lstStyle/>
          <a:p>
            <a:pPr marL="0" indent="0" algn="l">
              <a:lnSpc>
                <a:spcPct val="125000"/>
              </a:lnSpc>
              <a:buNone/>
            </a:pPr>
            <a:r>
              <a:rPr lang="en-US" sz="1550" b="1" dirty="0">
                <a:solidFill>
                  <a:srgbClr val="EB811B"/>
                </a:solidFill>
                <a:latin typeface="Calibri" pitchFamily="34" charset="0"/>
                <a:ea typeface="Calibri" pitchFamily="34" charset="-122"/>
                <a:cs typeface="Calibri" pitchFamily="34" charset="-120"/>
              </a:rPr>
              <a:t>The consensus:  </a:t>
            </a:r>
            <a:r>
              <a:rPr lang="en-US" sz="1550" dirty="0">
                <a:solidFill>
                  <a:srgbClr val="B9BFC1"/>
                </a:solidFill>
                <a:latin typeface="Calibri" pitchFamily="34" charset="0"/>
                <a:ea typeface="Calibri" pitchFamily="34" charset="-122"/>
                <a:cs typeface="Calibri" pitchFamily="34" charset="-120"/>
              </a:rPr>
              <a:t>Efficiency, comparative advantage, and political convergence built four decades of open globalisation — and a rules-based order.</a:t>
            </a:r>
            <a:endParaRPr lang="en-US" sz="1550" dirty="0"/>
          </a:p>
        </p:txBody>
      </p:sp>
      <p:sp>
        <p:nvSpPr>
          <p:cNvPr id="5" name="Text 3"/>
          <p:cNvSpPr/>
          <p:nvPr/>
        </p:nvSpPr>
        <p:spPr>
          <a:xfrm>
            <a:off x="548640" y="3063240"/>
            <a:ext cx="11094415" cy="960120"/>
          </a:xfrm>
          <a:prstGeom prst="rect">
            <a:avLst/>
          </a:prstGeom>
          <a:noFill/>
          <a:ln/>
        </p:spPr>
        <p:txBody>
          <a:bodyPr wrap="square" lIns="0" tIns="0" rIns="0" bIns="0" rtlCol="0" anchor="t"/>
          <a:lstStyle/>
          <a:p>
            <a:pPr marL="0" indent="0" algn="l">
              <a:lnSpc>
                <a:spcPct val="125000"/>
              </a:lnSpc>
              <a:buNone/>
            </a:pPr>
            <a:r>
              <a:rPr lang="en-US" sz="1550" b="1" dirty="0">
                <a:solidFill>
                  <a:srgbClr val="EB811B"/>
                </a:solidFill>
                <a:latin typeface="Calibri" pitchFamily="34" charset="0"/>
                <a:ea typeface="Calibri" pitchFamily="34" charset="-122"/>
                <a:cs typeface="Calibri" pitchFamily="34" charset="-120"/>
              </a:rPr>
              <a:t>The fracture:  </a:t>
            </a:r>
            <a:r>
              <a:rPr lang="en-US" sz="1550" dirty="0">
                <a:solidFill>
                  <a:srgbClr val="B9BFC1"/>
                </a:solidFill>
                <a:latin typeface="Calibri" pitchFamily="34" charset="0"/>
                <a:ea typeface="Calibri" pitchFamily="34" charset="-122"/>
                <a:cs typeface="Calibri" pitchFamily="34" charset="-120"/>
              </a:rPr>
              <a:t>The China Shock revealed domestic distributional costs. The US Shock revealed that hegemonic benevolence is endogenous — and reversible.</a:t>
            </a:r>
            <a:endParaRPr lang="en-US" sz="1550" dirty="0"/>
          </a:p>
        </p:txBody>
      </p:sp>
      <p:sp>
        <p:nvSpPr>
          <p:cNvPr id="6" name="Text 4"/>
          <p:cNvSpPr/>
          <p:nvPr/>
        </p:nvSpPr>
        <p:spPr>
          <a:xfrm>
            <a:off x="548640" y="4023360"/>
            <a:ext cx="11094415" cy="960120"/>
          </a:xfrm>
          <a:prstGeom prst="rect">
            <a:avLst/>
          </a:prstGeom>
          <a:noFill/>
          <a:ln/>
        </p:spPr>
        <p:txBody>
          <a:bodyPr wrap="square" lIns="0" tIns="0" rIns="0" bIns="0" rtlCol="0" anchor="t"/>
          <a:lstStyle/>
          <a:p>
            <a:pPr marL="0" indent="0" algn="l">
              <a:lnSpc>
                <a:spcPct val="125000"/>
              </a:lnSpc>
              <a:buNone/>
            </a:pPr>
            <a:r>
              <a:rPr lang="en-US" sz="1550" b="1" dirty="0">
                <a:solidFill>
                  <a:srgbClr val="EB811B"/>
                </a:solidFill>
                <a:latin typeface="Calibri" pitchFamily="34" charset="0"/>
                <a:ea typeface="Calibri" pitchFamily="34" charset="-122"/>
                <a:cs typeface="Calibri" pitchFamily="34" charset="-120"/>
              </a:rPr>
              <a:t>The new reality:  </a:t>
            </a:r>
            <a:r>
              <a:rPr lang="en-US" sz="1550" dirty="0">
                <a:solidFill>
                  <a:srgbClr val="B9BFC1"/>
                </a:solidFill>
                <a:latin typeface="Calibri" pitchFamily="34" charset="0"/>
                <a:ea typeface="Calibri" pitchFamily="34" charset="-122"/>
                <a:cs typeface="Calibri" pitchFamily="34" charset="-120"/>
              </a:rPr>
              <a:t>Channels of mutual advantage have become leverage points. Tariffs, export controls, sanctions, and industrial policy are all now economic statecraft.</a:t>
            </a:r>
            <a:endParaRPr lang="en-US" sz="1550" dirty="0"/>
          </a:p>
        </p:txBody>
      </p:sp>
      <p:sp>
        <p:nvSpPr>
          <p:cNvPr id="7" name="Text 5"/>
          <p:cNvSpPr/>
          <p:nvPr/>
        </p:nvSpPr>
        <p:spPr>
          <a:xfrm>
            <a:off x="548640" y="4983480"/>
            <a:ext cx="11094415" cy="960120"/>
          </a:xfrm>
          <a:prstGeom prst="rect">
            <a:avLst/>
          </a:prstGeom>
          <a:noFill/>
          <a:ln/>
        </p:spPr>
        <p:txBody>
          <a:bodyPr wrap="square" lIns="0" tIns="0" rIns="0" bIns="0" rtlCol="0" anchor="t"/>
          <a:lstStyle/>
          <a:p>
            <a:pPr marL="0" indent="0" algn="l">
              <a:lnSpc>
                <a:spcPct val="125000"/>
              </a:lnSpc>
              <a:buNone/>
            </a:pPr>
            <a:r>
              <a:rPr lang="en-US" sz="1550" b="1" dirty="0">
                <a:solidFill>
                  <a:srgbClr val="EB811B"/>
                </a:solidFill>
                <a:latin typeface="Calibri" pitchFamily="34" charset="0"/>
                <a:ea typeface="Calibri" pitchFamily="34" charset="-122"/>
                <a:cs typeface="Calibri" pitchFamily="34" charset="-120"/>
              </a:rPr>
              <a:t>For small states:  </a:t>
            </a:r>
            <a:r>
              <a:rPr lang="en-US" sz="1550" dirty="0">
                <a:solidFill>
                  <a:srgbClr val="B9BFC1"/>
                </a:solidFill>
                <a:latin typeface="Calibri" pitchFamily="34" charset="0"/>
                <a:ea typeface="Calibri" pitchFamily="34" charset="-122"/>
                <a:cs typeface="Calibri" pitchFamily="34" charset="-120"/>
              </a:rPr>
              <a:t>Neither pure alignment nor pure autonomy is viable. The question is how to navigate a world where strategic interdependence has replaced rules-based openness.</a:t>
            </a:r>
            <a:endParaRPr lang="en-US" sz="1550" dirty="0"/>
          </a:p>
        </p:txBody>
      </p:sp>
      <p:sp>
        <p:nvSpPr>
          <p:cNvPr id="25" name="Slide Number Placeholder 0"/>
          <p:cNvSpPr>
            <a:spLocks noGrp="1"/>
          </p:cNvSpPr>
          <p:nvPr>
            <p:ph type="sldNum" sz="quarter" idx="4294967295"/>
          </p:nvPr>
        </p:nvSpPr>
        <p:spPr>
          <a:xfrm>
            <a:off x="11094415" y="6400800"/>
            <a:ext cx="548640" cy="320040"/>
          </a:xfrm>
          <a:prstGeom prst="rect">
            <a:avLst/>
          </a:prstGeom>
          <a:extLst>
            <a:ext uri="{C572A759-6A51-4108-AA02-DFA0A04FC94B}">
              <ma14:wrappingTextBoxFlag xmlns="" xmlns:ma14="http://schemas.microsoft.com/office/mac/drawingml/2011/main" val="0"/>
            </a:ext>
          </a:extLst>
        </p:spPr>
        <p:txBody>
          <a:bodyPr/>
          <a:lstStyle>
            <a:lvl1pPr>
              <a:defRPr sz="1050">
                <a:solidFill>
                  <a:srgbClr val="B9BFC1"/>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TotalTime>
  <Words>2421</Words>
  <Application>Microsoft Macintosh PowerPoint</Application>
  <PresentationFormat>Widescreen</PresentationFormat>
  <Paragraphs>252</Paragraphs>
  <Slides>24</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Danny Quah</cp:lastModifiedBy>
  <cp:revision>10</cp:revision>
  <dcterms:created xsi:type="dcterms:W3CDTF">2026-08-24T03:41:01Z</dcterms:created>
  <dcterms:modified xsi:type="dcterms:W3CDTF">2026-08-25T10:06:27Z</dcterms:modified>
</cp:coreProperties>
</file>