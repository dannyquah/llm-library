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7359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arc: 3As in a G-minus world; Rockefeller survey evidence; then Buzan, Acharya, Snidal, and Trebesch as neighbouring theories.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Intellectual-framework-2026.09.md (current controlling framework).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Intellectual-framework-2026.09.md: G-minus definition and working hypothesis that world order may not require anyone to lead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3As are strategies for states in G-minus. They are not yet a theory of how the international system itself produces order.
[Sources]
- Intellectual-framework-2026.09.md: economic diplomacy and current 3As definitions.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Yuen Foong Khong and Joseph Liow (2025), “Southeast Asia Is Starting to Choose,” Foreign Affairs; data reproduced in 1774858148-Danny.Quah-Economic-Statecraft-Asias-Role-Arithmetic-deck.pdf, slide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Intellectual-framework-2026.09.md: economic diplomacy as Third-Nation counterpart to Great-Power economic statecraft.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Intellectual-framework-2026.09.md: incentive compatibility, inadvertent cooperation, and pragmatic multilateralism.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students to name functions before introducing Rockefeller and the theoretical alternatives.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The Rockefeller Foundation and Focaldata (2026), Seeking Security and Opportunity in a Stormy World: A 34-Country Survey, 16 Sep 2026. https://www.rockefellerfoundation.org/reports/seeking-security-and-opportunity-in-a-stormy-world-a-34-country-survey/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The Rockefeller Foundation and Focaldata (2026), “New Global Poll: Amid Growing Pessimism, Security Tops Priorities for International Cooperation,” 16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interpretation, not something the survey itself establishes causally. Stress that the evidence is consistent with instrumental legitimacy, not proof of incentive-compatible order.
[Sources]
- The Rockefeller Foundation and Focaldata (2026), Seeking Security and Opportunity in a Stormy World; reported effectiveness and aid-motivation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Rockefeller Foundation 2026 survey; transition to theoretical alternatives.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Barry Buzan (2023), “Deep Pluralism as the Emerging Structure of Global Society,” in Pluralism and World Order; catalog reproduced in Intellectual-framework-2026.09.md.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Amitav Acharya (2026), “Thinking beyond a polarized world: why multiplexity matters,” International Affairs 102(2).
- Barry Buzan (2023), “Deep Pluralism as the Emerging Structure of Global Society.”
- Intellectual-framework-2026.09.md: G-minus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as a conceptual ladder, not a claim that the authors themselves form a sequence.
[Sources]
- Fernando Broner, Alberto Martin, Josefin Meyer, and Christoph Trebesch (2025), Hegemonic Globalization.
- Duncan Snidal (1985), “The Limits of Hegemonic Stability Theory,” International Organization 39(4).
- Amitav Acharya (2026), “Thinking beyond a polarized world: why multiplexity matters.”
- Barry Buzan (2023), “Deep Pluralism as the Emerging Structure of Global Society.”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Fernando Broner, Alberto Martin, Josefin Meyer, and Christoph Trebesch (2025), Hegemonic Globalization, BSE Working Paper 1504, revised Sep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table is analytical synthesis: the right-hand questions are the lecture’s G-minus research agenda, not claims made by Trebesch et al.
[Sources]
- Broner, Martin, Meyer, and Trebesch (2025), Hegemonic Globalization.
- Intellectual-framework-2026.09.md: incentive compatibility, modularity, pathfinder, and G-minus working hypotheses.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4-5 minutes. There is no unique classification. Ask what institutional mechanism would justify putting a function in the third column.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Intellectual-framework-2026.09.md: current working hypothesis on G-minus and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23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7F7F5"/>
          </a:solidFill>
          <a:ln w="12700">
            <a:solidFill>
              <a:srgbClr val="F7F7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844284"/>
            <a:ext cx="12191695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6510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PP5182 G-minus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640312" y="6492240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19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338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3090672"/>
            <a:ext cx="1069848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65105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PP5182 G-minus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640312" y="6492240"/>
            <a:ext cx="438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/ 19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15727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F7F7F5"/>
                </a:solidFill>
              </a:rPr>
              <a:t>PP5182: G-minus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68096" y="2414016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DE4E3"/>
                </a:solidFill>
              </a:rPr>
              <a:t>Can world order work when Great Power presence is optional?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68096" y="374904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7F5"/>
                </a:solidFill>
              </a:rPr>
              <a:t>Danny Quah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7F7F5"/>
                </a:solidFill>
              </a:rPr>
              <a:t>28 September 2026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7F7F5"/>
                </a:solidFill>
              </a:rPr>
              <a:t>Lee Kuan Yew School of Public Policy, NUS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old human solution: find a leader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E5A823"/>
                </a:solidFill>
              </a:rPr>
              <a:t>ONE  •  3AS IN A G-MINUS WORLD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F7F7F5"/>
                </a:solidFill>
              </a:rPr>
              <a:t>Humans prize agency, resent domination, and tell stories about freedom.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263640" y="1325880"/>
            <a:ext cx="5166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700" dirty="0">
                <a:solidFill>
                  <a:srgbClr val="F7F7F5"/>
                </a:solidFill>
              </a:rPr>
              <a:t>Yet we repeatedly construct hierarchies, search for leaders, and surrender discretion to them.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669280" y="1828800"/>
            <a:ext cx="45720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0120" y="3154680"/>
            <a:ext cx="2971800" cy="1417320"/>
          </a:xfrm>
          <a:prstGeom prst="roundRect">
            <a:avLst>
              <a:gd name="adj" fmla="val 3871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78408" y="3172968"/>
            <a:ext cx="64008" cy="1380744"/>
          </a:xfrm>
          <a:prstGeom prst="rect">
            <a:avLst/>
          </a:prstGeom>
          <a:solidFill>
            <a:srgbClr val="E5A823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61288" y="3337560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Coordination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61288" y="3794760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One focal choice can make collective action possible.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617720" y="3154680"/>
            <a:ext cx="2971800" cy="1417320"/>
          </a:xfrm>
          <a:prstGeom prst="roundRect">
            <a:avLst>
              <a:gd name="adj" fmla="val 3871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36008" y="3172968"/>
            <a:ext cx="64008" cy="1380744"/>
          </a:xfrm>
          <a:prstGeom prst="rect">
            <a:avLst/>
          </a:prstGeom>
          <a:solidFill>
            <a:srgbClr val="E5A823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18888" y="3337560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Uncertainty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818888" y="3794760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Leadership supplies a focal interpretation when action cannot wait.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275320" y="3154680"/>
            <a:ext cx="2971800" cy="1417320"/>
          </a:xfrm>
          <a:prstGeom prst="roundRect">
            <a:avLst>
              <a:gd name="adj" fmla="val 3871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293608" y="3172968"/>
            <a:ext cx="64008" cy="1380744"/>
          </a:xfrm>
          <a:prstGeom prst="rect">
            <a:avLst/>
          </a:prstGeom>
          <a:solidFill>
            <a:srgbClr val="E5A823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76488" y="3337560"/>
            <a:ext cx="2587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Agency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476488" y="3794760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We may trade procedural freedom for effective collective capacity.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2011680" y="51389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E5A823"/>
                </a:solidFill>
              </a:rPr>
              <a:t>The same puzzle reappears among sovereign states.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Do not just change the identity of the leader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828800"/>
            <a:ext cx="2240280" cy="14173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7F5"/>
                </a:solidFill>
              </a:rPr>
              <a:t>G1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95528" y="260604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One hegemon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53512" y="2542032"/>
            <a:ext cx="310896" cy="0"/>
          </a:xfrm>
          <a:prstGeom prst="line">
            <a:avLst/>
          </a:prstGeom>
          <a:noFill/>
          <a:ln w="12700">
            <a:solidFill>
              <a:srgbClr val="BFC9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337560" y="1828800"/>
            <a:ext cx="2240280" cy="14173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37560" y="20574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7F5"/>
                </a:solidFill>
              </a:rPr>
              <a:t>Gk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447288" y="260604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Several leaders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05272" y="2542032"/>
            <a:ext cx="310896" cy="0"/>
          </a:xfrm>
          <a:prstGeom prst="line">
            <a:avLst/>
          </a:prstGeom>
          <a:noFill/>
          <a:ln w="12700">
            <a:solidFill>
              <a:srgbClr val="BFC9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989320" y="1828800"/>
            <a:ext cx="2240280" cy="14173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89320" y="20574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7F5"/>
                </a:solidFill>
              </a:rPr>
              <a:t>Multiplex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6099048" y="260604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Many producers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57032" y="2542032"/>
            <a:ext cx="310896" cy="0"/>
          </a:xfrm>
          <a:prstGeom prst="line">
            <a:avLst/>
          </a:prstGeom>
          <a:noFill/>
          <a:ln w="12700">
            <a:solidFill>
              <a:srgbClr val="BFC9C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641080" y="1828800"/>
            <a:ext cx="2240280" cy="1417320"/>
          </a:xfrm>
          <a:prstGeom prst="roundRect">
            <a:avLst/>
          </a:prstGeom>
          <a:solidFill>
            <a:srgbClr val="3B5B60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41080" y="20574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E5A823"/>
                </a:solidFill>
              </a:rPr>
              <a:t>G-minus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750808" y="260604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Leadership optional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" y="3977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7F7F5"/>
                </a:solidFill>
              </a:rPr>
              <a:t>Hegemonic order asks: who will lead?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806440" y="397764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5A823"/>
                </a:solidFill>
              </a:rPr>
              <a:t>G-minus asks: which functions of order need leadership at all?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5074920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DDE4E3"/>
                </a:solidFill>
              </a:rPr>
              <a:t>G-minus: institutions remain functional when Great Powers may join, but their companionship, permission, and underwriting are not constitutive requirements.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Economic diplomacy: the 3As are strategies for living in G-minus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3337560" cy="2286000"/>
          </a:xfrm>
          <a:prstGeom prst="roundRect">
            <a:avLst>
              <a:gd name="adj" fmla="val 2400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04088" y="1435608"/>
            <a:ext cx="64008" cy="2249424"/>
          </a:xfrm>
          <a:prstGeom prst="rect">
            <a:avLst/>
          </a:prstGeom>
          <a:solidFill>
            <a:srgbClr val="E5A823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1600200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Acquiescence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057400"/>
            <a:ext cx="29535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Symbolic yielding on the axis of contention, while quietly building institutions elsewhere.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337560" cy="2286000"/>
          </a:xfrm>
          <a:prstGeom prst="roundRect">
            <a:avLst>
              <a:gd name="adj" fmla="val 2400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453128" y="1435608"/>
            <a:ext cx="64008" cy="2249424"/>
          </a:xfrm>
          <a:prstGeom prst="rect">
            <a:avLst/>
          </a:prstGeom>
          <a:solidFill>
            <a:srgbClr val="597A8B"/>
          </a:solidFill>
          <a:ln w="12700">
            <a:solidFill>
              <a:srgbClr val="597A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36008" y="1600200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Adaptation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36008" y="2057400"/>
            <a:ext cx="29535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Domestic restructuring that increases resilience and preserves policy space.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183880" y="1417320"/>
            <a:ext cx="3337560" cy="2286000"/>
          </a:xfrm>
          <a:prstGeom prst="roundRect">
            <a:avLst>
              <a:gd name="adj" fmla="val 2400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02168" y="1435608"/>
            <a:ext cx="64008" cy="2249424"/>
          </a:xfrm>
          <a:prstGeom prst="rect">
            <a:avLst/>
          </a:prstGeom>
          <a:solidFill>
            <a:srgbClr val="5C806F"/>
          </a:solidFill>
          <a:ln w="12700">
            <a:solidFill>
              <a:srgbClr val="5C80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85048" y="1600200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Aggregation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385048" y="2057400"/>
            <a:ext cx="29535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Outward coalition-building when Great Powers are inward-looking, unreliable, or unwilling to lead.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94760" y="4251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5A823"/>
                </a:solidFill>
              </a:rPr>
              <a:t>A portfolio, not a menu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08760" y="484632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7F7F5"/>
                </a:solidFill>
              </a:rPr>
              <a:t>A state normally combines all three, with weights that vary by issue, counterparty, and time horizon.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Alignment? Southeast Asia has mostly drifted away from the US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105156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5A823"/>
                </a:solidFill>
              </a:rPr>
              <a:t>Anatomy of Choice Alignment Index  •  CN 0, US 100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81328"/>
          <a:ext cx="5212080" cy="3822192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1995-2009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2010-2024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Δ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BN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50.3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45.1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-5.2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KH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43.1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33.2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-9.9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ID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56.1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43.7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-12.4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LA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33.3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24.9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-8.4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MY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52.1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47.3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-4.8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MM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26.4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23.6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-2.9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PH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64.1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60.4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-3.7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SG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53.6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48.1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-5.5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TH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50.6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43.7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-6.9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VN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41.1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45.2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+4.2</a:t>
                      </a:r>
                      <a:endParaRPr lang="en-US" sz="14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64008" marR="64008" marT="64008" marB="64008">
                    <a:lnL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C7D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92240" y="126187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7F5"/>
                </a:solidFill>
              </a:rPr>
              <a:t>Pre-Trump 2.0</a:t>
            </a:r>
            <a:endParaRPr lang="en-US" sz="2200" dirty="0"/>
          </a:p>
        </p:txBody>
      </p:sp>
      <p:sp>
        <p:nvSpPr>
          <p:cNvPr id="4" name="Text 3"/>
          <p:cNvSpPr/>
          <p:nvPr/>
        </p:nvSpPr>
        <p:spPr>
          <a:xfrm>
            <a:off x="6492240" y="1828800"/>
            <a:ext cx="4800600" cy="3383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China drift under Δ: all except Vietnam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Crossing from above to below 50: Brunei, Indonesia, Malaysia, Singapore, Thailand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Philippines remains US-aligned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Alignment is one response - but only if the game is sufficiently zero-sum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577900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C9C9"/>
                </a:solidFill>
              </a:rPr>
              <a:t>Khong-Liow (2025), Table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3As and classical IR ask different questions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234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7F5"/>
                </a:solidFill>
              </a:rPr>
              <a:t>Classical IR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0" y="12344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7F5"/>
                </a:solidFill>
              </a:rPr>
              <a:t>Economic diplomacy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95528" y="1892808"/>
            <a:ext cx="64008" cy="923544"/>
          </a:xfrm>
          <a:prstGeom prst="rect">
            <a:avLst/>
          </a:prstGeom>
          <a:solidFill>
            <a:srgbClr val="BFC9C9"/>
          </a:solidFill>
          <a:ln w="12700">
            <a:solidFill>
              <a:srgbClr val="BFC9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78408" y="205740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Balancing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78408" y="251460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Counter concentrated power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77240" y="310896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95528" y="3127248"/>
            <a:ext cx="64008" cy="923544"/>
          </a:xfrm>
          <a:prstGeom prst="rect">
            <a:avLst/>
          </a:prstGeom>
          <a:solidFill>
            <a:srgbClr val="BFC9C9"/>
          </a:solidFill>
          <a:ln w="12700">
            <a:solidFill>
              <a:srgbClr val="BFC9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78408" y="329184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Bandwagoning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78408" y="374904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Join the stronger side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77240" y="434340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5528" y="4361688"/>
            <a:ext cx="64008" cy="923544"/>
          </a:xfrm>
          <a:prstGeom prst="rect">
            <a:avLst/>
          </a:prstGeom>
          <a:solidFill>
            <a:srgbClr val="BFC9C9"/>
          </a:solidFill>
          <a:ln w="12700">
            <a:solidFill>
              <a:srgbClr val="BFC9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78408" y="452628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Hedging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978408" y="498348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Avoid an exclusive choice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46520" y="187452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464808" y="1892808"/>
            <a:ext cx="64008" cy="923544"/>
          </a:xfrm>
          <a:prstGeom prst="rect">
            <a:avLst/>
          </a:prstGeom>
          <a:solidFill>
            <a:srgbClr val="E5A823"/>
          </a:solidFill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647688" y="205740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Acquiesce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647688" y="251460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Yield symbolically where necessary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446520" y="310896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464808" y="3127248"/>
            <a:ext cx="64008" cy="923544"/>
          </a:xfrm>
          <a:prstGeom prst="rect">
            <a:avLst/>
          </a:prstGeom>
          <a:solidFill>
            <a:srgbClr val="597A8B"/>
          </a:solidFill>
          <a:ln w="12700">
            <a:solidFill>
              <a:srgbClr val="597A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47688" y="329184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Adapt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647688" y="374904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Restructure domestically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446520" y="4343400"/>
            <a:ext cx="4251960" cy="960120"/>
          </a:xfrm>
          <a:prstGeom prst="roundRect">
            <a:avLst>
              <a:gd name="adj" fmla="val 5714"/>
            </a:avLst>
          </a:prstGeom>
          <a:solidFill>
            <a:srgbClr val="2D454A"/>
          </a:solidFill>
          <a:ln w="12700">
            <a:solidFill>
              <a:srgbClr val="49606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464808" y="4361688"/>
            <a:ext cx="64008" cy="923544"/>
          </a:xfrm>
          <a:prstGeom prst="rect">
            <a:avLst/>
          </a:prstGeom>
          <a:solidFill>
            <a:srgbClr val="5C806F"/>
          </a:solidFill>
          <a:ln w="12700">
            <a:solidFill>
              <a:srgbClr val="5C80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647688" y="4526280"/>
            <a:ext cx="3867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Aggregate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647688" y="4983480"/>
            <a:ext cx="386791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DDE4E3"/>
                </a:solidFill>
              </a:rPr>
              <a:t>Build coalitions with optional Great Powers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257800" y="3611880"/>
            <a:ext cx="91440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011680" y="56692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E5A823"/>
                </a:solidFill>
              </a:rPr>
              <a:t>From positioning relative to power → preserving agency under strategic interdependence</a:t>
            </a:r>
            <a:endParaRPr lang="en-US" sz="17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strategy for states is not yet a theory of order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772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5A823"/>
                </a:solidFill>
              </a:rPr>
              <a:t>STATE LEVEL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64208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7F7F5"/>
                </a:solidFill>
              </a:rPr>
              <a:t>Acquiesce  •  Adapt  •  Aggregate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DE4E3"/>
                </a:solidFill>
              </a:rPr>
              <a:t>Individually sensible responses can preserve policy space and resilience.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715000" y="2514600"/>
            <a:ext cx="73152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20840" y="1234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E5A823"/>
                </a:solidFill>
              </a:rPr>
              <a:t>SYSTEM LEVEL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20840" y="16642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F7F7F5"/>
                </a:solidFill>
              </a:rPr>
              <a:t>Do these strategies aggregate into order?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720840" y="242316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DE4E3"/>
                </a:solidFill>
              </a:rPr>
              <a:t>The fallacy of composition remains: local rationality can still create fragmentation, rival standards, and weaker general rules.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206240"/>
            <a:ext cx="1024128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22960" y="4572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A823"/>
                </a:solidFill>
              </a:rPr>
              <a:t>The G-minus research question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49040" y="4462272"/>
            <a:ext cx="7178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F7F7F5"/>
                </a:solidFill>
              </a:rPr>
              <a:t>Can institutions make ordinary self-interest inadvertently reproduce enough international order?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Discussion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23444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F7F7F5"/>
                </a:solidFill>
              </a:rPr>
              <a:t>If leadership disappears, what must still be supplied?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2880360" y="2514600"/>
            <a:ext cx="640080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80160" y="2907792"/>
            <a:ext cx="960120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DDE4E3"/>
                </a:solidFill>
              </a:rPr>
              <a:t>Think in functions, not personalities: coordination • rule formation • public goods • crisis insurance • enforcement • system coherence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343400" y="49834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30" dirty="0">
                <a:solidFill>
                  <a:srgbClr val="E5A823"/>
                </a:solidFill>
              </a:rPr>
              <a:t>PAUSE  •  4 minutes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Rockefeller 2026: pessimism without retreat from cooperation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E5A823"/>
                </a:solidFill>
              </a:rPr>
              <a:t>TWO  •  EMPIRICAL EVIDENCE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A823"/>
                </a:solidFill>
              </a:rPr>
              <a:t>35,399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adults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20440" y="1600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A823"/>
                </a:solidFill>
              </a:rPr>
              <a:t>34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3520440" y="23317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countries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55080" y="1600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7F7F5"/>
                </a:solidFill>
              </a:rPr>
              <a:t>69%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355080" y="23317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say the world got worse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89720" y="1600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7F7F5"/>
                </a:solidFill>
              </a:rPr>
              <a:t>57%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89720" y="23317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4E3"/>
                </a:solidFill>
              </a:rPr>
              <a:t>still support cooperation even with some national compromise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68680" y="3429000"/>
            <a:ext cx="1042416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82219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5A823"/>
                </a:solidFill>
              </a:rPr>
              <a:t>The empirical puzzle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11880" y="3675888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F7F7F5"/>
                </a:solidFill>
              </a:rPr>
              <a:t>Views of global leadership are fragmented. Demand for countries to work together is not.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25880" y="5074920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C9C9"/>
                </a:solidFill>
              </a:rPr>
              <a:t>Survey fielded 21 July-5 August 2026; nationally representative samples, typically ±3 pp per country.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public separates cooperation from hegemony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7F5"/>
                </a:solidFill>
              </a:rPr>
              <a:t>Comfort with a leading global role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" y="18288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4E3"/>
                </a:solidFill>
              </a:rPr>
              <a:t>United States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77440" y="1783080"/>
            <a:ext cx="1783080" cy="384048"/>
          </a:xfrm>
          <a:prstGeom prst="rect">
            <a:avLst/>
          </a:prstGeom>
          <a:solidFill>
            <a:srgbClr val="597A8B"/>
          </a:solidFill>
          <a:ln w="12700">
            <a:solidFill>
              <a:srgbClr val="597A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251960" y="1764792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7F5"/>
                </a:solidFill>
              </a:rPr>
              <a:t>39%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4E3"/>
                </a:solidFill>
              </a:rPr>
              <a:t>China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77440" y="2697480"/>
            <a:ext cx="1691640" cy="384048"/>
          </a:xfrm>
          <a:prstGeom prst="rect">
            <a:avLst/>
          </a:prstGeom>
          <a:solidFill>
            <a:srgbClr val="A34B4B"/>
          </a:solidFill>
          <a:ln w="12700">
            <a:solidFill>
              <a:srgbClr val="A34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60520" y="2679192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F7F5"/>
                </a:solidFill>
              </a:rPr>
              <a:t>37%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89320" y="1234440"/>
            <a:ext cx="0" cy="429768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12344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7F7F5"/>
                </a:solidFill>
              </a:rPr>
              <a:t>Support a group of countries tackling global problems even if neither the US nor China participates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92240" y="25146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5A823"/>
                </a:solidFill>
              </a:rPr>
              <a:t>61%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8732520" y="2788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7F7F5"/>
                </a:solidFill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947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BFC9C9"/>
                </a:solidFill>
              </a:rPr>
              <a:t>12%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229600" y="39319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DE4E3"/>
                </a:solidFill>
              </a:rPr>
              <a:t>oppose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0" y="47091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DE4E3"/>
                </a:solidFill>
              </a:rPr>
              <a:t>Support is at least 49% in every one of the 32 countries asked.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562356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5A823"/>
                </a:solidFill>
              </a:rPr>
              <a:t>G-minus empirical space: rejecting G1 does not imply preferring G0.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Performance may matter more than benevolence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5A823"/>
                </a:solidFill>
              </a:rPr>
              <a:t>81%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520440" y="125272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7F7F5"/>
                </a:solidFill>
              </a:rPr>
              <a:t>more support if cooperation solves global problems effectively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E5A823"/>
                </a:solidFill>
              </a:rPr>
              <a:t>80%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520440" y="267004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7F7F5"/>
                </a:solidFill>
              </a:rPr>
              <a:t>more support if it solves problems in their own country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7F7F5"/>
                </a:solidFill>
              </a:rPr>
              <a:t>37% vs 26%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520440" y="408736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7F7F5"/>
                </a:solidFill>
              </a:rPr>
              <a:t>donor-country respondents: long-term national interest vs moral responsibility as reason for aid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05840" y="5440680"/>
            <a:ext cx="1005840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56509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A823"/>
                </a:solidFill>
              </a:rPr>
              <a:t>A G-minus reading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63240" y="5532120"/>
            <a:ext cx="7132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7F5"/>
                </a:solidFill>
              </a:rPr>
              <a:t>Cooperate because cooperation works for you.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hinge: demand may be ahead of institutional supply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4173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dirty="0">
                <a:solidFill>
                  <a:srgbClr val="F7F7F5"/>
                </a:solidFill>
              </a:rPr>
              <a:t>Publics appear ready for cooperation without a hegemon.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080760" y="2423160"/>
            <a:ext cx="0" cy="73152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34290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E5A823"/>
                </a:solidFill>
              </a:rPr>
              <a:t>Are our institutions capable of supplying it?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508760" y="46177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DDE4E3"/>
                </a:solidFill>
              </a:rPr>
              <a:t>That is where the neighbouring theories disagree: over who produces order, how much commonality it requires, and whether leadership is necessary.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family of post-hegemonic worlds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E5A823"/>
                </a:solidFill>
              </a:rPr>
              <a:t>THREE  •  ALTERNATIVE CONCEPTUALISATIONS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56362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plurilateralism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89280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Cerny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80560" y="141732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617720" y="156362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postmodern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189280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Buzan &amp; Little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75320" y="141732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0" y="156362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heteropolarity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189280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Der Derian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265176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2960" y="279806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no one's world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31272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Kupchan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265176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17720" y="279806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multinodal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617720" y="31272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Womack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75320" y="265176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0" y="279806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multiplex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12480" y="31272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Acharya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5800" y="388620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2960" y="40325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decentred globalism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3616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Buzan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80560" y="388620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17720" y="40325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polymorphic globalism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17720" y="43616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Katzenstein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75320" y="3886200"/>
            <a:ext cx="3246120" cy="86868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368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412480" y="40325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7F5"/>
                </a:solidFill>
              </a:rPr>
              <a:t>multi-order world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412480" y="43616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FC9C9"/>
                </a:solidFill>
              </a:rPr>
              <a:t>Flockhart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" y="534924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E5A823"/>
                </a:solidFill>
              </a:rPr>
              <a:t>Common diagnosis: concentrated authority is diffusing.  Different answers: what replaces it?</a:t>
            </a:r>
            <a:endParaRPr lang="en-US" sz="20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Deep pluralism, multiplexity, G-minus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155680" cy="429768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0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Central problem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Source of post-hegemonic order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Acharya / multiplexity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How does order look once a Western-centred system gives way to multiple actors and ideas?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Multiple, overlapping agents and institutions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Buzan / deep pluralism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How can international society persist amid deep political, cultural, and economic difference?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 pluralist framework for coexistence across difference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34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G-minus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Who performs the functions of leadership when nobody is - or needs to be - the leader?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Decentralised coordination, rules, reciprocity, and interaction</a:t>
                      </a:r>
                      <a:endParaRPr lang="en-US" sz="15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05840" y="580644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5A823"/>
                </a:solidFill>
              </a:rPr>
              <a:t>Contact points: multiple producers  •  diversity without convergence  •  horizontal coordination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 ladder away from hegemony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FC9C9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234440" y="1280160"/>
            <a:ext cx="91440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331720" y="1024128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Trebesch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886200" y="996696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DDE4E3"/>
                </a:solidFill>
              </a:rPr>
              <a:t>Hegemony performs valuable alignment functions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85800" y="2066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FC9C9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34440" y="2267712"/>
            <a:ext cx="91440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31720" y="201168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Snidal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886200" y="1984248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DDE4E3"/>
                </a:solidFill>
              </a:rPr>
              <a:t>One hegemon is not necessary; collective provision can work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800" y="3054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FC9C9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4440" y="3255264"/>
            <a:ext cx="91440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2999232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Acharya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886200" y="2971800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DDE4E3"/>
                </a:solidFill>
              </a:rPr>
              <a:t>Order has many consequential producers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85800" y="4041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FC9C9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234440" y="4242816"/>
            <a:ext cx="91440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331720" y="3986784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7F5"/>
                </a:solidFill>
              </a:rPr>
              <a:t>Buzan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886200" y="3959352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DDE4E3"/>
                </a:solidFill>
              </a:rPr>
              <a:t>Those producers need not converge politically or culturally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8580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5A823"/>
                </a:solidFill>
              </a:rPr>
              <a:t>5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34440" y="5230368"/>
            <a:ext cx="914400" cy="0"/>
          </a:xfrm>
          <a:prstGeom prst="line">
            <a:avLst/>
          </a:prstGeom>
          <a:noFill/>
          <a:ln w="12700">
            <a:solidFill>
              <a:srgbClr val="E5A8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31720" y="4974336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5A823"/>
                </a:solidFill>
              </a:rPr>
              <a:t>G-minus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3886200" y="494690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50" dirty="0">
                <a:solidFill>
                  <a:srgbClr val="DDE4E3"/>
                </a:solidFill>
              </a:rPr>
              <a:t>Can some ordering functions arise without anyone taking responsibility for “leading”?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Trebesch is the benchmark: hegemony does real work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7F7F5"/>
                </a:solidFill>
              </a:rPr>
              <a:t>Hegemonic Globalization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A823"/>
                </a:solidFill>
              </a:rPr>
              <a:t>Two premises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2148840"/>
            <a:ext cx="4572000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Countries have heterogeneous policy preferences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F7F7F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Trade expands with policy alignment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A823"/>
                </a:solidFill>
              </a:rPr>
              <a:t>Mechanism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41605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7F7F5"/>
                </a:solidFill>
              </a:rPr>
              <a:t>Hegemons foster alignment → globalization; multipolarity risks fragmentation.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669280" y="1143000"/>
            <a:ext cx="0" cy="429768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7220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5A823"/>
                </a:solidFill>
              </a:rPr>
              <a:t>Evidence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72200" y="16916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7F7F5"/>
                </a:solidFill>
              </a:rPr>
              <a:t>77,000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641080" y="18745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E4E3"/>
                </a:solidFill>
              </a:rPr>
              <a:t>international agreements, 1800-2020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7220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7F7F5"/>
                </a:solidFill>
              </a:rPr>
              <a:t>Hegemons spur treaty-making.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172200" y="37490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7F7F5"/>
                </a:solidFill>
              </a:rPr>
              <a:t>Treaties are a leading indicator of bilateral trade.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5596128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5A823"/>
                </a:solidFill>
              </a:rPr>
              <a:t>G-minus cannot simply assume leadership away. It owes an alternative mechanism.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Can incentives reproduce the functions bundled by hegemony?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78992"/>
          <a:ext cx="11384280" cy="5074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b="1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Function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b="1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Trebesch-type mechanism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b="1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G-minus question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Policy coordination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Hegemon induces alignment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interoperability substitute for alignment?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Treaty formation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Hegemon overcomes coordination obstacles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repeated gains make rules self-enforcing?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Public-good provision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Large power bears disproportionate costs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clubs, pricing, or reciprocal access make provision privately worthwhile?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Crisis insurance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Dominant institutions provide liquidity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overlapping providers create resilient insurance without one backstop?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Rule enforcement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Power disciplines defection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exclusion, reputation, and reciprocity make compliance incentive-compatible?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System coherence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Hegemon ties domains together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20" dirty="0">
                          <a:solidFill>
                            <a:srgbClr val="F7F7F5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Can modular institutions remain interoperable without an apex?</a:t>
                      </a:r>
                      <a:endParaRPr lang="en-US" sz="132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82296" marR="82296" marT="82296" marB="82296">
                    <a:lnL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985" cap="flat" cmpd="sng" algn="ctr">
                      <a:solidFill>
                        <a:srgbClr val="6073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Discussion: classify the functions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3474720" cy="23317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A34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34B4B"/>
                </a:solidFill>
              </a:rPr>
              <a:t>LEADERSHIP REQUIRED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21488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7E9093"/>
                </a:solidFill>
              </a:rPr>
              <a:t>?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4389120" y="1234440"/>
            <a:ext cx="3474720" cy="23317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97A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26280" y="14813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97A8B"/>
                </a:solidFill>
              </a:rPr>
              <a:t>PLURAL PROVISION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15000" y="21488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7E9093"/>
                </a:solidFill>
              </a:rPr>
              <a:t>?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8275320" y="1234440"/>
            <a:ext cx="3474720" cy="2331720"/>
          </a:xfrm>
          <a:prstGeom prst="roundRect">
            <a:avLst/>
          </a:prstGeom>
          <a:solidFill>
            <a:srgbClr val="2D454A"/>
          </a:solidFill>
          <a:ln w="12700">
            <a:solidFill>
              <a:srgbClr val="5C806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412480" y="14813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C806F"/>
                </a:solidFill>
              </a:rPr>
              <a:t>INCENTIVE-GENERATED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0" y="21488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7E9093"/>
                </a:solidFill>
              </a:rPr>
              <a:t>?</a:t>
            </a:r>
            <a:endParaRPr lang="en-US" sz="3800" dirty="0"/>
          </a:p>
        </p:txBody>
      </p:sp>
      <p:sp>
        <p:nvSpPr>
          <p:cNvPr id="12" name="Shape 10"/>
          <p:cNvSpPr/>
          <p:nvPr/>
        </p:nvSpPr>
        <p:spPr>
          <a:xfrm>
            <a:off x="685800" y="39776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0690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Policy coordination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80560" y="39776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Treaty formation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75320" y="39776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40690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Public-good provision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6634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47548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Crisis insurance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480560" y="46634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0" y="47548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Rule enforcement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4663440"/>
            <a:ext cx="3246120" cy="475488"/>
          </a:xfrm>
          <a:prstGeom prst="roundRect">
            <a:avLst/>
          </a:prstGeom>
          <a:solidFill>
            <a:srgbClr val="344D52"/>
          </a:solidFill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66760" y="475488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7F7F5"/>
                </a:solidFill>
              </a:rPr>
              <a:t>System coherence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965960" y="5532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5A823"/>
                </a:solidFill>
              </a:rPr>
              <a:t>Classify each function. Defend the mechanism, not the label.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7472" y="9144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4383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G-minus: the harder proposition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E5A823"/>
                </a:solidFill>
              </a:rPr>
              <a:t>1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737360" y="1161288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7F7F5"/>
                </a:solidFill>
              </a:rPr>
              <a:t>Do not confuse declining hegemony with declining demand for cooperation.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" y="2441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E5A823"/>
                </a:solidFill>
              </a:rPr>
              <a:t>2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1737360" y="2459736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7F7F5"/>
                </a:solidFill>
              </a:rPr>
              <a:t>Do not confuse plural leadership with leaderless order.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3739896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E5A823"/>
                </a:solidFill>
              </a:rPr>
              <a:t>3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737360" y="3758184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dirty="0">
                <a:solidFill>
                  <a:srgbClr val="F7F7F5"/>
                </a:solidFill>
              </a:rPr>
              <a:t>Do not assume leaderless order works: specify the incentives that reproduce each necessary function.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60120" y="5166360"/>
            <a:ext cx="10149840" cy="0"/>
          </a:xfrm>
          <a:prstGeom prst="line">
            <a:avLst/>
          </a:prstGeom>
          <a:noFill/>
          <a:ln w="12700">
            <a:solidFill>
              <a:srgbClr val="6073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546811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DE4E3"/>
                </a:solidFill>
              </a:rPr>
              <a:t>The central question is not who will lead the world.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5925312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5A823"/>
                </a:solidFill>
              </a:rPr>
              <a:t>It is whether world order requires anyone to lead it at all.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93424" y="6492240"/>
            <a:ext cx="25603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F7F7F5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1979</Words>
  <Application>Microsoft Macintosh PowerPoint</Application>
  <PresentationFormat>Widescreen</PresentationFormat>
  <Paragraphs>321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Noto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Lee Kuan Yew School of Public Policy,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PP5182: G-minus</dc:title>
  <dc:subject>PP5182 Economic Diplomacy</dc:subject>
  <dc:creator>Danny Quah</dc:creator>
  <cp:lastModifiedBy>Danny Quah</cp:lastModifiedBy>
  <cp:revision>2</cp:revision>
  <dcterms:created xsi:type="dcterms:W3CDTF">2026-09-28T05:07:18Z</dcterms:created>
  <dcterms:modified xsi:type="dcterms:W3CDTF">2026-10-05T09:44:52Z</dcterms:modified>
</cp:coreProperties>
</file>