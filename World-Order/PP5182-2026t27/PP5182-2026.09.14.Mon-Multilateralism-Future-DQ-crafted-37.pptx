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2–3 minutes. Collect criteria before revealing the three substantive principles.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Fairness and correction of historical inequities matter, but keep the lecture’s operational definition on these three properties.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Bhagwati’s critique of departures from MFN. Stress that the target is preferentialism, not trade opening per 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the fallacy-of-composition intuition. Avoid implying that every FTA necessarily causes diversion.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excerpt even while condensing Brown. It also provides the transition from Brown’s concern to middle-power agency.
[Sources]
Gordon Brown, “A New Multilateralism,” Foreign Policy, Fall 2023. User-supplied excerpt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dramatic centre of section THREE. Pause briefly on the reversal.
[Sources]
Mark Carney and Alexander Stubb, The Economist, 11 July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 geometry: purpose-built coalitions around shared interests, including with states that disagree on other issues.
[Sources]
Carney and Stubb, The Economist, 11 July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Russell supplies the sceptical side; do not prejudge it as a fallacy.
[Sources]
Alec Russell, Financial Times, 23 Dec.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Herz–Ho explicitly as an attempted solution to the Carney–Stubb risk.
[Sources]
Monica Herz and Selina Ho, “How Multilateralism Can Survive,” Foreign Affairs, 2 Jan.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3–4 minutes. Ask students for counterexamples before showing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Herz and Ho themselves acknowledge serious internal divisions in several regional organisations.
[Sources]
Herz and Ho, Foreign Affairs, 2 Jan.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Herz–Ho’s theory of convergence—and the point at which Bhagwati’s warning returns.
[Sources]
Herz and Ho, Foreign Affairs, 2 Jan.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IMF figure as a visual claim about diffusion of global economic shares, not a complete measure of geopolitical power.
[Sources]
IMF, “A More Multi-polar World,” 2018; user-supplied IMF graphic.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Foreground this as the lecture’s significant intellectual move, not a decorative closing quotation. The question shifts from benevolent leadership to incentive-compatible order.
[Sources]
Adam Smith, The Wealth of Nations, Book I, Ch. 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Return explicitly to the opening three principles. The final test is behavioural: what arrangements make those principles robust to ordinary self-interest?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58952"/>
          </a:xfrm>
          <a:prstGeom prst="rect">
            <a:avLst/>
          </a:prstGeom>
          <a:solidFill>
            <a:srgbClr val="F3F0E8"/>
          </a:solidFill>
          <a:ln w="12700">
            <a:solidFill>
              <a:srgbClr val="F3F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58952"/>
            <a:ext cx="12191695" cy="0"/>
          </a:xfrm>
          <a:prstGeom prst="line">
            <a:avLst/>
          </a:prstGeom>
          <a:noFill/>
          <a:ln w="15240">
            <a:solidFill>
              <a:srgbClr val="2438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65196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PP5182 Multilateralism Future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1585448" y="651967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 / 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6437376"/>
            <a:ext cx="1554480" cy="0"/>
          </a:xfrm>
          <a:prstGeom prst="line">
            <a:avLst/>
          </a:prstGeom>
          <a:noFill/>
          <a:ln w="38100">
            <a:solidFill>
              <a:srgbClr val="D8942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651967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PP5182 Multilateralism Future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585448" y="651967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 / 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6437376"/>
            <a:ext cx="1554480" cy="0"/>
          </a:xfrm>
          <a:prstGeom prst="line">
            <a:avLst/>
          </a:prstGeom>
          <a:noFill/>
          <a:ln w="38100">
            <a:solidFill>
              <a:srgbClr val="D8942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04672"/>
            <a:ext cx="12191695" cy="6053328"/>
          </a:xfrm>
          <a:prstGeom prst="rect">
            <a:avLst/>
          </a:prstGeom>
          <a:solidFill>
            <a:srgbClr val="18363A"/>
          </a:solidFill>
          <a:ln w="12700">
            <a:solidFill>
              <a:srgbClr val="183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PP5182 Multilateralism Future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8368" y="1417320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 pragmatic cooperation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rebuild international order?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76656" y="288036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old rules are weakening. The alternatives may solve today’s problems—or deepen tomorrow’s fragmentation.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76656" y="50474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Danny Quah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76656" y="54315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Lee Kuan Yew School of Public Policy, NUS  •  14 September 2026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More cooperation can mean less multilateralism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Opening puzzle  •  discuss before revealing the distinction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MULTILATERAL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48840" y="1298448"/>
            <a:ext cx="8869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finance  •  aid  •  debt relief  •  military exercises  •  sanctions  •  diplomacy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trade negotiations  •  security alliances  •  peacekeeping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45920" y="3310128"/>
            <a:ext cx="8915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Does “more of these” necessarily mean more multilateralism?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525780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PAUSE  •  What would you require before calling a system multilateral?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is multilateralism for?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substantive properties—not merely three or more states acting together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LEVEL PLAYING FIELD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880360" y="1325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Treat everyone by general rules; economise on costly displays of power and aggression.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2560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PEACEFUL DISPUTE RESOLUTION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80360" y="25146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Elevate substantive disagreements over wasteful zero-sum contests.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37490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SHARED CHALLENGES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80360" y="37033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Cooperate where joint provision avoids duplication and exploits complementary capabilities.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25780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These are not only protections for weaker states. They can make the system more efficient.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Traditional multilateralism: institutions and principles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Institutions matter insofar as they sustain general rules and collective provision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2468880" y="14813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WORLD BANK   IMF   WTO   UN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920240" y="274320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institutional architecture is not the definition.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question is what happens when states route around its principles.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That takes us to trade—and Bhagwati.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Bhagwati: liberalisation can undermine liberal order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Preferential trade can be individually attractive and systemically destructive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SPAGHETTI BOWL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651760" y="1344168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Overlapping preferences, rules of origin and exceptions create complexity and discrimination.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TRADE DIVERSION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2624328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Preferences can redirect purchases from a lower-cost outsider to a higher-cost insider.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3977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TERMITES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3904488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Beneficiaries of special access acquire an interest in preserving discrimination against outsiders.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Singapore and India: the same FTA is not the same bargain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Initial MFN tariffs determine how much discrimination an FTA creates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77240" y="13533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LOW-TARIFF SINGAPORE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629400" y="1353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HIGH-TARIFF INDIA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Little home-market trade diversion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 gain preferential access abroad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Gives away relatively little tariff protection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629400" y="1874520"/>
            <a:ext cx="4480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Large preference margin at home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Greater scope for trade diversion</a:t>
            </a:r>
            <a:endParaRPr lang="en-US" sz="1900" dirty="0"/>
          </a:p>
          <a:p>
            <a:pPr algn="l" indent="0" marL="0">
              <a:buNone/>
            </a:pPr>
            <a:r>
              <a:rPr lang="en-US" sz="19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Tariff revenue can be lost as imports switch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525780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tension for a small, already-open state: a preferential deal may be rational precisely while preferentialism is bad for the system.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Bhagwati Beyond Trade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mechanisms travel remarkably well beyond commercial policy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 LOCAL ≠ SYSTEMIC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63240" y="1298448"/>
            <a:ext cx="8183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 individually intelligent strategy need not aggregate into a successful international order.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2651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 EXCEPTIONS ACCUMULATE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63240" y="2578608"/>
            <a:ext cx="8183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Proliferating special arrangements create complexity, discrimination and incompatible obligations.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3931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 EXCEPTIONS CREATE ALLIES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63240" y="3858768"/>
            <a:ext cx="8183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Beneficiaries of special treatment can become constituencies against restoration of the general rule.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25780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Keep these three tests. We will apply them to every alternative that follows.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Gordon Brown generalises the pathology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international-relations version of the spaghetti bowl</a:t>
            </a:r>
            <a:endParaRPr lang="en-US" sz="950" dirty="0"/>
          </a:p>
        </p:txBody>
      </p:sp>
      <p:pic>
        <p:nvPicPr>
          <p:cNvPr id="4" name="Image 0" descr="/mnt/data/deckwork/orig/ppt/media/imag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3888"/>
            <a:ext cx="4023360" cy="14643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0" y="14173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“ragged, overlapping,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and competing arrangements”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486400" y="274320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Brown’s worry is substitution: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bilateral, regional and transient arrangements cease to supplement global architecture and begin to replace it.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0" y="45720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Third Nation agency expands—but what order does its exercise produce?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reversal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Bhagwati and Brown fear, Carney and Stubb prescribe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BHAGWATI / BROWN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37960" y="1417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CARNEY / STUBB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96596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Overlapping special arrangements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are the pathology.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537960" y="196596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“dense web of connections”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 the practical response.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108960" y="406908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LET THE NOODLES WORK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525780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issue is whether the web is a bridge back to multilateralism—or its replacement.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Values-based realism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Neither wishful multilateralism nor crude realpolitik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PRINCIPLED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0" y="1298448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Freedom, human rights, sustainability and solidarity remain commitments.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PRAGMATIC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2578608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Not every useful partner shares every value; interests diverge and progress is incremental.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PLURILATERAL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3858768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Build “ad hoc coalitions that work, issue by issue” while still seeking multilateral reform.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25780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“Taking the world as it is, not passively waiting for a world we wish to be.”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Middle Power Bet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Coalition builders—or Great Power wannabes?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194560" y="1325880"/>
            <a:ext cx="8732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Connected states can convene, broker and combine capabilities without demanding hierarchy.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DOUBT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0" y="2633472"/>
            <a:ext cx="8732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Remove constraints and Middle Powers may simply “scrap for advantage”: multialign, arbitrage patrons, and practise power politics with smaller endowments.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525780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Middle Power-ness itself supplies no guarantee of cooperative purpose.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 we constrain variable geometry?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Herz and Ho: use geography to turn flexible cooperation into durable regionalism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FIXED MEMBERSHIP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88920" y="129844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cannot choose your neighbours. Regional cooperation must survive disagreement.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26517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REPEATED GAME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88920" y="257860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Institutional memory, reputation, and reciprocity discipline opportunism.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39319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PATHFINDER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88920" y="3858768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Regional experiments can converge, interoperate, and eventually feed rules back into global institutions.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25780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Knit the noodles back together again.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Herz–Ho’s Achilles heel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Student discussion  •  what hidden assumption makes geography a solution?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GEOGRAPHY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06324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3886200" y="1600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COMMON INTERESTS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995160" y="16002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909560" y="1600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COOPERATION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2880360" y="3063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PAUSE  •  Where does this chain fail?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525780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Think of security, trade, rivers, migration, technology—or any region you know well.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Proximity concentrates interdependence—not agreement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same geography can magnify potential gains and potential losses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SOUTH ASIA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0" y="1298448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India–Pakistan: shared exposure coexists with strategic rivalry; SAARC rarely meets.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SOUTHEAST ASIA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2578608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South China Sea: the same regional challenge generates sharply different interests and alignments.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GULF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3858768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Dense security and economic ties coexist with competing strategies; high stakes can reduce willingness to delegate.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25780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Geography can sharpen rivalry just as readily as it encourages cooperation.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Regionalism’s answer to Bhagwati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building block only if the blocks are designed to fit together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EXPERIMENT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560320" y="1298448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Develop workable rules regionally where universal agreement is too slow.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66928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2578608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Coordinate across regions; reduce incompatibility and discriminatory lock-in.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MULTILATERALISE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3858768"/>
            <a:ext cx="8686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Bring proven rules with broad buy-in back into WTO and other global institutions.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525780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unresolved question: why should regional rules converge rather than harden into rival standards?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Who will pay for order?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material basis of the old leadership model has diffused</a:t>
            </a:r>
            <a:endParaRPr lang="en-US" sz="950" dirty="0"/>
          </a:p>
        </p:txBody>
      </p:sp>
      <p:pic>
        <p:nvPicPr>
          <p:cNvPr id="4" name="Image 0" descr="/mnt/data/deckwork/orig/ppt/media/image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876" y="1261872"/>
            <a:ext cx="3414889" cy="4526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4920" y="160020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Economic weight is more distributed.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074920" y="27432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But the need for global public goods has not become less global.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74920" y="416052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If no actor can—or wishes to—supply order on the old terms, waiting for a new hegemon may be the wrong question.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fallacy of composition returns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Individually intelligent strategies do not automatically aggregate into order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EACH STATE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377440" y="1371600"/>
            <a:ext cx="8549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seeks flexibility  •  special access  •  resilience  •  bargaining leverage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40080" y="3063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77440" y="2926080"/>
            <a:ext cx="8549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gets discrimination  •  duplicated effort  •  rival standards  •  weaker general rules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31520" y="525780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policy problem is not to suppress national interest.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It is to change what pursuing national interest produces.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Stop searching for benevolence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 interests and incentives supply the behavioural guardrails?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“It is not from the benevolence of the butcher, the brewer, or the baker that we expect our dinner,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b="1" i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but from their regard to their own interest.”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663440" y="2651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ADAM SMITH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" y="37033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Must international order depend on states wanting to uphold international order?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4663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Or can institutions make self-interested conduct inadvertently reproduce a level playing field, peaceful dispute resolution, and provision of shared goods?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83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164592"/>
            <a:ext cx="11384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24383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Multilateralism future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4048" y="84124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B8C5C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Principles → pathology → pragmatic alternatives → behavioural foundations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1280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PRINCIPLES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697480" y="1207008"/>
            <a:ext cx="8549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Level playing field  •  peaceful dispute resolution  •  cooperation on shared challenges.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66928" y="2423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PATHOLOGY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97480" y="2350008"/>
            <a:ext cx="8549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Bhagwati Beyond Trade: local rationality, accumulating exceptions, political constituencies.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66928" y="3566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PRAGMATIC TURN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3493008"/>
            <a:ext cx="8549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Variable geometry and regional pathfinders can act—but must avoid becoming the new spaghetti bowl.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566928" y="4709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942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DEEPER 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4636008"/>
            <a:ext cx="8549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F5F2E9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Design interests and incentives so that pursuing advantage also reproduces international order.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83696" y="6519672"/>
            <a:ext cx="310896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B8C5C3"/>
                </a:solidFill>
                <a:latin typeface="Noto Sans"/>
                <a:ea typeface="Noto Sans"/>
                <a:cs typeface="Noto San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Lee Kuan Yew School of Public Policy,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PP5182: Multilateralism Future</dc:title>
  <dc:subject>PP5182 Multilateralism Future</dc:subject>
  <dc:creator>OpenAI</dc:creator>
  <cp:lastModifiedBy>OpenAI</cp:lastModifiedBy>
  <cp:revision>1</cp:revision>
  <dcterms:created xsi:type="dcterms:W3CDTF">2026-09-20T13:29:04Z</dcterms:created>
  <dcterms:modified xsi:type="dcterms:W3CDTF">2026-09-20T13:29:04Z</dcterms:modified>
</cp:coreProperties>
</file>